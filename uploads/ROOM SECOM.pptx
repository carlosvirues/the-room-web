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90" r:id="rId3"/>
    <p:sldId id="291"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A94DFD-3C50-DB49-98C6-2427F5C38194}" v="1" dt="2026-04-28T22:52:18.2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757"/>
    <p:restoredTop sz="94610"/>
  </p:normalViewPr>
  <p:slideViewPr>
    <p:cSldViewPr snapToGrid="0" snapToObjects="1">
      <p:cViewPr varScale="1">
        <p:scale>
          <a:sx n="103" d="100"/>
          <a:sy n="103" d="100"/>
        </p:scale>
        <p:origin x="91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rues, Carlos (UIO-ME)" userId="bc9f1e87-d15f-4378-80d6-2ac8ef4b1a43" providerId="ADAL" clId="{16B3FCFF-4445-52BE-82A0-7C5CD8634FCF}"/>
    <pc:docChg chg="modSld">
      <pc:chgData name="Virues, Carlos (UIO-ME)" userId="bc9f1e87-d15f-4378-80d6-2ac8ef4b1a43" providerId="ADAL" clId="{16B3FCFF-4445-52BE-82A0-7C5CD8634FCF}" dt="2026-05-07T22:21:12.671" v="2" actId="1076"/>
      <pc:docMkLst>
        <pc:docMk/>
      </pc:docMkLst>
      <pc:sldChg chg="modSp mod">
        <pc:chgData name="Virues, Carlos (UIO-ME)" userId="bc9f1e87-d15f-4378-80d6-2ac8ef4b1a43" providerId="ADAL" clId="{16B3FCFF-4445-52BE-82A0-7C5CD8634FCF}" dt="2026-05-07T22:19:43.656" v="0" actId="1076"/>
        <pc:sldMkLst>
          <pc:docMk/>
          <pc:sldMk cId="0" sldId="270"/>
        </pc:sldMkLst>
        <pc:spChg chg="mod">
          <ac:chgData name="Virues, Carlos (UIO-ME)" userId="bc9f1e87-d15f-4378-80d6-2ac8ef4b1a43" providerId="ADAL" clId="{16B3FCFF-4445-52BE-82A0-7C5CD8634FCF}" dt="2026-05-07T22:19:43.656" v="0" actId="1076"/>
          <ac:spMkLst>
            <pc:docMk/>
            <pc:sldMk cId="0" sldId="270"/>
            <ac:spMk id="8" creationId="{00000000-0000-0000-0000-000000000000}"/>
          </ac:spMkLst>
        </pc:spChg>
      </pc:sldChg>
      <pc:sldChg chg="modSp mod">
        <pc:chgData name="Virues, Carlos (UIO-ME)" userId="bc9f1e87-d15f-4378-80d6-2ac8ef4b1a43" providerId="ADAL" clId="{16B3FCFF-4445-52BE-82A0-7C5CD8634FCF}" dt="2026-05-07T22:21:12.671" v="2" actId="1076"/>
        <pc:sldMkLst>
          <pc:docMk/>
          <pc:sldMk cId="0" sldId="274"/>
        </pc:sldMkLst>
        <pc:spChg chg="mod">
          <ac:chgData name="Virues, Carlos (UIO-ME)" userId="bc9f1e87-d15f-4378-80d6-2ac8ef4b1a43" providerId="ADAL" clId="{16B3FCFF-4445-52BE-82A0-7C5CD8634FCF}" dt="2026-05-07T22:21:09.856" v="1" actId="1076"/>
          <ac:spMkLst>
            <pc:docMk/>
            <pc:sldMk cId="0" sldId="274"/>
            <ac:spMk id="20" creationId="{00000000-0000-0000-0000-000000000000}"/>
          </ac:spMkLst>
        </pc:spChg>
        <pc:spChg chg="mod">
          <ac:chgData name="Virues, Carlos (UIO-ME)" userId="bc9f1e87-d15f-4378-80d6-2ac8ef4b1a43" providerId="ADAL" clId="{16B3FCFF-4445-52BE-82A0-7C5CD8634FCF}" dt="2026-05-07T22:21:12.671" v="2" actId="1076"/>
          <ac:spMkLst>
            <pc:docMk/>
            <pc:sldMk cId="0" sldId="274"/>
            <ac:spMk id="2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4975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Hoy no venimos a presentarles una agencia. Venimos a mostrarles un sistema. Y para que sepan que funciona, vamos a empezar con lo que ya escuchamos del país en los últimos doce meses.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entrar al método, dos minutos. Necesito que entiendan por qué THE ROOM existe, y por qué no es otra agencia más. Si esto queda claro, todo lo que viene después tiene sentido.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entrar al método, dos minutos. Necesito que entiendan por qué THE ROOM existe, y por qué no es otra agencia más. Si esto queda claro, todo lo que viene después tiene sentido.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ROOM es el cruce de tres capas: tecnología que escucha, una metodología que hace jugar, e ideas que se ejecutan en la calle. Las tres juntas no existen en Ecuador. Por eso lo llamamos sistema, no agencia.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 uno: tecnología. Veinte mil quinientas veintisiete menciones procesadas para SECOM. Esto no es social listening clásico. Es un árbol de IA que clasifica cada conversación por tema, tipo de señal y emoción dominante. La diferencia es que llega antes que el hecho, no después.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 dos: metodología play. Cuando la gente construye con las manos, dice cosas que en una reunión no diría. Usamos protocolos inspirados en LEGO Serious Play y formatos propios. No hay PowerPoint, no hay audiencia. Todos juegan. Las decisiones tomadas jugando se ejecutan; las tomadas en reunión se posponen.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 tres: ideas reales. Acá la diferencia es brutal. Otros entregan recomendación de campaña; nosotros entregamos un Fan Fest Presidencial en ocho ciudades. Otros entregan un plan de comunicación; nosotros, cien emprendedores filmados en cien días. Si no se puede ejecutar el lunes, no es una idea, es un wishlist.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fórmula: tech más play más ideas. Hay agencias con tecnología, pero no juegan. Hay consultoras con metodología, pero no entregan ideas reales. Hay creativos con ideas, pero no escuchan datos. Las tres juntas, en una sola sala, solo aquí. Por eso lo llamamos THE ROOM. Y ahora les vamos a contar quiénes lo construimos.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minutos. Eso es lo que les pido para el primer acto. Les voy a contar por qué THE ROOM no es otra agencia más, y por qué este pitch ya empezó antes de que ustedes entraran a esta sala.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cita no es nuestra. Es de la encuesta que ustedes mismos miran cada mes, el Click Report. Cuando el problema no es la gestión sino el silencio, una agencia más no lo resuelve. Un sistema sí.</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McCann pone la verdad de mercado y la creatividad. Mambo pone la cultura. Alma pone la tecnología. Y lo importante: las tres conviven en la misma sala, no son proveedores que se pasan briefs entre ellas.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fases. La primera nunca duerme. Las tres siguientes pasan en una sala, en un día, con todos los actores adentro. Lo importante no es el método, es la regla: ninguna sesión termina sin acción firmada.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cinco principios son los que hacen al método funcionar. Si uno se rompe, todo se cae. El más importante para ustedes hoy: cada sesión termina con algo en la mano. No PDF, no correo, algo físico que sale firmado de la sala.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método se adapta al ritmo de cada cliente. Para SECOM proponemos PULSE, operación continua, más un SPRINT inicial pre-Mundial. Lo retomamos al final del deck con detalle.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[Pausa larga. Mirar a SECOM antes de avanzar.] Lo que sigue no es una propuesta hipotética. Es lo que el RADAR ya entregó.</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el RADAR funcionando. No teórico, no en demo. Veinte mil quinientas veintisiete menciones reales clasificadas. SECOM probablemente ya hace social listening con herramientas tradicionales. La diferencia es lo que viene en el siguiente slide.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mención del país pasó por este árbol. No la categorizó un humano, lo hizo IA. Tres niveles: territorios, tipo de señal, emoción. Y lo que ven aquí es la primera lectura: qué temas pesan más, qué tipo de conversación es, qué siente la gente.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el primer hallazgo, y es probablemente el más importante. El país no está deprimido. Está esperando que alguien le hable. Hay más del doble de orgullo que de frustración.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Segundo hallazgo: hay cuatro mil quejas que ya tienen solución del propio gobierno, pero la solución no se conoce. Tercero: hay un cuarenta por ciento que no es ni del oficialismo ni de la oposición. Es la conversación abierta. Ese es el espacio donde THE ROOM activa.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veinte mil señales sintetizamos tres misiones. Mundial. Ecuayapa. Barrios Miduvi. Las tres se ejecutan ya, las tres tienen ventana clara, las tres conectan entre sí. Vamos una por una.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Misión uno. Tres partidos. Tres ventanas críticas. El insight del RADAR es claro: el orgullo ya está activo, la gente no necesita que el gobierno le diga que esté orgullosa. Necesita que el gobierno se sume sin apropiarse. Esa es la pregunta del playbook.</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hero: Fan Fest Presidencial en ocho ciudades. Producción nivel FIFA con identidad ecuatoriana. Y el detalle clave: el presidente no está en palco. Ve cada partido en una ciudad distinta, mezclado con la gente. Cámara en mano, no protocolo.</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ideas más para Misión uno. Cada una con primera acción en setenta y dos horas. Pero la importante es la cuarta: el Protocolo Vivo. Tres escenarios pre-armados según resultado. Eso es lo que ninguna agencia tradicional les puede ofrecer.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Misión dos. Tenemos doce mil emprendedores conectados a Ecuayapa. Tenemos el sexto puesto del mundo en GEM. Y tenemos ochocientas diecinueve menciones celebrando ese ranking sin un solo rostro presidencial adentro. Ese es el gap.</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Cien rostros del seis. Un documental seriado en formato vertical. Cien emprendedores reales en sus locales. Una cápsula por día durante cien días. El presidente solo aparece en la primera y la última. La narrativa la cargan los emprendedores, no nosotros.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ideas más. Yapa Tour: el presidente como cliente, no como político. Yapatón: veinticuatro horas de comercio en vivo nacional. Contador Vivo: transparencia en tiempo real embebida en la web de Presidencia.</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Misión tres. Cien millones de dólares del Banco Mundial. Diecisiete a dieciocho barrios en proceso. Manta, Portoviejo y Muisne ya elegidos. La obra está. La narrativa, no.</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Barrio Que Se Pintó Solo. Una familia de Manta recibe una cámara durante treinta días. Sin guion, sin productor político. Se estrena el veinticuatro de mayo, primer aniversario de Noboa. Y aquí lo crítico: el documental existe ANTES que la visita. La narrativa no la construye el gobierno, la captura.</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ideas más para Misión tres. La cuarta, el Mapa Vivo, cierra el sistema completo: cruza las tres misiones en una sola plataforma pública. Es lo que SECOM puede mostrarle al país, y a sí mismo, todos los días.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 acto. Cómo se ve un año entero operando con este sistema, y cómo entramos a trabajar contigo desde mayo.</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mes tiene una ventana abierta. Junio es la ventana crítica del año, por eso el SPRINT inicial es ahora. Pero el calendario no es rígido. El RADAR se actualiza cada semana. Si pasa algo, la próxima sesión lo absorbe. El calendario es vivo.</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Modo recomendado: PULSE más un SPRINT inicial. Operación continua mensual, con un sprint intensivo en mayo para aterrizar Misión uno antes del Mundial. Y un equipo dedicado: Game Master, Signal Keeper, y los Senseis que se convoquen según fase.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[Pausa.] Lo que tienen en sus manos no es una propuesta. Es la primera entrega. Lo siguiente, convertir esto en acción, es lo que pasa adentro de la sala. Cuando ustedes quieran.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12248257"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6210806" y="666750"/>
            <a:ext cx="1105644"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PORTADA</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75720" y="9547920"/>
            <a:ext cx="84073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01 / 32</a:t>
            </a:r>
            <a:endParaRPr lang="en-US" sz="1200" dirty="0"/>
          </a:p>
        </p:txBody>
      </p:sp>
      <p:sp>
        <p:nvSpPr>
          <p:cNvPr id="7" name="Text 4"/>
          <p:cNvSpPr/>
          <p:nvPr/>
        </p:nvSpPr>
        <p:spPr>
          <a:xfrm>
            <a:off x="1047750" y="1714500"/>
            <a:ext cx="16678275"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480" dirty="0">
                <a:solidFill>
                  <a:srgbClr val="D72631"/>
                </a:solidFill>
                <a:latin typeface="-apple-system" pitchFamily="34" charset="0"/>
                <a:ea typeface="-apple-system" pitchFamily="34" charset="-122"/>
                <a:cs typeface="-apple-system" pitchFamily="34" charset="-120"/>
              </a:rPr>
              <a:t>THE ROOM × SECOM ECUADOR · 2026</a:t>
            </a:r>
            <a:endParaRPr lang="en-US" sz="1200" dirty="0"/>
          </a:p>
        </p:txBody>
      </p:sp>
      <p:sp>
        <p:nvSpPr>
          <p:cNvPr id="8" name="Text 5"/>
          <p:cNvSpPr/>
          <p:nvPr/>
        </p:nvSpPr>
        <p:spPr>
          <a:xfrm>
            <a:off x="1047750" y="2263080"/>
            <a:ext cx="16678275" cy="4454277"/>
          </a:xfrm>
          <a:prstGeom prst="rect">
            <a:avLst/>
          </a:prstGeom>
          <a:noFill/>
          <a:ln/>
        </p:spPr>
        <p:txBody>
          <a:bodyPr wrap="square" lIns="25400" tIns="25400" rIns="25400" bIns="25400" rtlCol="0" anchor="t">
            <a:noAutofit/>
          </a:bodyPr>
          <a:lstStyle/>
          <a:p>
            <a:pPr marL="0" indent="0" algn="l">
              <a:lnSpc>
                <a:spcPct val="92000"/>
              </a:lnSpc>
              <a:buNone/>
            </a:pPr>
            <a:r>
              <a:rPr lang="en-US" sz="9600" b="1" kern="0" spc="-441" dirty="0">
                <a:solidFill>
                  <a:srgbClr val="1A1A1A"/>
                </a:solidFill>
                <a:latin typeface="Poppins" pitchFamily="2" charset="77"/>
                <a:ea typeface="-apple-system" pitchFamily="34" charset="-122"/>
                <a:cs typeface="Poppins" pitchFamily="2" charset="77"/>
              </a:rPr>
              <a:t>Un sistema operativo </a:t>
            </a:r>
            <a:r>
              <a:rPr lang="en-US" sz="9600" b="1" kern="0" spc="-441" dirty="0">
                <a:solidFill>
                  <a:srgbClr val="D72631"/>
                </a:solidFill>
                <a:latin typeface="Poppins" pitchFamily="2" charset="77"/>
                <a:ea typeface="-apple-system" pitchFamily="34" charset="-122"/>
                <a:cs typeface="Poppins" pitchFamily="2" charset="77"/>
              </a:rPr>
              <a:t>de comunicación </a:t>
            </a:r>
            <a:r>
              <a:rPr lang="en-US" sz="9600" b="1" kern="0" spc="-441" dirty="0">
                <a:solidFill>
                  <a:srgbClr val="1A1A1A"/>
                </a:solidFill>
                <a:latin typeface="Poppins" pitchFamily="2" charset="77"/>
                <a:ea typeface="-apple-system" pitchFamily="34" charset="-122"/>
                <a:cs typeface="Poppins" pitchFamily="2" charset="77"/>
              </a:rPr>
              <a:t>para gobernar.</a:t>
            </a:r>
            <a:endParaRPr lang="en-US" sz="9600" dirty="0">
              <a:latin typeface="Poppins" pitchFamily="2" charset="77"/>
              <a:cs typeface="Poppins" pitchFamily="2" charset="77"/>
            </a:endParaRPr>
          </a:p>
        </p:txBody>
      </p:sp>
      <p:sp>
        <p:nvSpPr>
          <p:cNvPr id="9" name="Text 6"/>
          <p:cNvSpPr/>
          <p:nvPr/>
        </p:nvSpPr>
        <p:spPr>
          <a:xfrm>
            <a:off x="1047750" y="7041207"/>
            <a:ext cx="10791825" cy="44946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400" i="1" dirty="0">
                <a:solidFill>
                  <a:srgbClr val="3A3A3A"/>
                </a:solidFill>
                <a:latin typeface="Georgia" pitchFamily="34" charset="0"/>
                <a:ea typeface="Georgia" pitchFamily="34" charset="-122"/>
                <a:cs typeface="Georgia" pitchFamily="34" charset="-120"/>
              </a:rPr>
              <a:t>Lo que ya escuchamos. Lo que ya detectamos. Lo que sigue.</a:t>
            </a:r>
            <a:endParaRPr lang="en-US" sz="2400" dirty="0"/>
          </a:p>
        </p:txBody>
      </p:sp>
      <p:sp>
        <p:nvSpPr>
          <p:cNvPr id="10" name="Shape 7"/>
          <p:cNvSpPr/>
          <p:nvPr/>
        </p:nvSpPr>
        <p:spPr>
          <a:xfrm>
            <a:off x="1047750" y="8477250"/>
            <a:ext cx="16192500" cy="9525"/>
          </a:xfrm>
          <a:prstGeom prst="rect">
            <a:avLst/>
          </a:prstGeom>
          <a:solidFill>
            <a:srgbClr val="1A1A1A"/>
          </a:solidFill>
          <a:ln/>
        </p:spPr>
        <p:txBody>
          <a:bodyPr/>
          <a:lstStyle/>
          <a:p>
            <a:endParaRPr lang="es-EC"/>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12451407"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FFFFFF">
                    <a:alpha val="55000"/>
                  </a:srgbClr>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6413956" y="666750"/>
            <a:ext cx="902494"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FFFFFF">
                    <a:alpha val="55000"/>
                  </a:srgbClr>
                </a:solidFill>
                <a:latin typeface="-apple-system" pitchFamily="34" charset="0"/>
                <a:ea typeface="-apple-system" pitchFamily="34" charset="-122"/>
                <a:cs typeface="-apple-system" pitchFamily="34" charset="-120"/>
              </a:rPr>
              <a:t>ACTO 0</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FFFFFF">
                    <a:alpha val="50000"/>
                  </a:srgbClr>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54438" y="9547920"/>
            <a:ext cx="862013"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FFFFFF">
                    <a:alpha val="50000"/>
                  </a:srgbClr>
                </a:solidFill>
                <a:latin typeface="-apple-system" pitchFamily="34" charset="0"/>
                <a:ea typeface="-apple-system" pitchFamily="34" charset="-122"/>
                <a:cs typeface="-apple-system" pitchFamily="34" charset="-120"/>
              </a:rPr>
              <a:t>02 / 34</a:t>
            </a:r>
          </a:p>
        </p:txBody>
      </p:sp>
      <p:sp>
        <p:nvSpPr>
          <p:cNvPr id="7" name="Text 4"/>
          <p:cNvSpPr/>
          <p:nvPr/>
        </p:nvSpPr>
        <p:spPr>
          <a:xfrm>
            <a:off x="1047750" y="2842915"/>
            <a:ext cx="10791825" cy="32087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b="1" kern="0" spc="528" dirty="0">
                <a:solidFill>
                  <a:srgbClr val="D72631"/>
                </a:solidFill>
                <a:latin typeface="-apple-system" pitchFamily="34" charset="0"/>
                <a:ea typeface="-apple-system" pitchFamily="34" charset="-122"/>
                <a:cs typeface="-apple-system" pitchFamily="34" charset="-120"/>
              </a:rPr>
              <a:t>ACTO 0 · POR QUÉ THE ROOM</a:t>
            </a:r>
            <a:endParaRPr lang="en-US" sz="1650" dirty="0"/>
          </a:p>
        </p:txBody>
      </p:sp>
      <p:sp>
        <p:nvSpPr>
          <p:cNvPr id="8" name="Text 5"/>
          <p:cNvSpPr/>
          <p:nvPr/>
        </p:nvSpPr>
        <p:spPr>
          <a:xfrm>
            <a:off x="1047750" y="3697188"/>
            <a:ext cx="10791825" cy="2390775"/>
          </a:xfrm>
          <a:prstGeom prst="rect">
            <a:avLst/>
          </a:prstGeom>
          <a:noFill/>
          <a:ln/>
        </p:spPr>
        <p:txBody>
          <a:bodyPr wrap="square" lIns="25400" tIns="25400" rIns="25400" bIns="25400" rtlCol="0" anchor="t">
            <a:normAutofit fontScale="92500" lnSpcReduction="10000"/>
          </a:bodyPr>
          <a:lstStyle/>
          <a:p>
            <a:pPr marL="0" indent="0" algn="l">
              <a:lnSpc>
                <a:spcPct val="95000"/>
              </a:lnSpc>
              <a:buNone/>
            </a:pPr>
            <a:r>
              <a:rPr lang="es-ES" sz="6500" b="1" kern="0" spc="-200" dirty="0">
                <a:solidFill>
                  <a:srgbClr val="FFFFFF"/>
                </a:solidFill>
                <a:latin typeface="-apple-system" pitchFamily="34" charset="0"/>
                <a:ea typeface="-apple-system" pitchFamily="34" charset="-122"/>
                <a:cs typeface="-apple-system" pitchFamily="34" charset="-120"/>
              </a:rPr>
              <a:t>El mercado habla todos los días.</a:t>
            </a:r>
          </a:p>
          <a:p>
            <a:pPr marL="0" indent="0" algn="l">
              <a:lnSpc>
                <a:spcPct val="95000"/>
              </a:lnSpc>
              <a:buNone/>
            </a:pPr>
            <a:r>
              <a:rPr lang="es-ES" sz="6500" b="1" kern="0" spc="-200" dirty="0">
                <a:solidFill>
                  <a:srgbClr val="D72631"/>
                </a:solidFill>
                <a:latin typeface="-apple-system" pitchFamily="34" charset="0"/>
                <a:ea typeface="-apple-system" pitchFamily="34" charset="-122"/>
                <a:cs typeface="-apple-system" pitchFamily="34" charset="-120"/>
              </a:rPr>
              <a:t>Lo difícil es escucharlo a tiempo y responder con acción.</a:t>
            </a:r>
          </a:p>
        </p:txBody>
      </p:sp>
      <p:sp>
        <p:nvSpPr>
          <p:cNvPr id="9" name="Text 6"/>
          <p:cNvSpPr/>
          <p:nvPr/>
        </p:nvSpPr>
        <p:spPr>
          <a:xfrm>
            <a:off x="1047750" y="6621363"/>
            <a:ext cx="10791825" cy="860822"/>
          </a:xfrm>
          <a:prstGeom prst="rect">
            <a:avLst/>
          </a:prstGeom>
          <a:noFill/>
          <a:ln/>
        </p:spPr>
        <p:txBody>
          <a:bodyPr wrap="square" lIns="25400" tIns="25400" rIns="25400" bIns="25400" rtlCol="0" anchor="t">
            <a:normAutofit fontScale="92500"/>
          </a:bodyPr>
          <a:lstStyle/>
          <a:p>
            <a:pPr marL="0" indent="0" algn="l">
              <a:lnSpc>
                <a:spcPct val="135000"/>
              </a:lnSpc>
              <a:buNone/>
            </a:pPr>
            <a:r>
              <a:rPr lang="es-ES" sz="2000" i="1" dirty="0">
                <a:solidFill>
                  <a:srgbClr val="FFFFFF">
                    <a:alpha val="70000"/>
                  </a:srgbClr>
                </a:solidFill>
                <a:latin typeface="Georgia" pitchFamily="34" charset="0"/>
                <a:ea typeface="Georgia" pitchFamily="34" charset="-122"/>
                <a:cs typeface="Georgia" pitchFamily="34" charset="-120"/>
              </a:rPr>
              <a:t>En 2026 el ruido es máximo, la ventana de respuesta es mínima, y el costo de llegar tarde — sea en una crisis, un lanzamiento o una conversación cultural — se mide en relevancia perdida.</a:t>
            </a:r>
          </a:p>
        </p:txBody>
      </p:sp>
    </p:spTree>
    <p:extLst>
      <p:ext uri="{BB962C8B-B14F-4D97-AF65-F5344CB8AC3E}">
        <p14:creationId xmlns:p14="http://schemas.microsoft.com/office/powerpoint/2010/main" val="2394721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1A1A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12451407"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FFFFFF">
                    <a:alpha val="55000"/>
                  </a:srgbClr>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6413956" y="666750"/>
            <a:ext cx="902494"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FFFFFF">
                    <a:alpha val="55000"/>
                  </a:srgbClr>
                </a:solidFill>
                <a:latin typeface="-apple-system" pitchFamily="34" charset="0"/>
                <a:ea typeface="-apple-system" pitchFamily="34" charset="-122"/>
                <a:cs typeface="-apple-system" pitchFamily="34" charset="-120"/>
              </a:rPr>
              <a:t>ACTO 0</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FFFFFF">
                    <a:alpha val="50000"/>
                  </a:srgbClr>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54438" y="9547920"/>
            <a:ext cx="862013"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FFFFFF">
                    <a:alpha val="50000"/>
                  </a:srgbClr>
                </a:solidFill>
                <a:latin typeface="-apple-system" pitchFamily="34" charset="0"/>
                <a:ea typeface="-apple-system" pitchFamily="34" charset="-122"/>
                <a:cs typeface="-apple-system" pitchFamily="34" charset="-120"/>
              </a:rPr>
              <a:t>03 / 34</a:t>
            </a:r>
          </a:p>
        </p:txBody>
      </p:sp>
      <p:sp>
        <p:nvSpPr>
          <p:cNvPr id="7" name="Text 4"/>
          <p:cNvSpPr/>
          <p:nvPr/>
        </p:nvSpPr>
        <p:spPr>
          <a:xfrm>
            <a:off x="1047750" y="2842915"/>
            <a:ext cx="10791825" cy="32087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b="1" kern="0" spc="528" dirty="0">
                <a:solidFill>
                  <a:srgbClr val="D72631"/>
                </a:solidFill>
                <a:latin typeface="-apple-system" pitchFamily="34" charset="0"/>
                <a:ea typeface="-apple-system" pitchFamily="34" charset="-122"/>
                <a:cs typeface="-apple-system" pitchFamily="34" charset="-120"/>
              </a:rPr>
              <a:t>ACTO 0 · POR QUÉ THE ROOM</a:t>
            </a:r>
            <a:endParaRPr lang="en-US" sz="1650" dirty="0"/>
          </a:p>
        </p:txBody>
      </p:sp>
      <p:sp>
        <p:nvSpPr>
          <p:cNvPr id="8" name="Text 5"/>
          <p:cNvSpPr/>
          <p:nvPr/>
        </p:nvSpPr>
        <p:spPr>
          <a:xfrm>
            <a:off x="1047750" y="3697188"/>
            <a:ext cx="10791825" cy="2390775"/>
          </a:xfrm>
          <a:prstGeom prst="rect">
            <a:avLst/>
          </a:prstGeom>
          <a:noFill/>
          <a:ln/>
        </p:spPr>
        <p:txBody>
          <a:bodyPr wrap="square" lIns="25400" tIns="25400" rIns="25400" bIns="25400" rtlCol="0" anchor="t">
            <a:normAutofit fontScale="77500" lnSpcReduction="20000"/>
          </a:bodyPr>
          <a:lstStyle/>
          <a:p>
            <a:pPr marL="0" indent="0" algn="l">
              <a:lnSpc>
                <a:spcPct val="95000"/>
              </a:lnSpc>
              <a:buNone/>
            </a:pPr>
            <a:r>
              <a:rPr lang="es-ES" sz="6500" b="1" kern="0" spc="-200" dirty="0">
                <a:solidFill>
                  <a:srgbClr val="FFFFFF"/>
                </a:solidFill>
                <a:latin typeface="-apple-system" pitchFamily="34" charset="0"/>
                <a:ea typeface="-apple-system" pitchFamily="34" charset="-122"/>
                <a:cs typeface="-apple-system" pitchFamily="34" charset="-120"/>
              </a:rPr>
              <a:t>THE ROOM convierte señales en decisiones.</a:t>
            </a:r>
          </a:p>
          <a:p>
            <a:pPr marL="0" indent="0" algn="l">
              <a:lnSpc>
                <a:spcPct val="95000"/>
              </a:lnSpc>
              <a:buNone/>
            </a:pPr>
            <a:r>
              <a:rPr lang="es-ES" sz="6500" b="1" kern="0" spc="-200" dirty="0">
                <a:solidFill>
                  <a:srgbClr val="D72631"/>
                </a:solidFill>
                <a:latin typeface="-apple-system" pitchFamily="34" charset="0"/>
                <a:ea typeface="-apple-system" pitchFamily="34" charset="-122"/>
                <a:cs typeface="-apple-system" pitchFamily="34" charset="-120"/>
              </a:rPr>
              <a:t>Decisiones en acción. Acción en resultado.</a:t>
            </a:r>
          </a:p>
        </p:txBody>
      </p:sp>
      <p:sp>
        <p:nvSpPr>
          <p:cNvPr id="9" name="Text 6"/>
          <p:cNvSpPr/>
          <p:nvPr/>
        </p:nvSpPr>
        <p:spPr>
          <a:xfrm>
            <a:off x="1047750" y="6621363"/>
            <a:ext cx="10791825" cy="860822"/>
          </a:xfrm>
          <a:prstGeom prst="rect">
            <a:avLst/>
          </a:prstGeom>
          <a:noFill/>
          <a:ln/>
        </p:spPr>
        <p:txBody>
          <a:bodyPr wrap="square" lIns="25400" tIns="25400" rIns="25400" bIns="25400" rtlCol="0" anchor="t">
            <a:normAutofit/>
          </a:bodyPr>
          <a:lstStyle/>
          <a:p>
            <a:pPr marL="0" indent="0" algn="l">
              <a:lnSpc>
                <a:spcPct val="135000"/>
              </a:lnSpc>
              <a:buNone/>
            </a:pPr>
            <a:r>
              <a:rPr lang="es-ES" sz="2000" i="1" dirty="0">
                <a:solidFill>
                  <a:srgbClr val="FFFFFF">
                    <a:alpha val="70000"/>
                  </a:srgbClr>
                </a:solidFill>
                <a:latin typeface="Georgia" pitchFamily="34" charset="0"/>
                <a:ea typeface="Georgia" pitchFamily="34" charset="-122"/>
                <a:cs typeface="Georgia" pitchFamily="34" charset="-120"/>
              </a:rPr>
              <a:t>No es una agencia con un proceso. Es un sistema operativo construido para que las marcas, las empresas y las instituciones se muevan al ritmo del mundo — no detrás de él.</a:t>
            </a:r>
          </a:p>
        </p:txBody>
      </p:sp>
    </p:spTree>
    <p:extLst>
      <p:ext uri="{BB962C8B-B14F-4D97-AF65-F5344CB8AC3E}">
        <p14:creationId xmlns:p14="http://schemas.microsoft.com/office/powerpoint/2010/main" val="502520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9918799"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3881348" y="666750"/>
            <a:ext cx="3459669"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ACTO 0 · POR QUÉ THE ROOM</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50866" y="9547920"/>
            <a:ext cx="865584"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03 / 32</a:t>
            </a:r>
            <a:endParaRPr lang="en-US" sz="1200" dirty="0"/>
          </a:p>
        </p:txBody>
      </p:sp>
      <p:sp>
        <p:nvSpPr>
          <p:cNvPr id="7" name="Text 4"/>
          <p:cNvSpPr/>
          <p:nvPr/>
        </p:nvSpPr>
        <p:spPr>
          <a:xfrm>
            <a:off x="1047750" y="1905000"/>
            <a:ext cx="16678275"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480" dirty="0">
                <a:solidFill>
                  <a:srgbClr val="D72631"/>
                </a:solidFill>
                <a:latin typeface="-apple-system" pitchFamily="34" charset="0"/>
                <a:ea typeface="-apple-system" pitchFamily="34" charset="-122"/>
                <a:cs typeface="-apple-system" pitchFamily="34" charset="-120"/>
              </a:rPr>
              <a:t>LO QUE HACEMOS</a:t>
            </a:r>
            <a:endParaRPr lang="en-US" sz="1200" dirty="0"/>
          </a:p>
        </p:txBody>
      </p:sp>
      <p:sp>
        <p:nvSpPr>
          <p:cNvPr id="8" name="Text 5"/>
          <p:cNvSpPr/>
          <p:nvPr/>
        </p:nvSpPr>
        <p:spPr>
          <a:xfrm>
            <a:off x="1047750" y="2453580"/>
            <a:ext cx="16678275" cy="952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200" b="1" kern="0" spc="-180" dirty="0" err="1">
                <a:solidFill>
                  <a:srgbClr val="1A1A1A"/>
                </a:solidFill>
                <a:latin typeface="-apple-system" pitchFamily="34" charset="0"/>
                <a:ea typeface="-apple-system" pitchFamily="34" charset="-122"/>
              </a:rPr>
              <a:t>Tecnologia</a:t>
            </a:r>
            <a:r>
              <a:rPr lang="en-US" sz="7200" b="1" kern="0" spc="-180" dirty="0">
                <a:solidFill>
                  <a:srgbClr val="1A1A1A"/>
                </a:solidFill>
                <a:latin typeface="-apple-system" pitchFamily="34" charset="0"/>
                <a:ea typeface="-apple-system" pitchFamily="34" charset="-122"/>
              </a:rPr>
              <a:t> y </a:t>
            </a:r>
            <a:r>
              <a:rPr lang="en-US" sz="7200" b="1" kern="0" spc="-180" dirty="0" err="1">
                <a:solidFill>
                  <a:srgbClr val="1A1A1A"/>
                </a:solidFill>
                <a:latin typeface="-apple-system" pitchFamily="34" charset="0"/>
                <a:ea typeface="-apple-system" pitchFamily="34" charset="-122"/>
              </a:rPr>
              <a:t>creatividad</a:t>
            </a:r>
            <a:r>
              <a:rPr lang="en-US" sz="7200" b="1" kern="0" spc="-180" dirty="0">
                <a:solidFill>
                  <a:srgbClr val="1A1A1A"/>
                </a:solidFill>
                <a:latin typeface="-apple-system" pitchFamily="34" charset="0"/>
                <a:ea typeface="-apple-system" pitchFamily="34" charset="-122"/>
              </a:rPr>
              <a:t> </a:t>
            </a:r>
            <a:endParaRPr lang="en-US" sz="7200" dirty="0"/>
          </a:p>
        </p:txBody>
      </p:sp>
      <p:sp>
        <p:nvSpPr>
          <p:cNvPr id="9" name="Text 6"/>
          <p:cNvSpPr/>
          <p:nvPr/>
        </p:nvSpPr>
        <p:spPr>
          <a:xfrm>
            <a:off x="1047750" y="3634680"/>
            <a:ext cx="14716125" cy="1158180"/>
          </a:xfrm>
          <a:prstGeom prst="rect">
            <a:avLst/>
          </a:prstGeom>
          <a:noFill/>
          <a:ln/>
        </p:spPr>
        <p:txBody>
          <a:bodyPr wrap="square" lIns="25400" tIns="25400" rIns="25400" bIns="25400" rtlCol="0" anchor="t">
            <a:normAutofit fontScale="92500"/>
          </a:bodyPr>
          <a:lstStyle/>
          <a:p>
            <a:pPr marL="0" indent="0" algn="l">
              <a:lnSpc>
                <a:spcPct val="105000"/>
              </a:lnSpc>
              <a:buNone/>
            </a:pPr>
            <a:r>
              <a:rPr lang="en-US" sz="4200" b="1" kern="0" spc="-63" dirty="0">
                <a:solidFill>
                  <a:srgbClr val="D72631"/>
                </a:solidFill>
                <a:latin typeface="-apple-system" pitchFamily="34" charset="0"/>
                <a:ea typeface="-apple-system" pitchFamily="34" charset="-122"/>
                <a:cs typeface="-apple-system" pitchFamily="34" charset="-120"/>
              </a:rPr>
              <a:t>Somos el sistema que cruza tres capas que nadie más cruza en Ecuador.</a:t>
            </a:r>
            <a:endParaRPr lang="en-US" sz="4200" dirty="0"/>
          </a:p>
        </p:txBody>
      </p:sp>
      <p:sp>
        <p:nvSpPr>
          <p:cNvPr id="10" name="Shape 7"/>
          <p:cNvSpPr/>
          <p:nvPr/>
        </p:nvSpPr>
        <p:spPr>
          <a:xfrm>
            <a:off x="2698700" y="5562898"/>
            <a:ext cx="1714500" cy="1714500"/>
          </a:xfrm>
          <a:prstGeom prst="ellipse">
            <a:avLst/>
          </a:prstGeom>
          <a:solidFill>
            <a:srgbClr val="0B3D7E"/>
          </a:solidFill>
          <a:ln/>
        </p:spPr>
        <p:txBody>
          <a:bodyPr/>
          <a:lstStyle/>
          <a:p>
            <a:endParaRPr lang="es-EC"/>
          </a:p>
        </p:txBody>
      </p:sp>
      <p:sp>
        <p:nvSpPr>
          <p:cNvPr id="11" name="Text 8"/>
          <p:cNvSpPr/>
          <p:nvPr/>
        </p:nvSpPr>
        <p:spPr>
          <a:xfrm>
            <a:off x="2660600" y="5562898"/>
            <a:ext cx="1790700" cy="1752600"/>
          </a:xfrm>
          <a:prstGeom prst="rect">
            <a:avLst/>
          </a:prstGeom>
          <a:noFill/>
          <a:ln/>
        </p:spPr>
        <p:txBody>
          <a:bodyPr wrap="square" lIns="25400" tIns="25400" rIns="25400" bIns="25400" rtlCol="0" anchor="ctr">
            <a:normAutofit/>
          </a:bodyPr>
          <a:lstStyle/>
          <a:p>
            <a:pPr marL="0" indent="0" algn="ctr">
              <a:lnSpc>
                <a:spcPct val="135000"/>
              </a:lnSpc>
              <a:buNone/>
            </a:pPr>
            <a:r>
              <a:rPr lang="en-US" sz="4200" b="1" kern="0" spc="-126" dirty="0">
                <a:solidFill>
                  <a:srgbClr val="FFFFFF"/>
                </a:solidFill>
                <a:latin typeface="-apple-system" pitchFamily="34" charset="0"/>
                <a:ea typeface="-apple-system" pitchFamily="34" charset="-122"/>
                <a:cs typeface="-apple-system" pitchFamily="34" charset="-120"/>
              </a:rPr>
              <a:t>01</a:t>
            </a:r>
            <a:endParaRPr lang="en-US" sz="4200" dirty="0"/>
          </a:p>
        </p:txBody>
      </p:sp>
      <p:sp>
        <p:nvSpPr>
          <p:cNvPr id="12" name="Text 9"/>
          <p:cNvSpPr/>
          <p:nvPr/>
        </p:nvSpPr>
        <p:spPr>
          <a:xfrm>
            <a:off x="972504" y="7505998"/>
            <a:ext cx="5166893" cy="423863"/>
          </a:xfrm>
          <a:prstGeom prst="rect">
            <a:avLst/>
          </a:prstGeom>
          <a:noFill/>
          <a:ln/>
        </p:spPr>
        <p:txBody>
          <a:bodyPr wrap="square" lIns="25400" tIns="25400" rIns="25400" bIns="25400" rtlCol="0" anchor="t">
            <a:normAutofit fontScale="92500" lnSpcReduction="10000"/>
          </a:bodyPr>
          <a:lstStyle/>
          <a:p>
            <a:pPr marL="0" indent="0" algn="ctr">
              <a:lnSpc>
                <a:spcPct val="135000"/>
              </a:lnSpc>
              <a:buNone/>
            </a:pPr>
            <a:r>
              <a:rPr lang="en-US" sz="2250" b="1" kern="0" spc="90" dirty="0">
                <a:solidFill>
                  <a:srgbClr val="1A1A1A"/>
                </a:solidFill>
                <a:latin typeface="-apple-system" pitchFamily="34" charset="0"/>
                <a:ea typeface="-apple-system" pitchFamily="34" charset="-122"/>
                <a:cs typeface="-apple-system" pitchFamily="34" charset="-120"/>
              </a:rPr>
              <a:t>TECNOLOGÍA</a:t>
            </a:r>
            <a:endParaRPr lang="en-US" sz="2250" dirty="0"/>
          </a:p>
        </p:txBody>
      </p:sp>
      <p:sp>
        <p:nvSpPr>
          <p:cNvPr id="13" name="Text 10"/>
          <p:cNvSpPr/>
          <p:nvPr/>
        </p:nvSpPr>
        <p:spPr>
          <a:xfrm>
            <a:off x="1986230" y="8006060"/>
            <a:ext cx="3139440" cy="320873"/>
          </a:xfrm>
          <a:prstGeom prst="rect">
            <a:avLst/>
          </a:prstGeom>
          <a:noFill/>
          <a:ln/>
        </p:spPr>
        <p:txBody>
          <a:bodyPr wrap="square" lIns="25400" tIns="25400" rIns="25400" bIns="25400" rtlCol="0" anchor="t">
            <a:normAutofit fontScale="92500" lnSpcReduction="10000"/>
          </a:bodyPr>
          <a:lstStyle/>
          <a:p>
            <a:pPr marL="0" indent="0" algn="ctr">
              <a:lnSpc>
                <a:spcPct val="135000"/>
              </a:lnSpc>
              <a:buNone/>
            </a:pPr>
            <a:r>
              <a:rPr lang="en-US" sz="1650" i="1" dirty="0">
                <a:solidFill>
                  <a:srgbClr val="3A3A3A"/>
                </a:solidFill>
                <a:latin typeface="Georgia" pitchFamily="34" charset="0"/>
                <a:ea typeface="Georgia" pitchFamily="34" charset="-122"/>
                <a:cs typeface="Georgia" pitchFamily="34" charset="-120"/>
              </a:rPr>
              <a:t>Escuchamos lo que el país dice.</a:t>
            </a:r>
            <a:endParaRPr lang="en-US" sz="1650" dirty="0"/>
          </a:p>
        </p:txBody>
      </p:sp>
      <p:pic>
        <p:nvPicPr>
          <p:cNvPr id="14" name="Image 1" descr="preencoded.png"/>
          <p:cNvPicPr>
            <a:picLocks noChangeAspect="1"/>
          </p:cNvPicPr>
          <p:nvPr/>
        </p:nvPicPr>
        <p:blipFill>
          <a:blip r:embed="rId4"/>
          <a:stretch>
            <a:fillRect/>
          </a:stretch>
        </p:blipFill>
        <p:spPr>
          <a:xfrm>
            <a:off x="6111776" y="6183511"/>
            <a:ext cx="476250" cy="190500"/>
          </a:xfrm>
          <a:prstGeom prst="rect">
            <a:avLst/>
          </a:prstGeom>
        </p:spPr>
      </p:pic>
      <p:sp>
        <p:nvSpPr>
          <p:cNvPr id="15" name="Shape 11"/>
          <p:cNvSpPr/>
          <p:nvPr/>
        </p:nvSpPr>
        <p:spPr>
          <a:xfrm>
            <a:off x="8286601" y="5562898"/>
            <a:ext cx="1714500" cy="1714500"/>
          </a:xfrm>
          <a:prstGeom prst="ellipse">
            <a:avLst/>
          </a:prstGeom>
          <a:solidFill>
            <a:srgbClr val="F5B400"/>
          </a:solidFill>
          <a:ln/>
        </p:spPr>
        <p:txBody>
          <a:bodyPr/>
          <a:lstStyle/>
          <a:p>
            <a:endParaRPr lang="es-EC"/>
          </a:p>
        </p:txBody>
      </p:sp>
      <p:sp>
        <p:nvSpPr>
          <p:cNvPr id="16" name="Text 12"/>
          <p:cNvSpPr/>
          <p:nvPr/>
        </p:nvSpPr>
        <p:spPr>
          <a:xfrm>
            <a:off x="8248501" y="5562898"/>
            <a:ext cx="1790700" cy="1752600"/>
          </a:xfrm>
          <a:prstGeom prst="rect">
            <a:avLst/>
          </a:prstGeom>
          <a:noFill/>
          <a:ln/>
        </p:spPr>
        <p:txBody>
          <a:bodyPr wrap="square" lIns="25400" tIns="25400" rIns="25400" bIns="25400" rtlCol="0" anchor="ctr">
            <a:normAutofit/>
          </a:bodyPr>
          <a:lstStyle/>
          <a:p>
            <a:pPr marL="0" indent="0" algn="ctr">
              <a:lnSpc>
                <a:spcPct val="135000"/>
              </a:lnSpc>
              <a:buNone/>
            </a:pPr>
            <a:r>
              <a:rPr lang="en-US" sz="4200" b="1" kern="0" spc="-126" dirty="0">
                <a:solidFill>
                  <a:srgbClr val="FFFFFF"/>
                </a:solidFill>
                <a:latin typeface="-apple-system" pitchFamily="34" charset="0"/>
                <a:ea typeface="-apple-system" pitchFamily="34" charset="-122"/>
                <a:cs typeface="-apple-system" pitchFamily="34" charset="-120"/>
              </a:rPr>
              <a:t>02</a:t>
            </a:r>
            <a:endParaRPr lang="en-US" sz="4200" dirty="0"/>
          </a:p>
        </p:txBody>
      </p:sp>
      <p:sp>
        <p:nvSpPr>
          <p:cNvPr id="17" name="Text 13"/>
          <p:cNvSpPr/>
          <p:nvPr/>
        </p:nvSpPr>
        <p:spPr>
          <a:xfrm>
            <a:off x="6560403" y="7505998"/>
            <a:ext cx="5167046" cy="423863"/>
          </a:xfrm>
          <a:prstGeom prst="rect">
            <a:avLst/>
          </a:prstGeom>
          <a:noFill/>
          <a:ln/>
        </p:spPr>
        <p:txBody>
          <a:bodyPr wrap="square" lIns="25400" tIns="25400" rIns="25400" bIns="25400" rtlCol="0" anchor="t">
            <a:normAutofit fontScale="92500" lnSpcReduction="10000"/>
          </a:bodyPr>
          <a:lstStyle/>
          <a:p>
            <a:pPr marL="0" indent="0" algn="ctr">
              <a:lnSpc>
                <a:spcPct val="135000"/>
              </a:lnSpc>
              <a:buNone/>
            </a:pPr>
            <a:r>
              <a:rPr lang="en-US" sz="2250" b="1" kern="0" spc="90" dirty="0">
                <a:solidFill>
                  <a:srgbClr val="1A1A1A"/>
                </a:solidFill>
                <a:latin typeface="-apple-system" pitchFamily="34" charset="0"/>
                <a:ea typeface="-apple-system" pitchFamily="34" charset="-122"/>
                <a:cs typeface="-apple-system" pitchFamily="34" charset="-120"/>
              </a:rPr>
              <a:t>METODOLOGÍA PLAY</a:t>
            </a:r>
            <a:endParaRPr lang="en-US" sz="2250" dirty="0"/>
          </a:p>
        </p:txBody>
      </p:sp>
      <p:sp>
        <p:nvSpPr>
          <p:cNvPr id="18" name="Text 14"/>
          <p:cNvSpPr/>
          <p:nvPr/>
        </p:nvSpPr>
        <p:spPr>
          <a:xfrm>
            <a:off x="7574131" y="8006060"/>
            <a:ext cx="3139440" cy="320873"/>
          </a:xfrm>
          <a:prstGeom prst="rect">
            <a:avLst/>
          </a:prstGeom>
          <a:noFill/>
          <a:ln/>
        </p:spPr>
        <p:txBody>
          <a:bodyPr wrap="square" lIns="25400" tIns="25400" rIns="25400" bIns="25400" rtlCol="0" anchor="t">
            <a:normAutofit fontScale="92500" lnSpcReduction="10000"/>
          </a:bodyPr>
          <a:lstStyle/>
          <a:p>
            <a:pPr marL="0" indent="0" algn="ctr">
              <a:lnSpc>
                <a:spcPct val="135000"/>
              </a:lnSpc>
              <a:buNone/>
            </a:pPr>
            <a:r>
              <a:rPr lang="en-US" sz="1650" i="1" dirty="0">
                <a:solidFill>
                  <a:srgbClr val="3A3A3A"/>
                </a:solidFill>
                <a:latin typeface="Georgia" pitchFamily="34" charset="0"/>
                <a:ea typeface="Georgia" pitchFamily="34" charset="-122"/>
                <a:cs typeface="Georgia" pitchFamily="34" charset="-120"/>
              </a:rPr>
              <a:t>Jugamos para resolver.</a:t>
            </a:r>
            <a:endParaRPr lang="en-US" sz="1650" dirty="0"/>
          </a:p>
        </p:txBody>
      </p:sp>
      <p:pic>
        <p:nvPicPr>
          <p:cNvPr id="19" name="Image 2" descr="preencoded.png"/>
          <p:cNvPicPr>
            <a:picLocks noChangeAspect="1"/>
          </p:cNvPicPr>
          <p:nvPr/>
        </p:nvPicPr>
        <p:blipFill>
          <a:blip r:embed="rId4"/>
          <a:stretch>
            <a:fillRect/>
          </a:stretch>
        </p:blipFill>
        <p:spPr>
          <a:xfrm>
            <a:off x="11699825" y="6183511"/>
            <a:ext cx="476250" cy="190500"/>
          </a:xfrm>
          <a:prstGeom prst="rect">
            <a:avLst/>
          </a:prstGeom>
        </p:spPr>
      </p:pic>
      <p:sp>
        <p:nvSpPr>
          <p:cNvPr id="20" name="Shape 15"/>
          <p:cNvSpPr/>
          <p:nvPr/>
        </p:nvSpPr>
        <p:spPr>
          <a:xfrm>
            <a:off x="13874651" y="5421511"/>
            <a:ext cx="1714500" cy="1714500"/>
          </a:xfrm>
          <a:prstGeom prst="ellipse">
            <a:avLst/>
          </a:prstGeom>
          <a:solidFill>
            <a:srgbClr val="D72631"/>
          </a:solidFill>
          <a:ln/>
        </p:spPr>
        <p:txBody>
          <a:bodyPr/>
          <a:lstStyle/>
          <a:p>
            <a:endParaRPr lang="es-EC"/>
          </a:p>
        </p:txBody>
      </p:sp>
      <p:sp>
        <p:nvSpPr>
          <p:cNvPr id="21" name="Text 16"/>
          <p:cNvSpPr/>
          <p:nvPr/>
        </p:nvSpPr>
        <p:spPr>
          <a:xfrm>
            <a:off x="13836551" y="5421511"/>
            <a:ext cx="1790700" cy="1752600"/>
          </a:xfrm>
          <a:prstGeom prst="rect">
            <a:avLst/>
          </a:prstGeom>
          <a:noFill/>
          <a:ln/>
        </p:spPr>
        <p:txBody>
          <a:bodyPr wrap="square" lIns="25400" tIns="25400" rIns="25400" bIns="25400" rtlCol="0" anchor="ctr">
            <a:normAutofit/>
          </a:bodyPr>
          <a:lstStyle/>
          <a:p>
            <a:pPr marL="0" indent="0" algn="ctr">
              <a:lnSpc>
                <a:spcPct val="135000"/>
              </a:lnSpc>
              <a:buNone/>
            </a:pPr>
            <a:r>
              <a:rPr lang="en-US" sz="4200" b="1" kern="0" spc="-126" dirty="0">
                <a:solidFill>
                  <a:srgbClr val="FFFFFF"/>
                </a:solidFill>
                <a:latin typeface="-apple-system" pitchFamily="34" charset="0"/>
                <a:ea typeface="-apple-system" pitchFamily="34" charset="-122"/>
                <a:cs typeface="-apple-system" pitchFamily="34" charset="-120"/>
              </a:rPr>
              <a:t>03</a:t>
            </a:r>
            <a:endParaRPr lang="en-US" sz="4200" dirty="0"/>
          </a:p>
        </p:txBody>
      </p:sp>
      <p:sp>
        <p:nvSpPr>
          <p:cNvPr id="22" name="Text 17"/>
          <p:cNvSpPr/>
          <p:nvPr/>
        </p:nvSpPr>
        <p:spPr>
          <a:xfrm>
            <a:off x="12148452" y="7364611"/>
            <a:ext cx="5167046" cy="423863"/>
          </a:xfrm>
          <a:prstGeom prst="rect">
            <a:avLst/>
          </a:prstGeom>
          <a:noFill/>
          <a:ln/>
        </p:spPr>
        <p:txBody>
          <a:bodyPr wrap="square" lIns="25400" tIns="25400" rIns="25400" bIns="25400" rtlCol="0" anchor="t">
            <a:normAutofit fontScale="92500" lnSpcReduction="10000"/>
          </a:bodyPr>
          <a:lstStyle/>
          <a:p>
            <a:pPr marL="0" indent="0" algn="ctr">
              <a:lnSpc>
                <a:spcPct val="135000"/>
              </a:lnSpc>
              <a:buNone/>
            </a:pPr>
            <a:r>
              <a:rPr lang="en-US" sz="2250" b="1" kern="0" spc="90" dirty="0">
                <a:solidFill>
                  <a:srgbClr val="1A1A1A"/>
                </a:solidFill>
                <a:latin typeface="-apple-system" pitchFamily="34" charset="0"/>
                <a:ea typeface="-apple-system" pitchFamily="34" charset="-122"/>
                <a:cs typeface="-apple-system" pitchFamily="34" charset="-120"/>
              </a:rPr>
              <a:t>IDEAS REALES</a:t>
            </a:r>
            <a:endParaRPr lang="en-US" sz="2250" dirty="0"/>
          </a:p>
        </p:txBody>
      </p:sp>
      <p:sp>
        <p:nvSpPr>
          <p:cNvPr id="23" name="Text 18"/>
          <p:cNvSpPr/>
          <p:nvPr/>
        </p:nvSpPr>
        <p:spPr>
          <a:xfrm>
            <a:off x="13162181" y="7864673"/>
            <a:ext cx="3139440" cy="603647"/>
          </a:xfrm>
          <a:prstGeom prst="rect">
            <a:avLst/>
          </a:prstGeom>
          <a:noFill/>
          <a:ln/>
        </p:spPr>
        <p:txBody>
          <a:bodyPr wrap="square" lIns="25400" tIns="25400" rIns="25400" bIns="25400" rtlCol="0" anchor="t">
            <a:normAutofit fontScale="92500" lnSpcReduction="10000"/>
          </a:bodyPr>
          <a:lstStyle/>
          <a:p>
            <a:pPr marL="0" indent="0" algn="ctr">
              <a:lnSpc>
                <a:spcPct val="135000"/>
              </a:lnSpc>
              <a:buNone/>
            </a:pPr>
            <a:r>
              <a:rPr lang="en-US" sz="1650" i="1" dirty="0">
                <a:solidFill>
                  <a:srgbClr val="3A3A3A"/>
                </a:solidFill>
                <a:latin typeface="Georgia" pitchFamily="34" charset="0"/>
                <a:ea typeface="Georgia" pitchFamily="34" charset="-122"/>
                <a:cs typeface="Georgia" pitchFamily="34" charset="-120"/>
              </a:rPr>
              <a:t>Salimos con </a:t>
            </a:r>
            <a:r>
              <a:rPr lang="en-US" sz="1650" i="1" dirty="0" err="1">
                <a:solidFill>
                  <a:srgbClr val="3A3A3A"/>
                </a:solidFill>
                <a:latin typeface="Georgia" pitchFamily="34" charset="0"/>
                <a:ea typeface="Georgia" pitchFamily="34" charset="-122"/>
                <a:cs typeface="Georgia" pitchFamily="34" charset="-120"/>
              </a:rPr>
              <a:t>acciones</a:t>
            </a:r>
            <a:r>
              <a:rPr lang="en-US" sz="1650" i="1" dirty="0">
                <a:solidFill>
                  <a:srgbClr val="3A3A3A"/>
                </a:solidFill>
                <a:latin typeface="Georgia" pitchFamily="34" charset="0"/>
                <a:ea typeface="Georgia" pitchFamily="34" charset="-122"/>
                <a:cs typeface="Georgia" pitchFamily="34" charset="-120"/>
              </a:rPr>
              <a:t> que se ejecutan.</a:t>
            </a:r>
            <a:endParaRPr lang="en-US" sz="1650" dirty="0"/>
          </a:p>
        </p:txBody>
      </p:sp>
      <p:sp>
        <p:nvSpPr>
          <p:cNvPr id="24" name="Text 19"/>
          <p:cNvSpPr/>
          <p:nvPr/>
        </p:nvSpPr>
        <p:spPr>
          <a:xfrm>
            <a:off x="4578935" y="8906470"/>
            <a:ext cx="9130129" cy="331440"/>
          </a:xfrm>
          <a:prstGeom prst="rect">
            <a:avLst/>
          </a:prstGeom>
          <a:noFill/>
          <a:ln/>
        </p:spPr>
        <p:txBody>
          <a:bodyPr wrap="square" lIns="25400" tIns="25400" rIns="25400" bIns="25400" rtlCol="0" anchor="t">
            <a:normAutofit fontScale="92500" lnSpcReduction="10000"/>
          </a:bodyPr>
          <a:lstStyle/>
          <a:p>
            <a:pPr marL="0" indent="0" algn="ctr">
              <a:lnSpc>
                <a:spcPct val="140000"/>
              </a:lnSpc>
              <a:buNone/>
            </a:pPr>
            <a:r>
              <a:rPr lang="en-US" sz="1650" i="1" dirty="0">
                <a:solidFill>
                  <a:srgbClr val="3A3A3A"/>
                </a:solidFill>
                <a:latin typeface="Georgia" pitchFamily="34" charset="0"/>
                <a:ea typeface="Georgia" pitchFamily="34" charset="-122"/>
                <a:cs typeface="Georgia" pitchFamily="34" charset="-120"/>
              </a:rPr>
              <a:t>Tres capas. Una sola sala. Resultado que el resto no puede entregar porque </a:t>
            </a:r>
            <a:r>
              <a:rPr lang="en-US" sz="1650" b="1" dirty="0">
                <a:solidFill>
                  <a:srgbClr val="1A1A1A"/>
                </a:solidFill>
                <a:latin typeface="Georgia" pitchFamily="34" charset="0"/>
                <a:ea typeface="Georgia" pitchFamily="34" charset="-122"/>
                <a:cs typeface="Georgia" pitchFamily="34" charset="-120"/>
              </a:rPr>
              <a:t>no tiene las tres</a:t>
            </a:r>
            <a:r>
              <a:rPr lang="en-US" sz="1650" i="1" dirty="0">
                <a:solidFill>
                  <a:srgbClr val="3A3A3A"/>
                </a:solidFill>
                <a:latin typeface="Georgia" pitchFamily="34" charset="0"/>
                <a:ea typeface="Georgia" pitchFamily="34" charset="-122"/>
                <a:cs typeface="Georgia" pitchFamily="34" charset="-120"/>
              </a:rPr>
              <a:t>.</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10635555"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4598104" y="666750"/>
            <a:ext cx="272141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CAPA 01 · TECNOLOGÍA</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48336" y="9547920"/>
            <a:ext cx="868114"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04 / 32</a:t>
            </a:r>
            <a:endParaRPr lang="en-US" sz="1200" dirty="0"/>
          </a:p>
        </p:txBody>
      </p:sp>
      <p:sp>
        <p:nvSpPr>
          <p:cNvPr id="7" name="Text 4"/>
          <p:cNvSpPr/>
          <p:nvPr/>
        </p:nvSpPr>
        <p:spPr>
          <a:xfrm>
            <a:off x="1047750" y="1905000"/>
            <a:ext cx="16678275"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480" dirty="0">
                <a:solidFill>
                  <a:srgbClr val="0B3D7E"/>
                </a:solidFill>
                <a:latin typeface="-apple-system" pitchFamily="34" charset="0"/>
                <a:ea typeface="-apple-system" pitchFamily="34" charset="-122"/>
                <a:cs typeface="-apple-system" pitchFamily="34" charset="-120"/>
              </a:rPr>
              <a:t>CAPA 01 · TECNOLOGÍA</a:t>
            </a:r>
            <a:endParaRPr lang="en-US" sz="1200" dirty="0"/>
          </a:p>
        </p:txBody>
      </p:sp>
      <p:sp>
        <p:nvSpPr>
          <p:cNvPr id="8" name="Text 5"/>
          <p:cNvSpPr/>
          <p:nvPr/>
        </p:nvSpPr>
        <p:spPr>
          <a:xfrm>
            <a:off x="1047750" y="2453580"/>
            <a:ext cx="9408816" cy="1264890"/>
          </a:xfrm>
          <a:prstGeom prst="rect">
            <a:avLst/>
          </a:prstGeom>
          <a:noFill/>
          <a:ln/>
        </p:spPr>
        <p:txBody>
          <a:bodyPr wrap="square" lIns="25400" tIns="25400" rIns="25400" bIns="25400" rtlCol="0" anchor="t">
            <a:normAutofit fontScale="92500" lnSpcReduction="20000"/>
          </a:bodyPr>
          <a:lstStyle/>
          <a:p>
            <a:pPr marL="0" indent="0" algn="l">
              <a:lnSpc>
                <a:spcPct val="92000"/>
              </a:lnSpc>
              <a:buNone/>
            </a:pPr>
            <a:r>
              <a:rPr lang="en-US" sz="10500" b="1" kern="0" spc="-367" dirty="0">
                <a:solidFill>
                  <a:srgbClr val="1A1A1A"/>
                </a:solidFill>
                <a:latin typeface="-apple-system" pitchFamily="34" charset="0"/>
                <a:ea typeface="-apple-system" pitchFamily="34" charset="-122"/>
                <a:cs typeface="-apple-system" pitchFamily="34" charset="-120"/>
              </a:rPr>
              <a:t>ESCUCHAMOS</a:t>
            </a:r>
            <a:endParaRPr lang="en-US" sz="10500" dirty="0"/>
          </a:p>
        </p:txBody>
      </p:sp>
      <p:sp>
        <p:nvSpPr>
          <p:cNvPr id="9" name="Text 6"/>
          <p:cNvSpPr/>
          <p:nvPr/>
        </p:nvSpPr>
        <p:spPr>
          <a:xfrm>
            <a:off x="1047750" y="3851821"/>
            <a:ext cx="9408816" cy="1078111"/>
          </a:xfrm>
          <a:prstGeom prst="rect">
            <a:avLst/>
          </a:prstGeom>
          <a:noFill/>
          <a:ln/>
        </p:spPr>
        <p:txBody>
          <a:bodyPr wrap="square" lIns="25400" tIns="25400" rIns="25400" bIns="25400" rtlCol="0" anchor="t">
            <a:normAutofit/>
          </a:bodyPr>
          <a:lstStyle/>
          <a:p>
            <a:pPr marL="0" indent="0" algn="l">
              <a:lnSpc>
                <a:spcPct val="105000"/>
              </a:lnSpc>
              <a:buNone/>
            </a:pPr>
            <a:r>
              <a:rPr lang="en-US" sz="3900" b="1" kern="0" spc="-58" dirty="0">
                <a:solidFill>
                  <a:srgbClr val="D72631"/>
                </a:solidFill>
                <a:latin typeface="-apple-system" pitchFamily="34" charset="0"/>
                <a:ea typeface="-apple-system" pitchFamily="34" charset="-122"/>
                <a:cs typeface="-apple-system" pitchFamily="34" charset="-120"/>
              </a:rPr>
              <a:t>lo que el país dice antes que nadie.</a:t>
            </a:r>
            <a:endParaRPr lang="en-US" sz="3900" dirty="0"/>
          </a:p>
        </p:txBody>
      </p:sp>
      <p:sp>
        <p:nvSpPr>
          <p:cNvPr id="10" name="Shape 7"/>
          <p:cNvSpPr/>
          <p:nvPr/>
        </p:nvSpPr>
        <p:spPr>
          <a:xfrm>
            <a:off x="1047750" y="7342584"/>
            <a:ext cx="9134773" cy="9525"/>
          </a:xfrm>
          <a:prstGeom prst="rect">
            <a:avLst/>
          </a:prstGeom>
          <a:solidFill>
            <a:srgbClr val="C9C6BD"/>
          </a:solidFill>
          <a:ln/>
        </p:spPr>
        <p:txBody>
          <a:bodyPr/>
          <a:lstStyle/>
          <a:p>
            <a:endParaRPr lang="es-EC"/>
          </a:p>
        </p:txBody>
      </p:sp>
      <p:sp>
        <p:nvSpPr>
          <p:cNvPr id="11" name="Shape 8"/>
          <p:cNvSpPr/>
          <p:nvPr/>
        </p:nvSpPr>
        <p:spPr>
          <a:xfrm>
            <a:off x="1047750" y="5425232"/>
            <a:ext cx="9134773" cy="9525"/>
          </a:xfrm>
          <a:prstGeom prst="rect">
            <a:avLst/>
          </a:prstGeom>
          <a:solidFill>
            <a:srgbClr val="1A1A1A"/>
          </a:solidFill>
          <a:ln/>
        </p:spPr>
        <p:txBody>
          <a:bodyPr/>
          <a:lstStyle/>
          <a:p>
            <a:endParaRPr lang="es-EC"/>
          </a:p>
        </p:txBody>
      </p:sp>
      <p:sp>
        <p:nvSpPr>
          <p:cNvPr id="12" name="Text 9"/>
          <p:cNvSpPr/>
          <p:nvPr/>
        </p:nvSpPr>
        <p:spPr>
          <a:xfrm>
            <a:off x="1047750" y="5663357"/>
            <a:ext cx="9408816" cy="26952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b="1" kern="0" spc="432" dirty="0">
                <a:solidFill>
                  <a:srgbClr val="6B6B6B"/>
                </a:solidFill>
                <a:latin typeface="-apple-system" pitchFamily="34" charset="0"/>
                <a:ea typeface="-apple-system" pitchFamily="34" charset="-122"/>
                <a:cs typeface="-apple-system" pitchFamily="34" charset="-120"/>
              </a:rPr>
              <a:t>MENCIONES PROCESADAS PARA SECOM</a:t>
            </a:r>
            <a:endParaRPr lang="en-US" sz="1350" dirty="0"/>
          </a:p>
        </p:txBody>
      </p:sp>
      <p:sp>
        <p:nvSpPr>
          <p:cNvPr id="13" name="Text 10"/>
          <p:cNvSpPr/>
          <p:nvPr/>
        </p:nvSpPr>
        <p:spPr>
          <a:xfrm>
            <a:off x="1047750" y="5970984"/>
            <a:ext cx="9408816" cy="11811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9000" b="1" kern="0" spc="-360" dirty="0">
                <a:solidFill>
                  <a:srgbClr val="D72631"/>
                </a:solidFill>
                <a:latin typeface="-apple-system" pitchFamily="34" charset="0"/>
                <a:ea typeface="-apple-system" pitchFamily="34" charset="-122"/>
                <a:cs typeface="-apple-system" pitchFamily="34" charset="-120"/>
              </a:rPr>
              <a:t>20.527</a:t>
            </a:r>
            <a:endParaRPr lang="en-US" sz="9000" dirty="0"/>
          </a:p>
        </p:txBody>
      </p:sp>
      <p:sp>
        <p:nvSpPr>
          <p:cNvPr id="14" name="Text 11"/>
          <p:cNvSpPr/>
          <p:nvPr/>
        </p:nvSpPr>
        <p:spPr>
          <a:xfrm>
            <a:off x="1047750" y="7656909"/>
            <a:ext cx="7063740" cy="362843"/>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650" b="1" dirty="0">
                <a:solidFill>
                  <a:srgbClr val="0B3D7E"/>
                </a:solidFill>
                <a:latin typeface="-apple-system" pitchFamily="34" charset="0"/>
                <a:ea typeface="-apple-system" pitchFamily="34" charset="-122"/>
                <a:cs typeface="-apple-system" pitchFamily="34" charset="-120"/>
              </a:rPr>
              <a:t>→ </a:t>
            </a:r>
            <a:r>
              <a:rPr lang="en-US" sz="1650" dirty="0">
                <a:solidFill>
                  <a:srgbClr val="3A3A3A"/>
                </a:solidFill>
                <a:latin typeface="-apple-system" pitchFamily="34" charset="0"/>
                <a:ea typeface="-apple-system" pitchFamily="34" charset="-122"/>
                <a:cs typeface="-apple-system" pitchFamily="34" charset="-120"/>
              </a:rPr>
              <a:t>Rastreamos miles de fuentes en redes, medios, búsquedas y foros.</a:t>
            </a:r>
            <a:endParaRPr lang="en-US" sz="1650" dirty="0"/>
          </a:p>
        </p:txBody>
      </p:sp>
      <p:sp>
        <p:nvSpPr>
          <p:cNvPr id="15" name="Text 12"/>
          <p:cNvSpPr/>
          <p:nvPr/>
        </p:nvSpPr>
        <p:spPr>
          <a:xfrm>
            <a:off x="1047750" y="8115002"/>
            <a:ext cx="7063740" cy="687586"/>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650" b="1" dirty="0">
                <a:solidFill>
                  <a:srgbClr val="0B3D7E"/>
                </a:solidFill>
                <a:latin typeface="-apple-system" pitchFamily="34" charset="0"/>
                <a:ea typeface="-apple-system" pitchFamily="34" charset="-122"/>
                <a:cs typeface="-apple-system" pitchFamily="34" charset="-120"/>
              </a:rPr>
              <a:t>→ </a:t>
            </a:r>
            <a:r>
              <a:rPr lang="en-US" sz="1650" dirty="0">
                <a:solidFill>
                  <a:srgbClr val="3A3A3A"/>
                </a:solidFill>
                <a:latin typeface="-apple-system" pitchFamily="34" charset="0"/>
                <a:ea typeface="-apple-system" pitchFamily="34" charset="-122"/>
                <a:cs typeface="-apple-system" pitchFamily="34" charset="-120"/>
              </a:rPr>
              <a:t>Una IA clasifica cada conversación en un árbol de tres niveles: </a:t>
            </a:r>
            <a:r>
              <a:rPr lang="en-US" sz="1650" b="1" dirty="0">
                <a:solidFill>
                  <a:srgbClr val="3A3A3A"/>
                </a:solidFill>
                <a:latin typeface="-apple-system" pitchFamily="34" charset="0"/>
                <a:ea typeface="-apple-system" pitchFamily="34" charset="-122"/>
                <a:cs typeface="-apple-system" pitchFamily="34" charset="-120"/>
              </a:rPr>
              <a:t>tema, tipo de señal, emoción dominante </a:t>
            </a:r>
            <a:r>
              <a:rPr lang="en-US" sz="1650" dirty="0">
                <a:solidFill>
                  <a:srgbClr val="3A3A3A"/>
                </a:solidFill>
                <a:latin typeface="-apple-system" pitchFamily="34" charset="0"/>
                <a:ea typeface="-apple-system" pitchFamily="34" charset="-122"/>
                <a:cs typeface="-apple-system" pitchFamily="34" charset="-120"/>
              </a:rPr>
              <a:t>.</a:t>
            </a:r>
            <a:endParaRPr lang="en-US" sz="1650" dirty="0"/>
          </a:p>
        </p:txBody>
      </p:sp>
      <p:sp>
        <p:nvSpPr>
          <p:cNvPr id="16" name="Text 13"/>
          <p:cNvSpPr/>
          <p:nvPr/>
        </p:nvSpPr>
        <p:spPr>
          <a:xfrm>
            <a:off x="1047750" y="8897838"/>
            <a:ext cx="7063740" cy="687586"/>
          </a:xfrm>
          <a:prstGeom prst="rect">
            <a:avLst/>
          </a:prstGeom>
          <a:noFill/>
          <a:ln/>
        </p:spPr>
        <p:txBody>
          <a:bodyPr wrap="square" lIns="25400" tIns="25400" rIns="25400" bIns="25400" rtlCol="0" anchor="t">
            <a:normAutofit fontScale="92500"/>
          </a:bodyPr>
          <a:lstStyle/>
          <a:p>
            <a:pPr marL="0" indent="0" algn="l">
              <a:lnSpc>
                <a:spcPct val="155000"/>
              </a:lnSpc>
              <a:buNone/>
            </a:pPr>
            <a:r>
              <a:rPr lang="en-US" sz="1650" b="1" dirty="0">
                <a:solidFill>
                  <a:srgbClr val="0B3D7E"/>
                </a:solidFill>
                <a:latin typeface="-apple-system" pitchFamily="34" charset="0"/>
                <a:ea typeface="-apple-system" pitchFamily="34" charset="-122"/>
                <a:cs typeface="-apple-system" pitchFamily="34" charset="-120"/>
              </a:rPr>
              <a:t>→ </a:t>
            </a:r>
            <a:r>
              <a:rPr lang="en-US" sz="1650" dirty="0">
                <a:solidFill>
                  <a:srgbClr val="3A3A3A"/>
                </a:solidFill>
                <a:latin typeface="-apple-system" pitchFamily="34" charset="0"/>
                <a:ea typeface="-apple-system" pitchFamily="34" charset="-122"/>
                <a:cs typeface="-apple-system" pitchFamily="34" charset="-120"/>
              </a:rPr>
              <a:t>El resultado no son reportes. Son </a:t>
            </a:r>
            <a:r>
              <a:rPr lang="en-US" sz="1650" b="1" dirty="0">
                <a:solidFill>
                  <a:srgbClr val="3A3A3A"/>
                </a:solidFill>
                <a:latin typeface="-apple-system" pitchFamily="34" charset="0"/>
                <a:ea typeface="-apple-system" pitchFamily="34" charset="-122"/>
                <a:cs typeface="-apple-system" pitchFamily="34" charset="-120"/>
              </a:rPr>
              <a:t>3 misiones estratégicas </a:t>
            </a:r>
            <a:r>
              <a:rPr lang="en-US" sz="1650" dirty="0">
                <a:solidFill>
                  <a:srgbClr val="3A3A3A"/>
                </a:solidFill>
                <a:latin typeface="-apple-system" pitchFamily="34" charset="0"/>
                <a:ea typeface="-apple-system" pitchFamily="34" charset="-122"/>
                <a:cs typeface="-apple-system" pitchFamily="34" charset="-120"/>
              </a:rPr>
              <a:t>listas para entrar a la sala.</a:t>
            </a:r>
            <a:endParaRPr lang="en-US" sz="1650" dirty="0"/>
          </a:p>
        </p:txBody>
      </p:sp>
      <p:sp>
        <p:nvSpPr>
          <p:cNvPr id="17" name="Shape 14"/>
          <p:cNvSpPr/>
          <p:nvPr/>
        </p:nvSpPr>
        <p:spPr>
          <a:xfrm>
            <a:off x="10792123" y="2453580"/>
            <a:ext cx="6448127" cy="3619500"/>
          </a:xfrm>
          <a:prstGeom prst="rect">
            <a:avLst/>
          </a:prstGeom>
          <a:solidFill>
            <a:srgbClr val="F5F4F1"/>
          </a:solidFill>
          <a:ln w="9525">
            <a:solidFill>
              <a:srgbClr val="C9C6BD"/>
            </a:solidFill>
            <a:prstDash val="solid"/>
          </a:ln>
        </p:spPr>
        <p:txBody>
          <a:bodyPr/>
          <a:lstStyle/>
          <a:p>
            <a:endParaRPr lang="es-EC"/>
          </a:p>
        </p:txBody>
      </p:sp>
      <p:sp>
        <p:nvSpPr>
          <p:cNvPr id="18" name="Text 15"/>
          <p:cNvSpPr/>
          <p:nvPr/>
        </p:nvSpPr>
        <p:spPr>
          <a:xfrm>
            <a:off x="11106448" y="2729805"/>
            <a:ext cx="5994062"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336" dirty="0">
                <a:solidFill>
                  <a:srgbClr val="6B6B6B"/>
                </a:solidFill>
                <a:latin typeface="-apple-system" pitchFamily="34" charset="0"/>
                <a:ea typeface="-apple-system" pitchFamily="34" charset="-122"/>
                <a:cs typeface="-apple-system" pitchFamily="34" charset="-120"/>
              </a:rPr>
              <a:t>IMAGEN · DATA WALL</a:t>
            </a:r>
            <a:endParaRPr lang="en-US" sz="1050" dirty="0"/>
          </a:p>
        </p:txBody>
      </p:sp>
      <p:sp>
        <p:nvSpPr>
          <p:cNvPr id="19" name="Text 16"/>
          <p:cNvSpPr/>
          <p:nvPr/>
        </p:nvSpPr>
        <p:spPr>
          <a:xfrm>
            <a:off x="11106448" y="5231309"/>
            <a:ext cx="4795157" cy="603647"/>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i="1" dirty="0">
                <a:solidFill>
                  <a:srgbClr val="3A3A3A"/>
                </a:solidFill>
                <a:latin typeface="Georgia" pitchFamily="34" charset="0"/>
                <a:ea typeface="Georgia" pitchFamily="34" charset="-122"/>
                <a:cs typeface="Georgia" pitchFamily="34" charset="-120"/>
              </a:rPr>
              <a:t>Captura del árbol de IA en pantalla. Monitores con datos en tiempo real. Estilo editorial.</a:t>
            </a:r>
            <a:endParaRPr lang="en-US" sz="1650" dirty="0"/>
          </a:p>
        </p:txBody>
      </p:sp>
      <p:sp>
        <p:nvSpPr>
          <p:cNvPr id="20" name="Shape 17"/>
          <p:cNvSpPr/>
          <p:nvPr/>
        </p:nvSpPr>
        <p:spPr>
          <a:xfrm>
            <a:off x="10792123" y="6301680"/>
            <a:ext cx="38100" cy="845641"/>
          </a:xfrm>
          <a:prstGeom prst="rect">
            <a:avLst/>
          </a:prstGeom>
          <a:solidFill>
            <a:srgbClr val="D72631"/>
          </a:solidFill>
          <a:ln/>
        </p:spPr>
        <p:txBody>
          <a:bodyPr/>
          <a:lstStyle/>
          <a:p>
            <a:endParaRPr lang="es-EC"/>
          </a:p>
        </p:txBody>
      </p:sp>
      <p:sp>
        <p:nvSpPr>
          <p:cNvPr id="21" name="Text 18"/>
          <p:cNvSpPr/>
          <p:nvPr/>
        </p:nvSpPr>
        <p:spPr>
          <a:xfrm>
            <a:off x="11173123" y="6377880"/>
            <a:ext cx="6260571" cy="73134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i="1" dirty="0">
                <a:solidFill>
                  <a:srgbClr val="3A3A3A"/>
                </a:solidFill>
                <a:latin typeface="Georgia" pitchFamily="34" charset="0"/>
                <a:ea typeface="Georgia" pitchFamily="34" charset="-122"/>
                <a:cs typeface="Georgia" pitchFamily="34" charset="-120"/>
              </a:rPr>
              <a:t>"Esto es otra liga del social listening. Inteligencia que llega antes que el hecho — no después."</a:t>
            </a:r>
            <a:endParaRPr lang="en-US" sz="1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10433745"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4396293" y="666750"/>
            <a:ext cx="2929275"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CAPA 02 · METODOLOGÍA</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52205" y="9547920"/>
            <a:ext cx="864245"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05 / 32</a:t>
            </a:r>
            <a:endParaRPr lang="en-US" sz="1200" dirty="0"/>
          </a:p>
        </p:txBody>
      </p:sp>
      <p:sp>
        <p:nvSpPr>
          <p:cNvPr id="7" name="Text 4"/>
          <p:cNvSpPr/>
          <p:nvPr/>
        </p:nvSpPr>
        <p:spPr>
          <a:xfrm>
            <a:off x="1047750" y="1905000"/>
            <a:ext cx="16678275"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480" dirty="0">
                <a:solidFill>
                  <a:srgbClr val="B8860B"/>
                </a:solidFill>
                <a:latin typeface="-apple-system" pitchFamily="34" charset="0"/>
                <a:ea typeface="-apple-system" pitchFamily="34" charset="-122"/>
                <a:cs typeface="-apple-system" pitchFamily="34" charset="-120"/>
              </a:rPr>
              <a:t>CAPA 02 · METODOLOGÍA</a:t>
            </a:r>
            <a:endParaRPr lang="en-US" sz="1200" dirty="0"/>
          </a:p>
        </p:txBody>
      </p:sp>
      <p:sp>
        <p:nvSpPr>
          <p:cNvPr id="8" name="Text 5"/>
          <p:cNvSpPr/>
          <p:nvPr/>
        </p:nvSpPr>
        <p:spPr>
          <a:xfrm>
            <a:off x="1047750" y="2453580"/>
            <a:ext cx="8754715" cy="1440061"/>
          </a:xfrm>
          <a:prstGeom prst="rect">
            <a:avLst/>
          </a:prstGeom>
          <a:noFill/>
          <a:ln/>
        </p:spPr>
        <p:txBody>
          <a:bodyPr wrap="square" lIns="25400" tIns="25400" rIns="25400" bIns="25400" rtlCol="0" anchor="t">
            <a:normAutofit fontScale="92500" lnSpcReduction="20000"/>
          </a:bodyPr>
          <a:lstStyle/>
          <a:p>
            <a:pPr marL="0" indent="0" algn="l">
              <a:lnSpc>
                <a:spcPct val="92000"/>
              </a:lnSpc>
              <a:buNone/>
            </a:pPr>
            <a:r>
              <a:rPr lang="en-US" sz="12000" b="1" kern="0" spc="-420" dirty="0">
                <a:solidFill>
                  <a:srgbClr val="1A1A1A"/>
                </a:solidFill>
                <a:latin typeface="-apple-system" pitchFamily="34" charset="0"/>
                <a:ea typeface="-apple-system" pitchFamily="34" charset="-122"/>
                <a:cs typeface="-apple-system" pitchFamily="34" charset="-120"/>
              </a:rPr>
              <a:t>JUGAMOS</a:t>
            </a:r>
            <a:endParaRPr lang="en-US" sz="12000" dirty="0"/>
          </a:p>
        </p:txBody>
      </p:sp>
      <p:sp>
        <p:nvSpPr>
          <p:cNvPr id="9" name="Text 6"/>
          <p:cNvSpPr/>
          <p:nvPr/>
        </p:nvSpPr>
        <p:spPr>
          <a:xfrm>
            <a:off x="1047750" y="4026991"/>
            <a:ext cx="7848600" cy="959941"/>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300" b="1" kern="0" spc="-40" dirty="0">
                <a:solidFill>
                  <a:srgbClr val="D72631"/>
                </a:solidFill>
                <a:latin typeface="-apple-system" pitchFamily="34" charset="0"/>
                <a:ea typeface="-apple-system" pitchFamily="34" charset="-122"/>
                <a:cs typeface="-apple-system" pitchFamily="34" charset="-120"/>
              </a:rPr>
              <a:t>porque jugar es el único modo en que el cerebro deja de tener miedo.</a:t>
            </a:r>
            <a:endParaRPr lang="en-US" sz="3300" dirty="0"/>
          </a:p>
        </p:txBody>
      </p:sp>
      <p:sp>
        <p:nvSpPr>
          <p:cNvPr id="10" name="Text 7"/>
          <p:cNvSpPr/>
          <p:nvPr/>
        </p:nvSpPr>
        <p:spPr>
          <a:xfrm>
            <a:off x="1047750" y="5406033"/>
            <a:ext cx="7848600" cy="687586"/>
          </a:xfrm>
          <a:prstGeom prst="rect">
            <a:avLst/>
          </a:prstGeom>
          <a:noFill/>
          <a:ln/>
        </p:spPr>
        <p:txBody>
          <a:bodyPr wrap="square" lIns="25400" tIns="25400" rIns="25400" bIns="25400" rtlCol="0" anchor="t">
            <a:normAutofit/>
          </a:bodyPr>
          <a:lstStyle/>
          <a:p>
            <a:pPr marL="0" indent="0" algn="l">
              <a:lnSpc>
                <a:spcPct val="155000"/>
              </a:lnSpc>
              <a:buNone/>
            </a:pPr>
            <a:r>
              <a:rPr lang="en-US" sz="1650" b="1" dirty="0">
                <a:solidFill>
                  <a:srgbClr val="F5B400"/>
                </a:solidFill>
                <a:highlight>
                  <a:srgbClr val="1A1A1A"/>
                </a:highlight>
                <a:latin typeface="-apple-system" pitchFamily="34" charset="0"/>
                <a:ea typeface="-apple-system" pitchFamily="34" charset="-122"/>
                <a:cs typeface="-apple-system" pitchFamily="34" charset="-120"/>
              </a:rPr>
              <a:t>→ </a:t>
            </a:r>
            <a:r>
              <a:rPr lang="en-US" sz="1650" dirty="0">
                <a:solidFill>
                  <a:srgbClr val="3A3A3A"/>
                </a:solidFill>
                <a:latin typeface="-apple-system" pitchFamily="34" charset="0"/>
                <a:ea typeface="-apple-system" pitchFamily="34" charset="-122"/>
                <a:cs typeface="-apple-system" pitchFamily="34" charset="-120"/>
              </a:rPr>
              <a:t>Cuando la gente construye con las manos, dice cosas que en una reunión no diría.</a:t>
            </a:r>
            <a:endParaRPr lang="en-US" sz="1650" dirty="0"/>
          </a:p>
        </p:txBody>
      </p:sp>
      <p:sp>
        <p:nvSpPr>
          <p:cNvPr id="11" name="Text 8"/>
          <p:cNvSpPr/>
          <p:nvPr/>
        </p:nvSpPr>
        <p:spPr>
          <a:xfrm>
            <a:off x="1047750" y="6188869"/>
            <a:ext cx="7848600" cy="687586"/>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650" b="1" dirty="0">
                <a:solidFill>
                  <a:srgbClr val="F5B400"/>
                </a:solidFill>
                <a:highlight>
                  <a:srgbClr val="1A1A1A"/>
                </a:highlight>
                <a:latin typeface="-apple-system" pitchFamily="34" charset="0"/>
                <a:ea typeface="-apple-system" pitchFamily="34" charset="-122"/>
                <a:cs typeface="-apple-system" pitchFamily="34" charset="-120"/>
              </a:rPr>
              <a:t>→ </a:t>
            </a:r>
            <a:r>
              <a:rPr lang="en-US" sz="1650" dirty="0">
                <a:solidFill>
                  <a:srgbClr val="3A3A3A"/>
                </a:solidFill>
                <a:latin typeface="-apple-system" pitchFamily="34" charset="0"/>
                <a:ea typeface="-apple-system" pitchFamily="34" charset="-122"/>
                <a:cs typeface="-apple-system" pitchFamily="34" charset="-120"/>
              </a:rPr>
              <a:t>Usamos protocolos de </a:t>
            </a:r>
            <a:r>
              <a:rPr lang="en-US" sz="1650" b="1" dirty="0">
                <a:solidFill>
                  <a:srgbClr val="3A3A3A"/>
                </a:solidFill>
                <a:latin typeface="-apple-system" pitchFamily="34" charset="0"/>
                <a:ea typeface="-apple-system" pitchFamily="34" charset="-122"/>
                <a:cs typeface="-apple-system" pitchFamily="34" charset="-120"/>
              </a:rPr>
              <a:t>construcción física </a:t>
            </a:r>
            <a:r>
              <a:rPr lang="en-US" sz="1650" dirty="0">
                <a:solidFill>
                  <a:srgbClr val="3A3A3A"/>
                </a:solidFill>
                <a:latin typeface="-apple-system" pitchFamily="34" charset="0"/>
                <a:ea typeface="-apple-system" pitchFamily="34" charset="-122"/>
                <a:cs typeface="-apple-system" pitchFamily="34" charset="-120"/>
              </a:rPr>
              <a:t>inspirados en LEGO® Serious Play® y formatos propios que activan creatividad lateral en minutos, no en semanas.</a:t>
            </a:r>
            <a:endParaRPr lang="en-US" sz="1650" dirty="0"/>
          </a:p>
        </p:txBody>
      </p:sp>
      <p:sp>
        <p:nvSpPr>
          <p:cNvPr id="12" name="Shape 9"/>
          <p:cNvSpPr/>
          <p:nvPr/>
        </p:nvSpPr>
        <p:spPr>
          <a:xfrm>
            <a:off x="1047750" y="6990755"/>
            <a:ext cx="352871" cy="285750"/>
          </a:xfrm>
          <a:prstGeom prst="rect">
            <a:avLst/>
          </a:prstGeom>
          <a:solidFill>
            <a:srgbClr val="1A1A1A"/>
          </a:solidFill>
          <a:ln/>
        </p:spPr>
        <p:txBody>
          <a:bodyPr/>
          <a:lstStyle/>
          <a:p>
            <a:endParaRPr lang="es-EC"/>
          </a:p>
        </p:txBody>
      </p:sp>
      <p:sp>
        <p:nvSpPr>
          <p:cNvPr id="13" name="Text 10"/>
          <p:cNvSpPr/>
          <p:nvPr/>
        </p:nvSpPr>
        <p:spPr>
          <a:xfrm>
            <a:off x="1123950" y="7009805"/>
            <a:ext cx="276671" cy="285750"/>
          </a:xfrm>
          <a:prstGeom prst="rect">
            <a:avLst/>
          </a:prstGeom>
          <a:noFill/>
          <a:ln/>
        </p:spPr>
        <p:txBody>
          <a:bodyPr wrap="square" lIns="25400" tIns="25400" rIns="25400" bIns="25400" rtlCol="0" anchor="t">
            <a:normAutofit fontScale="70000" lnSpcReduction="20000"/>
          </a:bodyPr>
          <a:lstStyle/>
          <a:p>
            <a:pPr marL="0" indent="0" algn="l">
              <a:lnSpc>
                <a:spcPct val="155000"/>
              </a:lnSpc>
              <a:buNone/>
            </a:pPr>
            <a:r>
              <a:rPr lang="en-US" sz="1650" b="1" dirty="0">
                <a:solidFill>
                  <a:srgbClr val="F5B400"/>
                </a:solidFill>
                <a:latin typeface="-apple-system" pitchFamily="34" charset="0"/>
                <a:ea typeface="-apple-system" pitchFamily="34" charset="-122"/>
                <a:cs typeface="-apple-system" pitchFamily="34" charset="-120"/>
              </a:rPr>
              <a:t>→</a:t>
            </a:r>
            <a:endParaRPr lang="en-US" sz="1650" dirty="0"/>
          </a:p>
        </p:txBody>
      </p:sp>
      <p:sp>
        <p:nvSpPr>
          <p:cNvPr id="14" name="Text 11"/>
          <p:cNvSpPr/>
          <p:nvPr/>
        </p:nvSpPr>
        <p:spPr>
          <a:xfrm>
            <a:off x="1514921" y="7009805"/>
            <a:ext cx="5206442" cy="285750"/>
          </a:xfrm>
          <a:prstGeom prst="rect">
            <a:avLst/>
          </a:prstGeom>
          <a:noFill/>
          <a:ln/>
        </p:spPr>
        <p:txBody>
          <a:bodyPr wrap="square" lIns="25400" tIns="25400" rIns="25400" bIns="25400" rtlCol="0" anchor="t">
            <a:normAutofit fontScale="70000" lnSpcReduction="20000"/>
          </a:bodyPr>
          <a:lstStyle/>
          <a:p>
            <a:pPr marL="0" indent="0" algn="l">
              <a:lnSpc>
                <a:spcPct val="155000"/>
              </a:lnSpc>
              <a:buNone/>
            </a:pPr>
            <a:r>
              <a:rPr lang="en-US" sz="1650" b="1" dirty="0">
                <a:solidFill>
                  <a:srgbClr val="3A3A3A"/>
                </a:solidFill>
                <a:latin typeface="-apple-system" pitchFamily="34" charset="0"/>
                <a:ea typeface="-apple-system" pitchFamily="34" charset="-122"/>
                <a:cs typeface="-apple-system" pitchFamily="34" charset="-120"/>
              </a:rPr>
              <a:t>No hay PowerPoint. No hay audiencia. Todos juegan.</a:t>
            </a:r>
            <a:endParaRPr lang="en-US" sz="1650" dirty="0"/>
          </a:p>
        </p:txBody>
      </p:sp>
      <p:sp>
        <p:nvSpPr>
          <p:cNvPr id="15" name="Shape 12"/>
          <p:cNvSpPr/>
          <p:nvPr/>
        </p:nvSpPr>
        <p:spPr>
          <a:xfrm>
            <a:off x="1047750" y="7601248"/>
            <a:ext cx="38100" cy="845641"/>
          </a:xfrm>
          <a:prstGeom prst="rect">
            <a:avLst/>
          </a:prstGeom>
          <a:solidFill>
            <a:srgbClr val="D72631"/>
          </a:solidFill>
          <a:ln/>
        </p:spPr>
        <p:txBody>
          <a:bodyPr/>
          <a:lstStyle/>
          <a:p>
            <a:endParaRPr lang="es-EC"/>
          </a:p>
        </p:txBody>
      </p:sp>
      <p:sp>
        <p:nvSpPr>
          <p:cNvPr id="16" name="Text 13"/>
          <p:cNvSpPr/>
          <p:nvPr/>
        </p:nvSpPr>
        <p:spPr>
          <a:xfrm>
            <a:off x="1428750" y="7677448"/>
            <a:ext cx="7467600" cy="73134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i="1" dirty="0">
                <a:solidFill>
                  <a:srgbClr val="3A3A3A"/>
                </a:solidFill>
                <a:latin typeface="Georgia" pitchFamily="34" charset="0"/>
                <a:ea typeface="Georgia" pitchFamily="34" charset="-122"/>
                <a:cs typeface="Georgia" pitchFamily="34" charset="-120"/>
              </a:rPr>
              <a:t>"Las decisiones tomadas jugando se ejecutan. Las decisiones tomadas en reunión se posponen."</a:t>
            </a:r>
            <a:endParaRPr lang="en-US" sz="1950" dirty="0"/>
          </a:p>
        </p:txBody>
      </p:sp>
      <p:sp>
        <p:nvSpPr>
          <p:cNvPr id="17" name="Shape 14"/>
          <p:cNvSpPr/>
          <p:nvPr/>
        </p:nvSpPr>
        <p:spPr>
          <a:xfrm>
            <a:off x="10157073" y="2453580"/>
            <a:ext cx="7083177" cy="5143500"/>
          </a:xfrm>
          <a:prstGeom prst="rect">
            <a:avLst/>
          </a:prstGeom>
          <a:solidFill>
            <a:srgbClr val="F5F4F1"/>
          </a:solidFill>
          <a:ln w="9525">
            <a:solidFill>
              <a:srgbClr val="C9C6BD"/>
            </a:solidFill>
            <a:prstDash val="solid"/>
          </a:ln>
        </p:spPr>
        <p:txBody>
          <a:bodyPr/>
          <a:lstStyle/>
          <a:p>
            <a:endParaRPr lang="es-EC"/>
          </a:p>
        </p:txBody>
      </p:sp>
      <p:sp>
        <p:nvSpPr>
          <p:cNvPr id="18" name="Text 15"/>
          <p:cNvSpPr/>
          <p:nvPr/>
        </p:nvSpPr>
        <p:spPr>
          <a:xfrm>
            <a:off x="10471398" y="2729805"/>
            <a:ext cx="6648163"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336" dirty="0">
                <a:solidFill>
                  <a:srgbClr val="6B6B6B"/>
                </a:solidFill>
                <a:latin typeface="-apple-system" pitchFamily="34" charset="0"/>
                <a:ea typeface="-apple-system" pitchFamily="34" charset="-122"/>
                <a:cs typeface="-apple-system" pitchFamily="34" charset="-120"/>
              </a:rPr>
              <a:t>IMAGEN · MANOS QUE CONSTRUYEN</a:t>
            </a:r>
            <a:endParaRPr lang="en-US" sz="1050" dirty="0"/>
          </a:p>
        </p:txBody>
      </p:sp>
      <p:sp>
        <p:nvSpPr>
          <p:cNvPr id="19" name="Text 16"/>
          <p:cNvSpPr/>
          <p:nvPr/>
        </p:nvSpPr>
        <p:spPr>
          <a:xfrm>
            <a:off x="10471398" y="6755309"/>
            <a:ext cx="5318500" cy="603647"/>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i="1" dirty="0">
                <a:solidFill>
                  <a:srgbClr val="3A3A3A"/>
                </a:solidFill>
                <a:latin typeface="Georgia" pitchFamily="34" charset="0"/>
                <a:ea typeface="Georgia" pitchFamily="34" charset="-122"/>
                <a:cs typeface="Georgia" pitchFamily="34" charset="-120"/>
              </a:rPr>
              <a:t>Plano cerrado. Manos construyendo con piezas. Luz cálida, estilo documental.</a:t>
            </a:r>
            <a:endParaRPr lang="en-US" sz="1650" dirty="0"/>
          </a:p>
        </p:txBody>
      </p:sp>
      <p:sp>
        <p:nvSpPr>
          <p:cNvPr id="20" name="Text 17"/>
          <p:cNvSpPr/>
          <p:nvPr/>
        </p:nvSpPr>
        <p:spPr>
          <a:xfrm>
            <a:off x="10157073" y="7768530"/>
            <a:ext cx="4512945" cy="424755"/>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050" kern="0" spc="42" dirty="0">
                <a:solidFill>
                  <a:srgbClr val="6B6B6B"/>
                </a:solidFill>
                <a:latin typeface="-apple-system" pitchFamily="34" charset="0"/>
                <a:ea typeface="-apple-system" pitchFamily="34" charset="-122"/>
                <a:cs typeface="-apple-system" pitchFamily="34" charset="-120"/>
              </a:rPr>
              <a:t>LEGO® Serious Play® es marca registrada de The LEGO Group. Aplicamos sus principios junto con metodologías propias.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9724876"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3687425" y="666750"/>
            <a:ext cx="365941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CAPA 03 · IDEAS ACCIONABLES</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49377" y="9547920"/>
            <a:ext cx="867073"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06 / 32</a:t>
            </a:r>
            <a:endParaRPr lang="en-US" sz="1200" dirty="0"/>
          </a:p>
        </p:txBody>
      </p:sp>
      <p:sp>
        <p:nvSpPr>
          <p:cNvPr id="7" name="Text 4"/>
          <p:cNvSpPr/>
          <p:nvPr/>
        </p:nvSpPr>
        <p:spPr>
          <a:xfrm>
            <a:off x="1047750" y="1905000"/>
            <a:ext cx="16678275"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480" dirty="0">
                <a:solidFill>
                  <a:srgbClr val="D72631"/>
                </a:solidFill>
                <a:latin typeface="-apple-system" pitchFamily="34" charset="0"/>
                <a:ea typeface="-apple-system" pitchFamily="34" charset="-122"/>
                <a:cs typeface="-apple-system" pitchFamily="34" charset="-120"/>
              </a:rPr>
              <a:t>CAPA 03 · IDEAS ACCIONABLES</a:t>
            </a:r>
            <a:endParaRPr lang="en-US" sz="1200" dirty="0"/>
          </a:p>
        </p:txBody>
      </p:sp>
      <p:sp>
        <p:nvSpPr>
          <p:cNvPr id="8" name="Text 5"/>
          <p:cNvSpPr/>
          <p:nvPr/>
        </p:nvSpPr>
        <p:spPr>
          <a:xfrm>
            <a:off x="1047750" y="2453580"/>
            <a:ext cx="16678275" cy="1775222"/>
          </a:xfrm>
          <a:prstGeom prst="rect">
            <a:avLst/>
          </a:prstGeom>
          <a:noFill/>
          <a:ln/>
        </p:spPr>
        <p:txBody>
          <a:bodyPr wrap="square" lIns="25400" tIns="25400" rIns="25400" bIns="25400" rtlCol="0" anchor="t">
            <a:normAutofit/>
          </a:bodyPr>
          <a:lstStyle/>
          <a:p>
            <a:pPr marL="0" indent="0" algn="l">
              <a:lnSpc>
                <a:spcPct val="95000"/>
              </a:lnSpc>
              <a:buNone/>
            </a:pPr>
            <a:r>
              <a:rPr lang="en-US" sz="7200" b="1" kern="0" spc="-216" dirty="0">
                <a:solidFill>
                  <a:srgbClr val="1A1A1A"/>
                </a:solidFill>
                <a:latin typeface="-apple-system" pitchFamily="34" charset="0"/>
                <a:ea typeface="-apple-system" pitchFamily="34" charset="-122"/>
                <a:cs typeface="-apple-system" pitchFamily="34" charset="-120"/>
              </a:rPr>
              <a:t>NO ENTREGAMOS COMUNICADOS.</a:t>
            </a:r>
            <a:endParaRPr lang="en-US" sz="7200" dirty="0"/>
          </a:p>
        </p:txBody>
      </p:sp>
      <p:sp>
        <p:nvSpPr>
          <p:cNvPr id="9" name="Text 6"/>
          <p:cNvSpPr/>
          <p:nvPr/>
        </p:nvSpPr>
        <p:spPr>
          <a:xfrm>
            <a:off x="1047750" y="4362152"/>
            <a:ext cx="16678275" cy="55810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kern="0" spc="-58" dirty="0">
                <a:solidFill>
                  <a:srgbClr val="D72631"/>
                </a:solidFill>
                <a:latin typeface="-apple-system" pitchFamily="34" charset="0"/>
                <a:ea typeface="-apple-system" pitchFamily="34" charset="-122"/>
                <a:cs typeface="-apple-system" pitchFamily="34" charset="-120"/>
              </a:rPr>
              <a:t>Entregamos cosas que pasan en la calle.</a:t>
            </a:r>
            <a:endParaRPr lang="en-US" sz="3900" dirty="0"/>
          </a:p>
        </p:txBody>
      </p:sp>
      <p:sp>
        <p:nvSpPr>
          <p:cNvPr id="10" name="Shape 7"/>
          <p:cNvSpPr/>
          <p:nvPr/>
        </p:nvSpPr>
        <p:spPr>
          <a:xfrm>
            <a:off x="1047750" y="5415558"/>
            <a:ext cx="16192500" cy="19050"/>
          </a:xfrm>
          <a:prstGeom prst="rect">
            <a:avLst/>
          </a:prstGeom>
          <a:solidFill>
            <a:srgbClr val="1A1A1A"/>
          </a:solidFill>
          <a:ln/>
        </p:spPr>
        <p:txBody>
          <a:bodyPr/>
          <a:lstStyle/>
          <a:p>
            <a:endParaRPr lang="es-EC"/>
          </a:p>
        </p:txBody>
      </p:sp>
      <p:sp>
        <p:nvSpPr>
          <p:cNvPr id="11" name="Shape 8"/>
          <p:cNvSpPr/>
          <p:nvPr/>
        </p:nvSpPr>
        <p:spPr>
          <a:xfrm>
            <a:off x="1047750" y="5906988"/>
            <a:ext cx="16192500" cy="9525"/>
          </a:xfrm>
          <a:prstGeom prst="rect">
            <a:avLst/>
          </a:prstGeom>
          <a:solidFill>
            <a:srgbClr val="1A1A1A"/>
          </a:solidFill>
          <a:ln/>
        </p:spPr>
        <p:txBody>
          <a:bodyPr/>
          <a:lstStyle/>
          <a:p>
            <a:endParaRPr lang="es-EC"/>
          </a:p>
        </p:txBody>
      </p:sp>
      <p:sp>
        <p:nvSpPr>
          <p:cNvPr id="12" name="Text 9"/>
          <p:cNvSpPr/>
          <p:nvPr/>
        </p:nvSpPr>
        <p:spPr>
          <a:xfrm>
            <a:off x="1047750" y="5567958"/>
            <a:ext cx="8064437" cy="24378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200" b="1" kern="0" spc="360" dirty="0">
                <a:solidFill>
                  <a:srgbClr val="6B6B6B"/>
                </a:solidFill>
                <a:latin typeface="-apple-system" pitchFamily="34" charset="0"/>
                <a:ea typeface="-apple-system" pitchFamily="34" charset="-122"/>
                <a:cs typeface="-apple-system" pitchFamily="34" charset="-120"/>
              </a:rPr>
              <a:t>✕ LO QUE HACEN OTROS</a:t>
            </a:r>
            <a:endParaRPr lang="en-US" sz="1200" dirty="0"/>
          </a:p>
        </p:txBody>
      </p:sp>
      <p:sp>
        <p:nvSpPr>
          <p:cNvPr id="13" name="Text 10"/>
          <p:cNvSpPr/>
          <p:nvPr/>
        </p:nvSpPr>
        <p:spPr>
          <a:xfrm>
            <a:off x="9410700" y="5567958"/>
            <a:ext cx="8064437"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360" dirty="0">
                <a:solidFill>
                  <a:srgbClr val="D72631"/>
                </a:solidFill>
                <a:latin typeface="-apple-system" pitchFamily="34" charset="0"/>
                <a:ea typeface="-apple-system" pitchFamily="34" charset="-122"/>
                <a:cs typeface="-apple-system" pitchFamily="34" charset="-120"/>
              </a:rPr>
              <a:t>● LO QUE HACE THE ROOM</a:t>
            </a:r>
            <a:endParaRPr lang="en-US" sz="1200" dirty="0"/>
          </a:p>
        </p:txBody>
      </p:sp>
      <p:sp>
        <p:nvSpPr>
          <p:cNvPr id="14" name="Shape 11"/>
          <p:cNvSpPr/>
          <p:nvPr/>
        </p:nvSpPr>
        <p:spPr>
          <a:xfrm>
            <a:off x="1047750" y="6721376"/>
            <a:ext cx="16192500" cy="9525"/>
          </a:xfrm>
          <a:prstGeom prst="rect">
            <a:avLst/>
          </a:prstGeom>
          <a:solidFill>
            <a:srgbClr val="C9C6BD"/>
          </a:solidFill>
          <a:ln/>
        </p:spPr>
        <p:txBody>
          <a:bodyPr/>
          <a:lstStyle/>
          <a:p>
            <a:endParaRPr lang="es-EC"/>
          </a:p>
        </p:txBody>
      </p:sp>
      <p:sp>
        <p:nvSpPr>
          <p:cNvPr id="15" name="Text 12"/>
          <p:cNvSpPr/>
          <p:nvPr/>
        </p:nvSpPr>
        <p:spPr>
          <a:xfrm>
            <a:off x="1047750" y="6164163"/>
            <a:ext cx="8064437"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strike="sngStrike" dirty="0">
                <a:solidFill>
                  <a:srgbClr val="6B6B6B"/>
                </a:solidFill>
                <a:latin typeface="-apple-system" pitchFamily="34" charset="0"/>
                <a:ea typeface="-apple-system" pitchFamily="34" charset="-122"/>
                <a:cs typeface="-apple-system" pitchFamily="34" charset="-120"/>
              </a:rPr>
              <a:t>Recomendación de campaña</a:t>
            </a:r>
            <a:endParaRPr lang="en-US" sz="1950" dirty="0"/>
          </a:p>
        </p:txBody>
      </p:sp>
      <p:sp>
        <p:nvSpPr>
          <p:cNvPr id="16" name="Text 13"/>
          <p:cNvSpPr/>
          <p:nvPr/>
        </p:nvSpPr>
        <p:spPr>
          <a:xfrm>
            <a:off x="9410700" y="6126063"/>
            <a:ext cx="8064437"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b="1" kern="0" spc="-11" dirty="0">
                <a:solidFill>
                  <a:srgbClr val="1A1A1A"/>
                </a:solidFill>
                <a:latin typeface="-apple-system" pitchFamily="34" charset="0"/>
                <a:ea typeface="-apple-system" pitchFamily="34" charset="-122"/>
                <a:cs typeface="-apple-system" pitchFamily="34" charset="-120"/>
              </a:rPr>
              <a:t>Fan Fest Presidencial en 8 ciudades</a:t>
            </a:r>
            <a:endParaRPr lang="en-US" sz="2250" dirty="0"/>
          </a:p>
        </p:txBody>
      </p:sp>
      <p:sp>
        <p:nvSpPr>
          <p:cNvPr id="17" name="Shape 14"/>
          <p:cNvSpPr/>
          <p:nvPr/>
        </p:nvSpPr>
        <p:spPr>
          <a:xfrm>
            <a:off x="1047750" y="7535763"/>
            <a:ext cx="16192500" cy="9525"/>
          </a:xfrm>
          <a:prstGeom prst="rect">
            <a:avLst/>
          </a:prstGeom>
          <a:solidFill>
            <a:srgbClr val="C9C6BD"/>
          </a:solidFill>
          <a:ln/>
        </p:spPr>
        <p:txBody>
          <a:bodyPr/>
          <a:lstStyle/>
          <a:p>
            <a:endParaRPr lang="es-EC"/>
          </a:p>
        </p:txBody>
      </p:sp>
      <p:sp>
        <p:nvSpPr>
          <p:cNvPr id="18" name="Text 15"/>
          <p:cNvSpPr/>
          <p:nvPr/>
        </p:nvSpPr>
        <p:spPr>
          <a:xfrm>
            <a:off x="1047750" y="6978551"/>
            <a:ext cx="8064437"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strike="sngStrike" dirty="0">
                <a:solidFill>
                  <a:srgbClr val="6B6B6B"/>
                </a:solidFill>
                <a:latin typeface="-apple-system" pitchFamily="34" charset="0"/>
                <a:ea typeface="-apple-system" pitchFamily="34" charset="-122"/>
                <a:cs typeface="-apple-system" pitchFamily="34" charset="-120"/>
              </a:rPr>
              <a:t>Plan de comunicación</a:t>
            </a:r>
            <a:endParaRPr lang="en-US" sz="1950" dirty="0"/>
          </a:p>
        </p:txBody>
      </p:sp>
      <p:sp>
        <p:nvSpPr>
          <p:cNvPr id="19" name="Text 16"/>
          <p:cNvSpPr/>
          <p:nvPr/>
        </p:nvSpPr>
        <p:spPr>
          <a:xfrm>
            <a:off x="9410700" y="6940451"/>
            <a:ext cx="8064437"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b="1" kern="0" spc="-11" dirty="0">
                <a:solidFill>
                  <a:srgbClr val="1A1A1A"/>
                </a:solidFill>
                <a:latin typeface="-apple-system" pitchFamily="34" charset="0"/>
                <a:ea typeface="-apple-system" pitchFamily="34" charset="-122"/>
                <a:cs typeface="-apple-system" pitchFamily="34" charset="-120"/>
              </a:rPr>
              <a:t>100 emprendedores filmados en 100 días</a:t>
            </a:r>
            <a:endParaRPr lang="en-US" sz="2250" dirty="0"/>
          </a:p>
        </p:txBody>
      </p:sp>
      <p:sp>
        <p:nvSpPr>
          <p:cNvPr id="20" name="Shape 17"/>
          <p:cNvSpPr/>
          <p:nvPr/>
        </p:nvSpPr>
        <p:spPr>
          <a:xfrm>
            <a:off x="1047750" y="8350151"/>
            <a:ext cx="16192500" cy="9525"/>
          </a:xfrm>
          <a:prstGeom prst="rect">
            <a:avLst/>
          </a:prstGeom>
          <a:solidFill>
            <a:srgbClr val="C9C6BD"/>
          </a:solidFill>
          <a:ln/>
        </p:spPr>
        <p:txBody>
          <a:bodyPr/>
          <a:lstStyle/>
          <a:p>
            <a:endParaRPr lang="es-EC"/>
          </a:p>
        </p:txBody>
      </p:sp>
      <p:sp>
        <p:nvSpPr>
          <p:cNvPr id="21" name="Text 18"/>
          <p:cNvSpPr/>
          <p:nvPr/>
        </p:nvSpPr>
        <p:spPr>
          <a:xfrm>
            <a:off x="1047750" y="7792938"/>
            <a:ext cx="8064437"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strike="sngStrike" dirty="0">
                <a:solidFill>
                  <a:srgbClr val="6B6B6B"/>
                </a:solidFill>
                <a:latin typeface="-apple-system" pitchFamily="34" charset="0"/>
                <a:ea typeface="-apple-system" pitchFamily="34" charset="-122"/>
                <a:cs typeface="-apple-system" pitchFamily="34" charset="-120"/>
              </a:rPr>
              <a:t>Slide con bullet points</a:t>
            </a:r>
            <a:endParaRPr lang="en-US" sz="1950" dirty="0"/>
          </a:p>
        </p:txBody>
      </p:sp>
      <p:sp>
        <p:nvSpPr>
          <p:cNvPr id="22" name="Text 19"/>
          <p:cNvSpPr/>
          <p:nvPr/>
        </p:nvSpPr>
        <p:spPr>
          <a:xfrm>
            <a:off x="9410700" y="7754838"/>
            <a:ext cx="8064437"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b="1" kern="0" spc="-11" dirty="0">
                <a:solidFill>
                  <a:srgbClr val="1A1A1A"/>
                </a:solidFill>
                <a:latin typeface="-apple-system" pitchFamily="34" charset="0"/>
                <a:ea typeface="-apple-system" pitchFamily="34" charset="-122"/>
                <a:cs typeface="-apple-system" pitchFamily="34" charset="-120"/>
              </a:rPr>
              <a:t>Documental ciudadano antes de la visita oficial</a:t>
            </a:r>
            <a:endParaRPr lang="en-US" sz="2250" dirty="0"/>
          </a:p>
        </p:txBody>
      </p:sp>
      <p:sp>
        <p:nvSpPr>
          <p:cNvPr id="23" name="Shape 20"/>
          <p:cNvSpPr/>
          <p:nvPr/>
        </p:nvSpPr>
        <p:spPr>
          <a:xfrm>
            <a:off x="1047750" y="8740676"/>
            <a:ext cx="38100" cy="525661"/>
          </a:xfrm>
          <a:prstGeom prst="rect">
            <a:avLst/>
          </a:prstGeom>
          <a:solidFill>
            <a:srgbClr val="D72631"/>
          </a:solidFill>
          <a:ln/>
        </p:spPr>
        <p:txBody>
          <a:bodyPr/>
          <a:lstStyle/>
          <a:p>
            <a:endParaRPr lang="es-EC"/>
          </a:p>
        </p:txBody>
      </p:sp>
      <p:sp>
        <p:nvSpPr>
          <p:cNvPr id="24" name="Text 21"/>
          <p:cNvSpPr/>
          <p:nvPr/>
        </p:nvSpPr>
        <p:spPr>
          <a:xfrm>
            <a:off x="1428750" y="8816876"/>
            <a:ext cx="12372975"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i="1" dirty="0">
                <a:solidFill>
                  <a:srgbClr val="3A3A3A"/>
                </a:solidFill>
                <a:latin typeface="Georgia" pitchFamily="34" charset="0"/>
                <a:ea typeface="Georgia" pitchFamily="34" charset="-122"/>
                <a:cs typeface="Georgia" pitchFamily="34" charset="-120"/>
              </a:rPr>
              <a:t>"Si no se puede ejecutar el lunes, no es una idea. Es un wishlist."</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A1A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11848505"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FFFFFF">
                    <a:alpha val="55000"/>
                  </a:srgbClr>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5811054" y="666750"/>
            <a:ext cx="1505396"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FFFFFF">
                    <a:alpha val="55000"/>
                  </a:srgbClr>
                </a:solidFill>
                <a:latin typeface="-apple-system" pitchFamily="34" charset="0"/>
                <a:ea typeface="-apple-system" pitchFamily="34" charset="-122"/>
                <a:cs typeface="-apple-system" pitchFamily="34" charset="-120"/>
              </a:rPr>
              <a:t>LA FÓRMULA</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FFFFFF">
                    <a:alpha val="50000"/>
                  </a:srgbClr>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62623" y="9547920"/>
            <a:ext cx="853827"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FFFFFF">
                    <a:alpha val="50000"/>
                  </a:srgbClr>
                </a:solidFill>
                <a:latin typeface="-apple-system" pitchFamily="34" charset="0"/>
                <a:ea typeface="-apple-system" pitchFamily="34" charset="-122"/>
                <a:cs typeface="-apple-system" pitchFamily="34" charset="-120"/>
              </a:rPr>
              <a:t>07 / 32</a:t>
            </a:r>
            <a:endParaRPr lang="en-US" sz="1200" dirty="0"/>
          </a:p>
        </p:txBody>
      </p:sp>
      <p:sp>
        <p:nvSpPr>
          <p:cNvPr id="7" name="Text 4"/>
          <p:cNvSpPr/>
          <p:nvPr/>
        </p:nvSpPr>
        <p:spPr>
          <a:xfrm>
            <a:off x="1047750" y="1714500"/>
            <a:ext cx="16678275"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480" dirty="0">
                <a:solidFill>
                  <a:srgbClr val="FFFFFF">
                    <a:alpha val="60000"/>
                  </a:srgbClr>
                </a:solidFill>
                <a:latin typeface="-apple-system" pitchFamily="34" charset="0"/>
                <a:ea typeface="-apple-system" pitchFamily="34" charset="-122"/>
                <a:cs typeface="-apple-system" pitchFamily="34" charset="-120"/>
              </a:rPr>
              <a:t>LA FÓRMULA QUE SOLO NOSOTROS TENEMOS</a:t>
            </a:r>
            <a:endParaRPr lang="en-US" sz="1200" dirty="0"/>
          </a:p>
        </p:txBody>
      </p:sp>
      <p:sp>
        <p:nvSpPr>
          <p:cNvPr id="8" name="Text 5"/>
          <p:cNvSpPr/>
          <p:nvPr/>
        </p:nvSpPr>
        <p:spPr>
          <a:xfrm>
            <a:off x="1047750" y="2263080"/>
            <a:ext cx="8407353" cy="952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200" b="1" kern="0" spc="-216" dirty="0">
                <a:solidFill>
                  <a:srgbClr val="0B3D7E"/>
                </a:solidFill>
                <a:latin typeface="-apple-system" pitchFamily="34" charset="0"/>
                <a:ea typeface="-apple-system" pitchFamily="34" charset="-122"/>
                <a:cs typeface="-apple-system" pitchFamily="34" charset="-120"/>
              </a:rPr>
              <a:t>TECH</a:t>
            </a:r>
            <a:endParaRPr lang="en-US" sz="7200" dirty="0"/>
          </a:p>
        </p:txBody>
      </p:sp>
      <p:sp>
        <p:nvSpPr>
          <p:cNvPr id="9" name="Text 6"/>
          <p:cNvSpPr/>
          <p:nvPr/>
        </p:nvSpPr>
        <p:spPr>
          <a:xfrm>
            <a:off x="1047750" y="3253680"/>
            <a:ext cx="8407353"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kern="0" spc="-216" dirty="0">
                <a:solidFill>
                  <a:srgbClr val="FFFFFF">
                    <a:alpha val="50000"/>
                  </a:srgbClr>
                </a:solidFill>
                <a:latin typeface="-apple-system" pitchFamily="34" charset="0"/>
                <a:ea typeface="-apple-system" pitchFamily="34" charset="-122"/>
                <a:cs typeface="-apple-system" pitchFamily="34" charset="-120"/>
              </a:rPr>
              <a:t>+</a:t>
            </a:r>
            <a:endParaRPr lang="en-US" sz="4200" dirty="0"/>
          </a:p>
        </p:txBody>
      </p:sp>
      <p:sp>
        <p:nvSpPr>
          <p:cNvPr id="10" name="Text 7"/>
          <p:cNvSpPr/>
          <p:nvPr/>
        </p:nvSpPr>
        <p:spPr>
          <a:xfrm>
            <a:off x="1047750" y="3863280"/>
            <a:ext cx="8407353" cy="952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200" b="1" kern="0" spc="-216" dirty="0">
                <a:solidFill>
                  <a:srgbClr val="F5B400"/>
                </a:solidFill>
                <a:latin typeface="-apple-system" pitchFamily="34" charset="0"/>
                <a:ea typeface="-apple-system" pitchFamily="34" charset="-122"/>
                <a:cs typeface="-apple-system" pitchFamily="34" charset="-120"/>
              </a:rPr>
              <a:t>PLAY</a:t>
            </a:r>
            <a:endParaRPr lang="en-US" sz="7200" dirty="0"/>
          </a:p>
        </p:txBody>
      </p:sp>
      <p:sp>
        <p:nvSpPr>
          <p:cNvPr id="11" name="Text 8"/>
          <p:cNvSpPr/>
          <p:nvPr/>
        </p:nvSpPr>
        <p:spPr>
          <a:xfrm>
            <a:off x="1047750" y="4853880"/>
            <a:ext cx="8407353"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kern="0" spc="-216" dirty="0">
                <a:solidFill>
                  <a:srgbClr val="FFFFFF">
                    <a:alpha val="50000"/>
                  </a:srgbClr>
                </a:solidFill>
                <a:latin typeface="-apple-system" pitchFamily="34" charset="0"/>
                <a:ea typeface="-apple-system" pitchFamily="34" charset="-122"/>
                <a:cs typeface="-apple-system" pitchFamily="34" charset="-120"/>
              </a:rPr>
              <a:t>+</a:t>
            </a:r>
            <a:endParaRPr lang="en-US" sz="4200" dirty="0"/>
          </a:p>
        </p:txBody>
      </p:sp>
      <p:sp>
        <p:nvSpPr>
          <p:cNvPr id="12" name="Text 9"/>
          <p:cNvSpPr/>
          <p:nvPr/>
        </p:nvSpPr>
        <p:spPr>
          <a:xfrm>
            <a:off x="1047750" y="5463480"/>
            <a:ext cx="8407353" cy="952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200" b="1" kern="0" spc="-216" dirty="0">
                <a:solidFill>
                  <a:srgbClr val="D72631"/>
                </a:solidFill>
                <a:latin typeface="-apple-system" pitchFamily="34" charset="0"/>
                <a:ea typeface="-apple-system" pitchFamily="34" charset="-122"/>
                <a:cs typeface="-apple-system" pitchFamily="34" charset="-120"/>
              </a:rPr>
              <a:t>IDEAS</a:t>
            </a:r>
            <a:endParaRPr lang="en-US" sz="7200" dirty="0"/>
          </a:p>
        </p:txBody>
      </p:sp>
      <p:sp>
        <p:nvSpPr>
          <p:cNvPr id="13" name="Shape 10"/>
          <p:cNvSpPr/>
          <p:nvPr/>
        </p:nvSpPr>
        <p:spPr>
          <a:xfrm>
            <a:off x="1047750" y="6682680"/>
            <a:ext cx="8162479" cy="19050"/>
          </a:xfrm>
          <a:prstGeom prst="rect">
            <a:avLst/>
          </a:prstGeom>
          <a:solidFill>
            <a:srgbClr val="FFFFFF">
              <a:alpha val="30000"/>
            </a:srgbClr>
          </a:solidFill>
          <a:ln/>
        </p:spPr>
        <p:txBody>
          <a:bodyPr/>
          <a:lstStyle/>
          <a:p>
            <a:endParaRPr lang="es-EC"/>
          </a:p>
        </p:txBody>
      </p:sp>
      <p:sp>
        <p:nvSpPr>
          <p:cNvPr id="14" name="Text 11"/>
          <p:cNvSpPr/>
          <p:nvPr/>
        </p:nvSpPr>
        <p:spPr>
          <a:xfrm>
            <a:off x="1047750" y="6930330"/>
            <a:ext cx="8407353" cy="6477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800" b="1" kern="0" spc="-120" dirty="0">
                <a:solidFill>
                  <a:srgbClr val="FFFFFF"/>
                </a:solidFill>
                <a:latin typeface="-apple-system" pitchFamily="34" charset="0"/>
                <a:ea typeface="-apple-system" pitchFamily="34" charset="-122"/>
                <a:cs typeface="-apple-system" pitchFamily="34" charset="-120"/>
              </a:rPr>
              <a:t>= THE ROOM</a:t>
            </a:r>
            <a:endParaRPr lang="en-US" sz="4800" dirty="0"/>
          </a:p>
        </p:txBody>
      </p:sp>
      <p:pic>
        <p:nvPicPr>
          <p:cNvPr id="15" name="Image 1" descr="preencoded.png"/>
          <p:cNvPicPr>
            <a:picLocks noChangeAspect="1"/>
          </p:cNvPicPr>
          <p:nvPr/>
        </p:nvPicPr>
        <p:blipFill>
          <a:blip r:embed="rId4"/>
          <a:stretch>
            <a:fillRect/>
          </a:stretch>
        </p:blipFill>
        <p:spPr>
          <a:xfrm>
            <a:off x="10862965" y="2590056"/>
            <a:ext cx="5334000" cy="4622750"/>
          </a:xfrm>
          <a:prstGeom prst="rect">
            <a:avLst/>
          </a:prstGeom>
        </p:spPr>
      </p:pic>
      <p:sp>
        <p:nvSpPr>
          <p:cNvPr id="16" name="Text 12"/>
          <p:cNvSpPr/>
          <p:nvPr/>
        </p:nvSpPr>
        <p:spPr>
          <a:xfrm>
            <a:off x="1047750" y="8073330"/>
            <a:ext cx="16678275"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kern="0" spc="-105" dirty="0">
                <a:solidFill>
                  <a:srgbClr val="FFFFFF"/>
                </a:solidFill>
                <a:latin typeface="-apple-system" pitchFamily="34" charset="0"/>
                <a:ea typeface="-apple-system" pitchFamily="34" charset="-122"/>
                <a:cs typeface="-apple-system" pitchFamily="34" charset="-120"/>
              </a:rPr>
              <a:t>Las tres juntas, en una sola sala, </a:t>
            </a:r>
            <a:r>
              <a:rPr lang="en-US" sz="4200" b="1" kern="0" spc="-105" dirty="0">
                <a:solidFill>
                  <a:srgbClr val="D72631"/>
                </a:solidFill>
                <a:latin typeface="-apple-system" pitchFamily="34" charset="0"/>
                <a:ea typeface="-apple-system" pitchFamily="34" charset="-122"/>
                <a:cs typeface="-apple-system" pitchFamily="34" charset="-120"/>
              </a:rPr>
              <a:t>solo aquí.</a:t>
            </a:r>
            <a:endParaRPr lang="en-US" sz="4200" dirty="0"/>
          </a:p>
        </p:txBody>
      </p:sp>
      <p:sp>
        <p:nvSpPr>
          <p:cNvPr id="17" name="Text 13"/>
          <p:cNvSpPr/>
          <p:nvPr/>
        </p:nvSpPr>
        <p:spPr>
          <a:xfrm>
            <a:off x="1047750" y="8778180"/>
            <a:ext cx="12753975" cy="603647"/>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i="1" dirty="0">
                <a:solidFill>
                  <a:srgbClr val="FFFFFF">
                    <a:alpha val="60000"/>
                  </a:srgbClr>
                </a:solidFill>
                <a:latin typeface="Georgia" pitchFamily="34" charset="0"/>
                <a:ea typeface="Georgia" pitchFamily="34" charset="-122"/>
                <a:cs typeface="Georgia" pitchFamily="34" charset="-120"/>
              </a:rPr>
              <a:t>→ Hay agencias con tecnología. Pero no juegan. → Hay consultoras con metodología. Pero no entregan ideas reales. → Hay creativos con ideas. Pero no escuchan datos.</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A1A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12506623"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FFFFFF">
                    <a:alpha val="55000"/>
                  </a:srgbClr>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6469171" y="666750"/>
            <a:ext cx="847279"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FFFFFF">
                    <a:alpha val="55000"/>
                  </a:srgbClr>
                </a:solidFill>
                <a:latin typeface="-apple-system" pitchFamily="34" charset="0"/>
                <a:ea typeface="-apple-system" pitchFamily="34" charset="-122"/>
                <a:cs typeface="-apple-system" pitchFamily="34" charset="-120"/>
              </a:rPr>
              <a:t>ACTO I</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FFFFFF">
                    <a:alpha val="50000"/>
                  </a:srgbClr>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49080" y="9547920"/>
            <a:ext cx="86737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FFFFFF">
                    <a:alpha val="50000"/>
                  </a:srgbClr>
                </a:solidFill>
                <a:latin typeface="-apple-system" pitchFamily="34" charset="0"/>
                <a:ea typeface="-apple-system" pitchFamily="34" charset="-122"/>
                <a:cs typeface="-apple-system" pitchFamily="34" charset="-120"/>
              </a:rPr>
              <a:t>08 / 32</a:t>
            </a:r>
            <a:endParaRPr lang="en-US" sz="1200" dirty="0"/>
          </a:p>
        </p:txBody>
      </p:sp>
      <p:sp>
        <p:nvSpPr>
          <p:cNvPr id="7" name="Text 4"/>
          <p:cNvSpPr/>
          <p:nvPr/>
        </p:nvSpPr>
        <p:spPr>
          <a:xfrm>
            <a:off x="1047750" y="2989957"/>
            <a:ext cx="11782864" cy="32087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b="1" kern="0" spc="528" dirty="0">
                <a:solidFill>
                  <a:srgbClr val="D72631"/>
                </a:solidFill>
                <a:latin typeface="-apple-system" pitchFamily="34" charset="0"/>
                <a:ea typeface="-apple-system" pitchFamily="34" charset="-122"/>
                <a:cs typeface="-apple-system" pitchFamily="34" charset="-120"/>
              </a:rPr>
              <a:t>ACTO I · PRIMERA PARTE</a:t>
            </a:r>
            <a:endParaRPr lang="en-US" sz="1650" dirty="0"/>
          </a:p>
        </p:txBody>
      </p:sp>
      <p:sp>
        <p:nvSpPr>
          <p:cNvPr id="8" name="Text 5"/>
          <p:cNvSpPr/>
          <p:nvPr/>
        </p:nvSpPr>
        <p:spPr>
          <a:xfrm>
            <a:off x="1047750" y="3844230"/>
            <a:ext cx="11782864" cy="2571750"/>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10500" b="1" kern="0" spc="-315" dirty="0">
                <a:solidFill>
                  <a:srgbClr val="FFFFFF"/>
                </a:solidFill>
                <a:latin typeface="-apple-system" pitchFamily="34" charset="0"/>
                <a:ea typeface="-apple-system" pitchFamily="34" charset="-122"/>
                <a:cs typeface="-apple-system" pitchFamily="34" charset="-120"/>
              </a:rPr>
              <a:t>Por qué </a:t>
            </a:r>
            <a:r>
              <a:rPr lang="en-US" sz="10500" b="1" kern="0" spc="-315" dirty="0">
                <a:solidFill>
                  <a:srgbClr val="D72631"/>
                </a:solidFill>
                <a:latin typeface="-apple-system" pitchFamily="34" charset="0"/>
                <a:ea typeface="-apple-system" pitchFamily="34" charset="-122"/>
                <a:cs typeface="-apple-system" pitchFamily="34" charset="-120"/>
              </a:rPr>
              <a:t>THE ROOM </a:t>
            </a:r>
            <a:r>
              <a:rPr lang="en-US" sz="10500" b="1" kern="0" spc="-315" dirty="0">
                <a:solidFill>
                  <a:srgbClr val="FFFFFF"/>
                </a:solidFill>
                <a:latin typeface="-apple-system" pitchFamily="34" charset="0"/>
                <a:ea typeface="-apple-system" pitchFamily="34" charset="-122"/>
                <a:cs typeface="-apple-system" pitchFamily="34" charset="-120"/>
              </a:rPr>
              <a:t>es diferente.</a:t>
            </a:r>
            <a:endParaRPr lang="en-US" sz="10500" dirty="0"/>
          </a:p>
        </p:txBody>
      </p:sp>
      <p:sp>
        <p:nvSpPr>
          <p:cNvPr id="9" name="Text 6"/>
          <p:cNvSpPr/>
          <p:nvPr/>
        </p:nvSpPr>
        <p:spPr>
          <a:xfrm>
            <a:off x="1047750" y="6911280"/>
            <a:ext cx="961453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i="1" dirty="0">
                <a:solidFill>
                  <a:srgbClr val="FFFFFF">
                    <a:alpha val="65000"/>
                  </a:srgbClr>
                </a:solidFill>
                <a:latin typeface="Georgia" pitchFamily="34" charset="0"/>
                <a:ea typeface="Georgia" pitchFamily="34" charset="-122"/>
                <a:cs typeface="Georgia" pitchFamily="34" charset="-120"/>
              </a:rPr>
              <a:t>Tres especialidades. Una sola sala. Un método con reloj.</a:t>
            </a:r>
            <a:endParaRPr lang="en-US" sz="2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9907637"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3870186" y="666750"/>
            <a:ext cx="3471166"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01 · LA PREGUNTA INCÓMODA</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49377" y="9547920"/>
            <a:ext cx="867073"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09 / 32</a:t>
            </a:r>
            <a:endParaRPr lang="en-US" sz="1200" dirty="0"/>
          </a:p>
        </p:txBody>
      </p:sp>
      <p:sp>
        <p:nvSpPr>
          <p:cNvPr id="7" name="Text 4"/>
          <p:cNvSpPr/>
          <p:nvPr/>
        </p:nvSpPr>
        <p:spPr>
          <a:xfrm>
            <a:off x="1047750" y="1905000"/>
            <a:ext cx="16678275"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480" dirty="0">
                <a:solidFill>
                  <a:srgbClr val="D72631"/>
                </a:solidFill>
                <a:latin typeface="-apple-system" pitchFamily="34" charset="0"/>
                <a:ea typeface="-apple-system" pitchFamily="34" charset="-122"/>
                <a:cs typeface="-apple-system" pitchFamily="34" charset="-120"/>
              </a:rPr>
              <a:t>ACTO I · LA PREGUNTA INCÓMODA</a:t>
            </a:r>
            <a:endParaRPr lang="en-US" sz="1200" dirty="0"/>
          </a:p>
        </p:txBody>
      </p:sp>
      <p:sp>
        <p:nvSpPr>
          <p:cNvPr id="8" name="Text 5"/>
          <p:cNvSpPr/>
          <p:nvPr/>
        </p:nvSpPr>
        <p:spPr>
          <a:xfrm>
            <a:off x="1047750" y="2577405"/>
            <a:ext cx="13866269" cy="1381125"/>
          </a:xfrm>
          <a:prstGeom prst="rect">
            <a:avLst/>
          </a:prstGeom>
          <a:noFill/>
          <a:ln/>
        </p:spPr>
        <p:txBody>
          <a:bodyPr wrap="square" lIns="0" tIns="0" rIns="0" bIns="0" rtlCol="0" anchor="t">
            <a:normAutofit/>
          </a:bodyPr>
          <a:lstStyle/>
          <a:p>
            <a:pPr marL="0" indent="0" algn="l">
              <a:lnSpc>
                <a:spcPct val="100000"/>
              </a:lnSpc>
              <a:buNone/>
            </a:pPr>
            <a:r>
              <a:rPr lang="en-US" sz="9000" b="1" kern="0" spc="-225" dirty="0">
                <a:solidFill>
                  <a:srgbClr val="1A1A1A"/>
                </a:solidFill>
                <a:latin typeface="-apple-system" pitchFamily="34" charset="0"/>
                <a:ea typeface="-apple-system" pitchFamily="34" charset="-122"/>
                <a:cs typeface="-apple-system" pitchFamily="34" charset="-120"/>
              </a:rPr>
              <a:t>El problema no es lo que el</a:t>
            </a:r>
            <a:endParaRPr lang="en-US" sz="9000" dirty="0"/>
          </a:p>
        </p:txBody>
      </p:sp>
      <p:sp>
        <p:nvSpPr>
          <p:cNvPr id="9" name="Text 6"/>
          <p:cNvSpPr/>
          <p:nvPr/>
        </p:nvSpPr>
        <p:spPr>
          <a:xfrm>
            <a:off x="1047750" y="3720405"/>
            <a:ext cx="5819308" cy="1381125"/>
          </a:xfrm>
          <a:prstGeom prst="rect">
            <a:avLst/>
          </a:prstGeom>
          <a:noFill/>
          <a:ln/>
        </p:spPr>
        <p:txBody>
          <a:bodyPr wrap="square" lIns="0" tIns="0" rIns="0" bIns="0" rtlCol="0" anchor="t">
            <a:normAutofit/>
          </a:bodyPr>
          <a:lstStyle/>
          <a:p>
            <a:pPr marL="0" indent="0" algn="l">
              <a:lnSpc>
                <a:spcPct val="100000"/>
              </a:lnSpc>
              <a:buNone/>
            </a:pPr>
            <a:r>
              <a:rPr lang="en-US" sz="9000" b="1" kern="0" spc="-225" dirty="0">
                <a:solidFill>
                  <a:srgbClr val="1A1A1A"/>
                </a:solidFill>
                <a:latin typeface="-apple-system" pitchFamily="34" charset="0"/>
                <a:ea typeface="-apple-system" pitchFamily="34" charset="-122"/>
                <a:cs typeface="-apple-system" pitchFamily="34" charset="-120"/>
              </a:rPr>
              <a:t>presidente</a:t>
            </a:r>
            <a:endParaRPr lang="en-US" sz="9000" dirty="0"/>
          </a:p>
        </p:txBody>
      </p:sp>
      <p:sp>
        <p:nvSpPr>
          <p:cNvPr id="10" name="Text 7"/>
          <p:cNvSpPr/>
          <p:nvPr/>
        </p:nvSpPr>
        <p:spPr>
          <a:xfrm>
            <a:off x="6889403" y="3720405"/>
            <a:ext cx="2921457" cy="1381125"/>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9000" b="1" kern="0" spc="-225" dirty="0">
                <a:solidFill>
                  <a:srgbClr val="C9C6BD"/>
                </a:solidFill>
                <a:latin typeface="-apple-system" pitchFamily="34" charset="0"/>
                <a:ea typeface="-apple-system" pitchFamily="34" charset="-122"/>
                <a:cs typeface="-apple-system" pitchFamily="34" charset="-120"/>
              </a:rPr>
              <a:t>hace.</a:t>
            </a:r>
            <a:endParaRPr lang="en-US" sz="9000" dirty="0"/>
          </a:p>
        </p:txBody>
      </p:sp>
      <p:sp>
        <p:nvSpPr>
          <p:cNvPr id="11" name="Text 8"/>
          <p:cNvSpPr/>
          <p:nvPr/>
        </p:nvSpPr>
        <p:spPr>
          <a:xfrm>
            <a:off x="1047750" y="4968180"/>
            <a:ext cx="16678275" cy="11811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9000" b="1" kern="0" spc="-225" dirty="0">
                <a:solidFill>
                  <a:srgbClr val="D72631"/>
                </a:solidFill>
                <a:latin typeface="-apple-system" pitchFamily="34" charset="0"/>
                <a:ea typeface="-apple-system" pitchFamily="34" charset="-122"/>
                <a:cs typeface="-apple-system" pitchFamily="34" charset="-120"/>
              </a:rPr>
              <a:t>Es lo que el país no escucha.</a:t>
            </a:r>
            <a:endParaRPr lang="en-US" sz="9000" dirty="0"/>
          </a:p>
        </p:txBody>
      </p:sp>
      <p:sp>
        <p:nvSpPr>
          <p:cNvPr id="12" name="Shape 9"/>
          <p:cNvSpPr/>
          <p:nvPr/>
        </p:nvSpPr>
        <p:spPr>
          <a:xfrm>
            <a:off x="1047750" y="6873180"/>
            <a:ext cx="38100" cy="2483941"/>
          </a:xfrm>
          <a:prstGeom prst="rect">
            <a:avLst/>
          </a:prstGeom>
          <a:solidFill>
            <a:srgbClr val="D72631"/>
          </a:solidFill>
          <a:ln/>
        </p:spPr>
        <p:txBody>
          <a:bodyPr/>
          <a:lstStyle/>
          <a:p>
            <a:endParaRPr lang="es-EC"/>
          </a:p>
        </p:txBody>
      </p:sp>
      <p:sp>
        <p:nvSpPr>
          <p:cNvPr id="13" name="Text 10"/>
          <p:cNvSpPr/>
          <p:nvPr/>
        </p:nvSpPr>
        <p:spPr>
          <a:xfrm>
            <a:off x="1428750" y="6987480"/>
            <a:ext cx="8618897" cy="1913483"/>
          </a:xfrm>
          <a:prstGeom prst="rect">
            <a:avLst/>
          </a:prstGeom>
          <a:noFill/>
          <a:ln/>
        </p:spPr>
        <p:txBody>
          <a:bodyPr wrap="square" lIns="0" tIns="0" rIns="0" bIns="0" rtlCol="0" anchor="t">
            <a:normAutofit fontScale="92500" lnSpcReduction="20000"/>
          </a:bodyPr>
          <a:lstStyle/>
          <a:p>
            <a:pPr marL="0" indent="0" algn="l">
              <a:lnSpc>
                <a:spcPct val="135000"/>
              </a:lnSpc>
              <a:buNone/>
            </a:pPr>
            <a:r>
              <a:rPr lang="en-US" sz="2850" i="1" dirty="0">
                <a:solidFill>
                  <a:srgbClr val="3A3A3A"/>
                </a:solidFill>
                <a:latin typeface="Georgia" pitchFamily="34" charset="0"/>
                <a:ea typeface="Georgia" pitchFamily="34" charset="-122"/>
                <a:cs typeface="Georgia" pitchFamily="34" charset="-120"/>
              </a:rPr>
              <a:t>"El presidente ha hecho muchas cosas que la ciudadanía no sabe. No tiene la comunicación clara ni lo suficientemente directa para que llegue a la mayoría de los ecuatorianos."</a:t>
            </a:r>
            <a:endParaRPr lang="en-US" sz="2850" dirty="0"/>
          </a:p>
        </p:txBody>
      </p:sp>
      <p:sp>
        <p:nvSpPr>
          <p:cNvPr id="14" name="Text 11"/>
          <p:cNvSpPr/>
          <p:nvPr/>
        </p:nvSpPr>
        <p:spPr>
          <a:xfrm>
            <a:off x="1428750" y="9075241"/>
            <a:ext cx="8756094" cy="24378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200" kern="0" spc="336" dirty="0">
                <a:solidFill>
                  <a:srgbClr val="6B6B6B"/>
                </a:solidFill>
                <a:latin typeface="Arial" pitchFamily="34" charset="0"/>
                <a:ea typeface="Arial" pitchFamily="34" charset="-122"/>
                <a:cs typeface="Arial" pitchFamily="34" charset="-120"/>
              </a:rPr>
              <a:t>— CLICK REPORT · ABRIL 2026</a:t>
            </a:r>
            <a:endParaRPr lang="en-US" sz="1200" dirty="0"/>
          </a:p>
        </p:txBody>
      </p:sp>
      <p:sp>
        <p:nvSpPr>
          <p:cNvPr id="15" name="Shape 12"/>
          <p:cNvSpPr/>
          <p:nvPr/>
        </p:nvSpPr>
        <p:spPr>
          <a:xfrm>
            <a:off x="10539413" y="6880622"/>
            <a:ext cx="6700838" cy="2476500"/>
          </a:xfrm>
          <a:prstGeom prst="rect">
            <a:avLst/>
          </a:prstGeom>
          <a:solidFill>
            <a:srgbClr val="F5F4F1"/>
          </a:solidFill>
          <a:ln w="9525">
            <a:solidFill>
              <a:srgbClr val="C9C6BD"/>
            </a:solidFill>
            <a:prstDash val="solid"/>
          </a:ln>
        </p:spPr>
        <p:txBody>
          <a:bodyPr/>
          <a:lstStyle/>
          <a:p>
            <a:endParaRPr lang="es-EC"/>
          </a:p>
        </p:txBody>
      </p:sp>
      <p:sp>
        <p:nvSpPr>
          <p:cNvPr id="16" name="Text 13"/>
          <p:cNvSpPr/>
          <p:nvPr/>
        </p:nvSpPr>
        <p:spPr>
          <a:xfrm>
            <a:off x="10853738" y="7156847"/>
            <a:ext cx="6254353"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336" dirty="0">
                <a:solidFill>
                  <a:srgbClr val="6B6B6B"/>
                </a:solidFill>
                <a:latin typeface="-apple-system" pitchFamily="34" charset="0"/>
                <a:ea typeface="-apple-system" pitchFamily="34" charset="-122"/>
                <a:cs typeface="-apple-system" pitchFamily="34" charset="-120"/>
              </a:rPr>
              <a:t>IMAGEN · EDITORIAL</a:t>
            </a:r>
            <a:endParaRPr lang="en-US" sz="1050" dirty="0"/>
          </a:p>
        </p:txBody>
      </p:sp>
      <p:sp>
        <p:nvSpPr>
          <p:cNvPr id="17" name="Text 14"/>
          <p:cNvSpPr/>
          <p:nvPr/>
        </p:nvSpPr>
        <p:spPr>
          <a:xfrm>
            <a:off x="10853738" y="8515350"/>
            <a:ext cx="5003483" cy="603647"/>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i="1" dirty="0">
                <a:solidFill>
                  <a:srgbClr val="3A3A3A"/>
                </a:solidFill>
                <a:latin typeface="Georgia" pitchFamily="34" charset="0"/>
                <a:ea typeface="Georgia" pitchFamily="34" charset="-122"/>
                <a:cs typeface="Georgia" pitchFamily="34" charset="-120"/>
              </a:rPr>
              <a:t>Micrófonos sin nadie hablando. Silla presidencial vacía. B/N desaturado.</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10866537"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4829086" y="666750"/>
            <a:ext cx="2487364"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02 · QUIÉNES SOMOS</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75720" y="9547920"/>
            <a:ext cx="84073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10 / 32</a:t>
            </a:r>
            <a:endParaRPr lang="en-US" sz="1200" dirty="0"/>
          </a:p>
        </p:txBody>
      </p:sp>
      <p:sp>
        <p:nvSpPr>
          <p:cNvPr id="7" name="Text 4"/>
          <p:cNvSpPr/>
          <p:nvPr/>
        </p:nvSpPr>
        <p:spPr>
          <a:xfrm>
            <a:off x="1047750" y="1905000"/>
            <a:ext cx="16678275"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480" dirty="0">
                <a:solidFill>
                  <a:srgbClr val="D72631"/>
                </a:solidFill>
                <a:latin typeface="-apple-system" pitchFamily="34" charset="0"/>
                <a:ea typeface="-apple-system" pitchFamily="34" charset="-122"/>
                <a:cs typeface="-apple-system" pitchFamily="34" charset="-120"/>
              </a:rPr>
              <a:t>MABECA CORPORATION</a:t>
            </a:r>
            <a:endParaRPr lang="en-US" sz="1200" dirty="0"/>
          </a:p>
        </p:txBody>
      </p:sp>
      <p:sp>
        <p:nvSpPr>
          <p:cNvPr id="8" name="Text 5"/>
          <p:cNvSpPr/>
          <p:nvPr/>
        </p:nvSpPr>
        <p:spPr>
          <a:xfrm>
            <a:off x="1047750" y="2453580"/>
            <a:ext cx="16678275" cy="2781300"/>
          </a:xfrm>
          <a:prstGeom prst="rect">
            <a:avLst/>
          </a:prstGeom>
          <a:noFill/>
          <a:ln/>
        </p:spPr>
        <p:txBody>
          <a:bodyPr wrap="square" lIns="25400" tIns="25400" rIns="25400" bIns="25400" rtlCol="0" anchor="t">
            <a:normAutofit/>
          </a:bodyPr>
          <a:lstStyle/>
          <a:p>
            <a:pPr marL="0" indent="0" algn="l">
              <a:lnSpc>
                <a:spcPct val="100000"/>
              </a:lnSpc>
              <a:buNone/>
            </a:pPr>
            <a:r>
              <a:rPr lang="en-US" sz="7200" b="1" kern="0" spc="-180" dirty="0">
                <a:solidFill>
                  <a:srgbClr val="1A1A1A"/>
                </a:solidFill>
                <a:latin typeface="-apple-system" pitchFamily="34" charset="0"/>
                <a:ea typeface="-apple-system" pitchFamily="34" charset="-122"/>
                <a:cs typeface="-apple-system" pitchFamily="34" charset="-120"/>
              </a:rPr>
              <a:t>Una sola sala. </a:t>
            </a:r>
            <a:r>
              <a:rPr lang="en-US" sz="7200" b="1" kern="0" spc="-180" dirty="0">
                <a:solidFill>
                  <a:srgbClr val="D72631"/>
                </a:solidFill>
                <a:latin typeface="-apple-system" pitchFamily="34" charset="0"/>
                <a:ea typeface="-apple-system" pitchFamily="34" charset="-122"/>
                <a:cs typeface="-apple-system" pitchFamily="34" charset="-120"/>
              </a:rPr>
              <a:t>Tres especialidades </a:t>
            </a:r>
            <a:r>
              <a:rPr lang="en-US" sz="7200" b="1" kern="0" spc="-180" dirty="0">
                <a:solidFill>
                  <a:srgbClr val="1A1A1A"/>
                </a:solidFill>
                <a:latin typeface="-apple-system" pitchFamily="34" charset="0"/>
                <a:ea typeface="-apple-system" pitchFamily="34" charset="-122"/>
                <a:cs typeface="-apple-system" pitchFamily="34" charset="-120"/>
              </a:rPr>
              <a:t>que nadie más cruza en Ecuador.</a:t>
            </a:r>
            <a:endParaRPr lang="en-US" sz="7200" dirty="0"/>
          </a:p>
        </p:txBody>
      </p:sp>
      <p:sp>
        <p:nvSpPr>
          <p:cNvPr id="9" name="Shape 6"/>
          <p:cNvSpPr/>
          <p:nvPr/>
        </p:nvSpPr>
        <p:spPr>
          <a:xfrm>
            <a:off x="1047750" y="9010501"/>
            <a:ext cx="16192500" cy="9525"/>
          </a:xfrm>
          <a:prstGeom prst="rect">
            <a:avLst/>
          </a:prstGeom>
          <a:solidFill>
            <a:srgbClr val="C9C6BD"/>
          </a:solidFill>
          <a:ln/>
        </p:spPr>
        <p:txBody>
          <a:bodyPr/>
          <a:lstStyle/>
          <a:p>
            <a:endParaRPr lang="es-EC"/>
          </a:p>
        </p:txBody>
      </p:sp>
      <p:sp>
        <p:nvSpPr>
          <p:cNvPr id="10" name="Shape 7"/>
          <p:cNvSpPr/>
          <p:nvPr/>
        </p:nvSpPr>
        <p:spPr>
          <a:xfrm>
            <a:off x="1047750" y="5958780"/>
            <a:ext cx="16192500" cy="9525"/>
          </a:xfrm>
          <a:prstGeom prst="rect">
            <a:avLst/>
          </a:prstGeom>
          <a:solidFill>
            <a:srgbClr val="C9C6BD"/>
          </a:solidFill>
          <a:ln/>
        </p:spPr>
        <p:txBody>
          <a:bodyPr/>
          <a:lstStyle/>
          <a:p>
            <a:endParaRPr lang="es-EC"/>
          </a:p>
        </p:txBody>
      </p:sp>
      <p:sp>
        <p:nvSpPr>
          <p:cNvPr id="11" name="Text 8"/>
          <p:cNvSpPr/>
          <p:nvPr/>
        </p:nvSpPr>
        <p:spPr>
          <a:xfrm>
            <a:off x="1428750" y="6349305"/>
            <a:ext cx="4768025" cy="6477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800" b="1" dirty="0">
                <a:solidFill>
                  <a:srgbClr val="D72631"/>
                </a:solidFill>
                <a:latin typeface="-apple-system" pitchFamily="34" charset="0"/>
                <a:ea typeface="-apple-system" pitchFamily="34" charset="-122"/>
                <a:cs typeface="-apple-system" pitchFamily="34" charset="-120"/>
              </a:rPr>
              <a:t>01</a:t>
            </a:r>
            <a:endParaRPr lang="en-US" sz="4800" dirty="0"/>
          </a:p>
        </p:txBody>
      </p:sp>
      <p:sp>
        <p:nvSpPr>
          <p:cNvPr id="12" name="Text 9"/>
          <p:cNvSpPr/>
          <p:nvPr/>
        </p:nvSpPr>
        <p:spPr>
          <a:xfrm>
            <a:off x="1428750" y="7168455"/>
            <a:ext cx="4768025" cy="60379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3300" b="1" kern="0" spc="132" dirty="0">
                <a:solidFill>
                  <a:srgbClr val="1A1A1A"/>
                </a:solidFill>
                <a:latin typeface="-apple-system" pitchFamily="34" charset="0"/>
                <a:ea typeface="-apple-system" pitchFamily="34" charset="-122"/>
                <a:cs typeface="-apple-system" pitchFamily="34" charset="-120"/>
              </a:rPr>
              <a:t>McCANN</a:t>
            </a:r>
            <a:endParaRPr lang="en-US" sz="3300" dirty="0"/>
          </a:p>
        </p:txBody>
      </p:sp>
      <p:sp>
        <p:nvSpPr>
          <p:cNvPr id="13" name="Text 10"/>
          <p:cNvSpPr/>
          <p:nvPr/>
        </p:nvSpPr>
        <p:spPr>
          <a:xfrm>
            <a:off x="1428750" y="7943701"/>
            <a:ext cx="4768025" cy="7239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3A3A3A"/>
                </a:solidFill>
                <a:latin typeface="-apple-system" pitchFamily="34" charset="0"/>
                <a:ea typeface="-apple-system" pitchFamily="34" charset="-122"/>
                <a:cs typeface="-apple-system" pitchFamily="34" charset="-120"/>
              </a:rPr>
              <a:t>Verdad estratégica de mercado y narrativa creativa con presencia en 120+ países.</a:t>
            </a:r>
            <a:endParaRPr lang="en-US" sz="1800" dirty="0"/>
          </a:p>
        </p:txBody>
      </p:sp>
      <p:sp>
        <p:nvSpPr>
          <p:cNvPr id="14" name="Shape 11"/>
          <p:cNvSpPr/>
          <p:nvPr/>
        </p:nvSpPr>
        <p:spPr>
          <a:xfrm>
            <a:off x="6438900" y="5968305"/>
            <a:ext cx="9525" cy="3042196"/>
          </a:xfrm>
          <a:prstGeom prst="rect">
            <a:avLst/>
          </a:prstGeom>
          <a:solidFill>
            <a:srgbClr val="C9C6BD"/>
          </a:solidFill>
          <a:ln/>
        </p:spPr>
        <p:txBody>
          <a:bodyPr/>
          <a:lstStyle/>
          <a:p>
            <a:endParaRPr lang="es-EC"/>
          </a:p>
        </p:txBody>
      </p:sp>
      <p:sp>
        <p:nvSpPr>
          <p:cNvPr id="15" name="Text 12"/>
          <p:cNvSpPr/>
          <p:nvPr/>
        </p:nvSpPr>
        <p:spPr>
          <a:xfrm>
            <a:off x="6829425" y="6349305"/>
            <a:ext cx="4768025" cy="6477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800" b="1" dirty="0">
                <a:solidFill>
                  <a:srgbClr val="D72631"/>
                </a:solidFill>
                <a:latin typeface="-apple-system" pitchFamily="34" charset="0"/>
                <a:ea typeface="-apple-system" pitchFamily="34" charset="-122"/>
                <a:cs typeface="-apple-system" pitchFamily="34" charset="-120"/>
              </a:rPr>
              <a:t>02</a:t>
            </a:r>
            <a:endParaRPr lang="en-US" sz="4800" dirty="0"/>
          </a:p>
        </p:txBody>
      </p:sp>
      <p:sp>
        <p:nvSpPr>
          <p:cNvPr id="16" name="Text 13"/>
          <p:cNvSpPr/>
          <p:nvPr/>
        </p:nvSpPr>
        <p:spPr>
          <a:xfrm>
            <a:off x="6829425" y="7168455"/>
            <a:ext cx="4768025" cy="60379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3300" b="1" kern="0" spc="132" dirty="0">
                <a:solidFill>
                  <a:srgbClr val="1A1A1A"/>
                </a:solidFill>
                <a:latin typeface="-apple-system" pitchFamily="34" charset="0"/>
                <a:ea typeface="-apple-system" pitchFamily="34" charset="-122"/>
                <a:cs typeface="-apple-system" pitchFamily="34" charset="-120"/>
              </a:rPr>
              <a:t>MAMBO</a:t>
            </a:r>
            <a:endParaRPr lang="en-US" sz="3300" dirty="0"/>
          </a:p>
        </p:txBody>
      </p:sp>
      <p:sp>
        <p:nvSpPr>
          <p:cNvPr id="17" name="Text 14"/>
          <p:cNvSpPr/>
          <p:nvPr/>
        </p:nvSpPr>
        <p:spPr>
          <a:xfrm>
            <a:off x="6829425" y="7943701"/>
            <a:ext cx="4768025" cy="7239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3A3A3A"/>
                </a:solidFill>
                <a:latin typeface="-apple-system" pitchFamily="34" charset="0"/>
                <a:ea typeface="-apple-system" pitchFamily="34" charset="-122"/>
                <a:cs typeface="-apple-system" pitchFamily="34" charset="-120"/>
              </a:rPr>
              <a:t>15+ años instalando cambio cultural en empresas ecuatorianas. Acts, not ads.</a:t>
            </a:r>
            <a:endParaRPr lang="en-US" sz="1800" dirty="0"/>
          </a:p>
        </p:txBody>
      </p:sp>
      <p:sp>
        <p:nvSpPr>
          <p:cNvPr id="18" name="Shape 15"/>
          <p:cNvSpPr/>
          <p:nvPr/>
        </p:nvSpPr>
        <p:spPr>
          <a:xfrm>
            <a:off x="11839575" y="5968305"/>
            <a:ext cx="9525" cy="3042196"/>
          </a:xfrm>
          <a:prstGeom prst="rect">
            <a:avLst/>
          </a:prstGeom>
          <a:solidFill>
            <a:srgbClr val="C9C6BD"/>
          </a:solidFill>
          <a:ln/>
        </p:spPr>
        <p:txBody>
          <a:bodyPr/>
          <a:lstStyle/>
          <a:p>
            <a:endParaRPr lang="es-EC"/>
          </a:p>
        </p:txBody>
      </p:sp>
      <p:sp>
        <p:nvSpPr>
          <p:cNvPr id="19" name="Text 16"/>
          <p:cNvSpPr/>
          <p:nvPr/>
        </p:nvSpPr>
        <p:spPr>
          <a:xfrm>
            <a:off x="12230100" y="6349305"/>
            <a:ext cx="4768025" cy="6477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800" b="1" dirty="0">
                <a:solidFill>
                  <a:srgbClr val="D72631"/>
                </a:solidFill>
                <a:latin typeface="-apple-system" pitchFamily="34" charset="0"/>
                <a:ea typeface="-apple-system" pitchFamily="34" charset="-122"/>
                <a:cs typeface="-apple-system" pitchFamily="34" charset="-120"/>
              </a:rPr>
              <a:t>03</a:t>
            </a:r>
            <a:endParaRPr lang="en-US" sz="4800" dirty="0"/>
          </a:p>
        </p:txBody>
      </p:sp>
      <p:sp>
        <p:nvSpPr>
          <p:cNvPr id="20" name="Text 17"/>
          <p:cNvSpPr/>
          <p:nvPr/>
        </p:nvSpPr>
        <p:spPr>
          <a:xfrm>
            <a:off x="12230100" y="7168455"/>
            <a:ext cx="4768025" cy="60379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3300" b="1" kern="0" spc="132" dirty="0">
                <a:solidFill>
                  <a:srgbClr val="1A1A1A"/>
                </a:solidFill>
                <a:latin typeface="-apple-system" pitchFamily="34" charset="0"/>
                <a:ea typeface="-apple-system" pitchFamily="34" charset="-122"/>
                <a:cs typeface="-apple-system" pitchFamily="34" charset="-120"/>
              </a:rPr>
              <a:t>ALMA</a:t>
            </a:r>
            <a:endParaRPr lang="en-US" sz="3300" dirty="0"/>
          </a:p>
        </p:txBody>
      </p:sp>
      <p:sp>
        <p:nvSpPr>
          <p:cNvPr id="21" name="Text 18"/>
          <p:cNvSpPr/>
          <p:nvPr/>
        </p:nvSpPr>
        <p:spPr>
          <a:xfrm>
            <a:off x="12230100" y="7943701"/>
            <a:ext cx="4768025" cy="7239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3A3A3A"/>
                </a:solidFill>
                <a:latin typeface="-apple-system" pitchFamily="34" charset="0"/>
                <a:ea typeface="-apple-system" pitchFamily="34" charset="-122"/>
                <a:cs typeface="-apple-system" pitchFamily="34" charset="-120"/>
              </a:rPr>
              <a:t>IA y tecnología operativa real. No decoración: capacidad integrada desde el día uno.</a:t>
            </a:r>
            <a:endParaRPr lang="en-US" sz="1800" dirty="0"/>
          </a:p>
        </p:txBody>
      </p:sp>
      <p:sp>
        <p:nvSpPr>
          <p:cNvPr id="22" name="Text 19"/>
          <p:cNvSpPr/>
          <p:nvPr/>
        </p:nvSpPr>
        <p:spPr>
          <a:xfrm>
            <a:off x="1047750" y="9553426"/>
            <a:ext cx="12753975" cy="39811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i="1" dirty="0">
                <a:solidFill>
                  <a:srgbClr val="3A3A3A"/>
                </a:solidFill>
                <a:latin typeface="Georgia" pitchFamily="34" charset="0"/>
                <a:ea typeface="Georgia" pitchFamily="34" charset="-122"/>
                <a:cs typeface="Georgia" pitchFamily="34" charset="-120"/>
              </a:rPr>
              <a:t>Creatividad + Cultura + Tecnología en un solo flujo operativo. Esa es la ventaja imposible de copiar.</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10031016"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3993564" y="666750"/>
            <a:ext cx="3344086"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03 · METODOLOGÍA R.O.O.M.</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501021" y="9547920"/>
            <a:ext cx="815429"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11 / 32</a:t>
            </a:r>
            <a:endParaRPr lang="en-US" sz="1200" dirty="0"/>
          </a:p>
        </p:txBody>
      </p:sp>
      <p:sp>
        <p:nvSpPr>
          <p:cNvPr id="7" name="Text 4"/>
          <p:cNvSpPr/>
          <p:nvPr/>
        </p:nvSpPr>
        <p:spPr>
          <a:xfrm>
            <a:off x="1047750" y="1905000"/>
            <a:ext cx="16678275"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480" dirty="0">
                <a:solidFill>
                  <a:srgbClr val="D72631"/>
                </a:solidFill>
                <a:latin typeface="-apple-system" pitchFamily="34" charset="0"/>
                <a:ea typeface="-apple-system" pitchFamily="34" charset="-122"/>
                <a:cs typeface="-apple-system" pitchFamily="34" charset="-120"/>
              </a:rPr>
              <a:t>MÉTODO PROPIO · CUATRO FASES · UN SOLO OBJETIVO</a:t>
            </a:r>
            <a:endParaRPr lang="en-US" sz="1200" dirty="0"/>
          </a:p>
        </p:txBody>
      </p:sp>
      <p:sp>
        <p:nvSpPr>
          <p:cNvPr id="8" name="Text 5"/>
          <p:cNvSpPr/>
          <p:nvPr/>
        </p:nvSpPr>
        <p:spPr>
          <a:xfrm>
            <a:off x="1047750" y="2453580"/>
            <a:ext cx="16678275" cy="2209800"/>
          </a:xfrm>
          <a:prstGeom prst="rect">
            <a:avLst/>
          </a:prstGeom>
          <a:noFill/>
          <a:ln/>
        </p:spPr>
        <p:txBody>
          <a:bodyPr wrap="square" lIns="25400" tIns="25400" rIns="25400" bIns="25400" rtlCol="0" anchor="t">
            <a:normAutofit/>
          </a:bodyPr>
          <a:lstStyle/>
          <a:p>
            <a:pPr marL="0" indent="0" algn="l">
              <a:lnSpc>
                <a:spcPct val="95000"/>
              </a:lnSpc>
              <a:buNone/>
            </a:pPr>
            <a:r>
              <a:rPr lang="en-US" sz="9000" b="1" kern="0" spc="-270" dirty="0">
                <a:solidFill>
                  <a:srgbClr val="1A1A1A"/>
                </a:solidFill>
                <a:latin typeface="-apple-system" pitchFamily="34" charset="0"/>
                <a:ea typeface="-apple-system" pitchFamily="34" charset="-122"/>
                <a:cs typeface="-apple-system" pitchFamily="34" charset="-120"/>
              </a:rPr>
              <a:t>De la señal </a:t>
            </a:r>
            <a:r>
              <a:rPr lang="en-US" sz="9000" b="1" kern="0" spc="-270" dirty="0">
                <a:solidFill>
                  <a:srgbClr val="C9C6BD"/>
                </a:solidFill>
                <a:latin typeface="-apple-system" pitchFamily="34" charset="0"/>
                <a:ea typeface="-apple-system" pitchFamily="34" charset="-122"/>
                <a:cs typeface="-apple-system" pitchFamily="34" charset="-120"/>
              </a:rPr>
              <a:t>— </a:t>
            </a:r>
            <a:r>
              <a:rPr lang="en-US" sz="9000" b="1" kern="0" spc="-270" dirty="0">
                <a:solidFill>
                  <a:srgbClr val="1A1A1A"/>
                </a:solidFill>
                <a:latin typeface="-apple-system" pitchFamily="34" charset="0"/>
                <a:ea typeface="-apple-system" pitchFamily="34" charset="-122"/>
                <a:cs typeface="-apple-system" pitchFamily="34" charset="-120"/>
              </a:rPr>
              <a:t>a </a:t>
            </a:r>
            <a:r>
              <a:rPr lang="en-US" sz="9000" b="1" kern="0" spc="-270" dirty="0">
                <a:solidFill>
                  <a:srgbClr val="D72631"/>
                </a:solidFill>
                <a:latin typeface="-apple-system" pitchFamily="34" charset="0"/>
                <a:ea typeface="-apple-system" pitchFamily="34" charset="-122"/>
                <a:cs typeface="-apple-system" pitchFamily="34" charset="-120"/>
              </a:rPr>
              <a:t>la acción.</a:t>
            </a:r>
            <a:endParaRPr lang="en-US" sz="9000" dirty="0"/>
          </a:p>
        </p:txBody>
      </p:sp>
      <p:sp>
        <p:nvSpPr>
          <p:cNvPr id="9" name="Text 6"/>
          <p:cNvSpPr/>
          <p:nvPr/>
        </p:nvSpPr>
        <p:spPr>
          <a:xfrm>
            <a:off x="1047750" y="5577780"/>
            <a:ext cx="3757517"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384" dirty="0">
                <a:solidFill>
                  <a:srgbClr val="0B3D7E"/>
                </a:solidFill>
                <a:latin typeface="-apple-system" pitchFamily="34" charset="0"/>
                <a:ea typeface="-apple-system" pitchFamily="34" charset="-122"/>
                <a:cs typeface="-apple-system" pitchFamily="34" charset="-120"/>
              </a:rPr>
              <a:t>FASE 0 1 · 24/7</a:t>
            </a:r>
            <a:endParaRPr lang="en-US" sz="1200" dirty="0"/>
          </a:p>
        </p:txBody>
      </p:sp>
      <p:sp>
        <p:nvSpPr>
          <p:cNvPr id="10" name="Shape 7"/>
          <p:cNvSpPr/>
          <p:nvPr/>
        </p:nvSpPr>
        <p:spPr>
          <a:xfrm>
            <a:off x="1047750" y="5935861"/>
            <a:ext cx="3648075" cy="9525"/>
          </a:xfrm>
          <a:prstGeom prst="rect">
            <a:avLst/>
          </a:prstGeom>
          <a:solidFill>
            <a:srgbClr val="1A1A1A"/>
          </a:solidFill>
          <a:ln/>
        </p:spPr>
        <p:txBody>
          <a:bodyPr/>
          <a:lstStyle/>
          <a:p>
            <a:endParaRPr lang="es-EC"/>
          </a:p>
        </p:txBody>
      </p:sp>
      <p:sp>
        <p:nvSpPr>
          <p:cNvPr id="11" name="Text 8"/>
          <p:cNvSpPr/>
          <p:nvPr/>
        </p:nvSpPr>
        <p:spPr>
          <a:xfrm>
            <a:off x="1047750" y="6173986"/>
            <a:ext cx="899666" cy="12382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0500" b="1" kern="0" spc="-525" dirty="0">
                <a:solidFill>
                  <a:srgbClr val="0B3D7E"/>
                </a:solidFill>
                <a:latin typeface="-apple-system" pitchFamily="34" charset="0"/>
                <a:ea typeface="-apple-system" pitchFamily="34" charset="-122"/>
                <a:cs typeface="-apple-system" pitchFamily="34" charset="-120"/>
              </a:rPr>
              <a:t>R</a:t>
            </a:r>
            <a:endParaRPr lang="en-US" sz="10500" dirty="0"/>
          </a:p>
        </p:txBody>
      </p:sp>
      <p:sp>
        <p:nvSpPr>
          <p:cNvPr id="12" name="Text 9"/>
          <p:cNvSpPr/>
          <p:nvPr/>
        </p:nvSpPr>
        <p:spPr>
          <a:xfrm>
            <a:off x="2023616" y="6916936"/>
            <a:ext cx="1353294" cy="50095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700" b="1" kern="0" spc="108" dirty="0">
                <a:solidFill>
                  <a:srgbClr val="1A1A1A"/>
                </a:solidFill>
                <a:latin typeface="-apple-system" pitchFamily="34" charset="0"/>
                <a:ea typeface="-apple-system" pitchFamily="34" charset="-122"/>
                <a:cs typeface="-apple-system" pitchFamily="34" charset="-120"/>
              </a:rPr>
              <a:t>RADAR</a:t>
            </a:r>
            <a:endParaRPr lang="en-US" sz="2700" dirty="0"/>
          </a:p>
        </p:txBody>
      </p:sp>
      <p:sp>
        <p:nvSpPr>
          <p:cNvPr id="13" name="Text 10"/>
          <p:cNvSpPr/>
          <p:nvPr/>
        </p:nvSpPr>
        <p:spPr>
          <a:xfrm>
            <a:off x="1047750" y="7608391"/>
            <a:ext cx="3757517" cy="346621"/>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3A3A3A"/>
                </a:solidFill>
                <a:latin typeface="Georgia" pitchFamily="34" charset="0"/>
                <a:ea typeface="Georgia" pitchFamily="34" charset="-122"/>
                <a:cs typeface="Georgia" pitchFamily="34" charset="-120"/>
              </a:rPr>
              <a:t>El mundo habla.</a:t>
            </a:r>
            <a:endParaRPr lang="en-US" sz="1800" dirty="0"/>
          </a:p>
        </p:txBody>
      </p:sp>
      <p:pic>
        <p:nvPicPr>
          <p:cNvPr id="14" name="Image 1" descr="preencoded.png"/>
          <p:cNvPicPr>
            <a:picLocks noChangeAspect="1"/>
          </p:cNvPicPr>
          <p:nvPr/>
        </p:nvPicPr>
        <p:blipFill>
          <a:blip r:embed="rId4"/>
          <a:stretch>
            <a:fillRect/>
          </a:stretch>
        </p:blipFill>
        <p:spPr>
          <a:xfrm>
            <a:off x="4772025" y="6937772"/>
            <a:ext cx="381000" cy="190500"/>
          </a:xfrm>
          <a:prstGeom prst="rect">
            <a:avLst/>
          </a:prstGeom>
        </p:spPr>
      </p:pic>
      <p:sp>
        <p:nvSpPr>
          <p:cNvPr id="15" name="Text 11"/>
          <p:cNvSpPr/>
          <p:nvPr/>
        </p:nvSpPr>
        <p:spPr>
          <a:xfrm>
            <a:off x="5229225" y="5577780"/>
            <a:ext cx="3757517"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384" dirty="0">
                <a:solidFill>
                  <a:srgbClr val="F5B400"/>
                </a:solidFill>
                <a:latin typeface="-apple-system" pitchFamily="34" charset="0"/>
                <a:ea typeface="-apple-system" pitchFamily="34" charset="-122"/>
                <a:cs typeface="-apple-system" pitchFamily="34" charset="-120"/>
              </a:rPr>
              <a:t>FASE 0 2 · 60 MIN</a:t>
            </a:r>
            <a:endParaRPr lang="en-US" sz="1200" dirty="0"/>
          </a:p>
        </p:txBody>
      </p:sp>
      <p:sp>
        <p:nvSpPr>
          <p:cNvPr id="16" name="Shape 12"/>
          <p:cNvSpPr/>
          <p:nvPr/>
        </p:nvSpPr>
        <p:spPr>
          <a:xfrm>
            <a:off x="5229225" y="5935861"/>
            <a:ext cx="3648075" cy="9525"/>
          </a:xfrm>
          <a:prstGeom prst="rect">
            <a:avLst/>
          </a:prstGeom>
          <a:solidFill>
            <a:srgbClr val="1A1A1A"/>
          </a:solidFill>
          <a:ln/>
        </p:spPr>
        <p:txBody>
          <a:bodyPr/>
          <a:lstStyle/>
          <a:p>
            <a:endParaRPr lang="es-EC"/>
          </a:p>
        </p:txBody>
      </p:sp>
      <p:sp>
        <p:nvSpPr>
          <p:cNvPr id="17" name="Text 13"/>
          <p:cNvSpPr/>
          <p:nvPr/>
        </p:nvSpPr>
        <p:spPr>
          <a:xfrm>
            <a:off x="5229225" y="6173986"/>
            <a:ext cx="1031825" cy="12382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0500" b="1" kern="0" spc="-525" dirty="0">
                <a:solidFill>
                  <a:srgbClr val="F5B400"/>
                </a:solidFill>
                <a:latin typeface="-apple-system" pitchFamily="34" charset="0"/>
                <a:ea typeface="-apple-system" pitchFamily="34" charset="-122"/>
                <a:cs typeface="-apple-system" pitchFamily="34" charset="-120"/>
              </a:rPr>
              <a:t>O</a:t>
            </a:r>
            <a:endParaRPr lang="en-US" sz="10500" dirty="0"/>
          </a:p>
        </p:txBody>
      </p:sp>
      <p:sp>
        <p:nvSpPr>
          <p:cNvPr id="18" name="Text 14"/>
          <p:cNvSpPr/>
          <p:nvPr/>
        </p:nvSpPr>
        <p:spPr>
          <a:xfrm>
            <a:off x="6337250" y="6916936"/>
            <a:ext cx="1782812" cy="50095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700" b="1" kern="0" spc="108" dirty="0">
                <a:solidFill>
                  <a:srgbClr val="1A1A1A"/>
                </a:solidFill>
                <a:latin typeface="-apple-system" pitchFamily="34" charset="0"/>
                <a:ea typeface="-apple-system" pitchFamily="34" charset="-122"/>
                <a:cs typeface="-apple-system" pitchFamily="34" charset="-120"/>
              </a:rPr>
              <a:t>OBSERVE</a:t>
            </a:r>
            <a:endParaRPr lang="en-US" sz="2700" dirty="0"/>
          </a:p>
        </p:txBody>
      </p:sp>
      <p:sp>
        <p:nvSpPr>
          <p:cNvPr id="19" name="Text 15"/>
          <p:cNvSpPr/>
          <p:nvPr/>
        </p:nvSpPr>
        <p:spPr>
          <a:xfrm>
            <a:off x="5229225" y="7608391"/>
            <a:ext cx="3757517" cy="346621"/>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3A3A3A"/>
                </a:solidFill>
                <a:latin typeface="Georgia" pitchFamily="34" charset="0"/>
                <a:ea typeface="Georgia" pitchFamily="34" charset="-122"/>
                <a:cs typeface="Georgia" pitchFamily="34" charset="-120"/>
              </a:rPr>
              <a:t>El equipo escucha.</a:t>
            </a:r>
            <a:endParaRPr lang="en-US" sz="1800" dirty="0"/>
          </a:p>
        </p:txBody>
      </p:sp>
      <p:pic>
        <p:nvPicPr>
          <p:cNvPr id="20" name="Image 2" descr="preencoded.png"/>
          <p:cNvPicPr>
            <a:picLocks noChangeAspect="1"/>
          </p:cNvPicPr>
          <p:nvPr/>
        </p:nvPicPr>
        <p:blipFill>
          <a:blip r:embed="rId4"/>
          <a:stretch>
            <a:fillRect/>
          </a:stretch>
        </p:blipFill>
        <p:spPr>
          <a:xfrm>
            <a:off x="8953500" y="6937772"/>
            <a:ext cx="381000" cy="190500"/>
          </a:xfrm>
          <a:prstGeom prst="rect">
            <a:avLst/>
          </a:prstGeom>
        </p:spPr>
      </p:pic>
      <p:sp>
        <p:nvSpPr>
          <p:cNvPr id="21" name="Text 16"/>
          <p:cNvSpPr/>
          <p:nvPr/>
        </p:nvSpPr>
        <p:spPr>
          <a:xfrm>
            <a:off x="9410700" y="5577780"/>
            <a:ext cx="3757517"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384" dirty="0">
                <a:solidFill>
                  <a:srgbClr val="D72631"/>
                </a:solidFill>
                <a:latin typeface="-apple-system" pitchFamily="34" charset="0"/>
                <a:ea typeface="-apple-system" pitchFamily="34" charset="-122"/>
                <a:cs typeface="-apple-system" pitchFamily="34" charset="-120"/>
              </a:rPr>
              <a:t>FASE 0 3 · 90 MIN</a:t>
            </a:r>
            <a:endParaRPr lang="en-US" sz="1200" dirty="0"/>
          </a:p>
        </p:txBody>
      </p:sp>
      <p:sp>
        <p:nvSpPr>
          <p:cNvPr id="22" name="Shape 17"/>
          <p:cNvSpPr/>
          <p:nvPr/>
        </p:nvSpPr>
        <p:spPr>
          <a:xfrm>
            <a:off x="9410700" y="5935861"/>
            <a:ext cx="3648075" cy="9525"/>
          </a:xfrm>
          <a:prstGeom prst="rect">
            <a:avLst/>
          </a:prstGeom>
          <a:solidFill>
            <a:srgbClr val="1A1A1A"/>
          </a:solidFill>
          <a:ln/>
        </p:spPr>
        <p:txBody>
          <a:bodyPr/>
          <a:lstStyle/>
          <a:p>
            <a:endParaRPr lang="es-EC"/>
          </a:p>
        </p:txBody>
      </p:sp>
      <p:sp>
        <p:nvSpPr>
          <p:cNvPr id="23" name="Text 18"/>
          <p:cNvSpPr/>
          <p:nvPr/>
        </p:nvSpPr>
        <p:spPr>
          <a:xfrm>
            <a:off x="9410700" y="6173986"/>
            <a:ext cx="1031825" cy="12382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0500" b="1" kern="0" spc="-525" dirty="0">
                <a:solidFill>
                  <a:srgbClr val="D72631"/>
                </a:solidFill>
                <a:latin typeface="-apple-system" pitchFamily="34" charset="0"/>
                <a:ea typeface="-apple-system" pitchFamily="34" charset="-122"/>
                <a:cs typeface="-apple-system" pitchFamily="34" charset="-120"/>
              </a:rPr>
              <a:t>O</a:t>
            </a:r>
            <a:endParaRPr lang="en-US" sz="10500" dirty="0"/>
          </a:p>
        </p:txBody>
      </p:sp>
      <p:sp>
        <p:nvSpPr>
          <p:cNvPr id="24" name="Text 19"/>
          <p:cNvSpPr/>
          <p:nvPr/>
        </p:nvSpPr>
        <p:spPr>
          <a:xfrm>
            <a:off x="10518725" y="6916936"/>
            <a:ext cx="971550" cy="50095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700" b="1" kern="0" spc="108" dirty="0">
                <a:solidFill>
                  <a:srgbClr val="1A1A1A"/>
                </a:solidFill>
                <a:latin typeface="-apple-system" pitchFamily="34" charset="0"/>
                <a:ea typeface="-apple-system" pitchFamily="34" charset="-122"/>
                <a:cs typeface="-apple-system" pitchFamily="34" charset="-120"/>
              </a:rPr>
              <a:t>OWN</a:t>
            </a:r>
            <a:endParaRPr lang="en-US" sz="2700" dirty="0"/>
          </a:p>
        </p:txBody>
      </p:sp>
      <p:sp>
        <p:nvSpPr>
          <p:cNvPr id="25" name="Text 20"/>
          <p:cNvSpPr/>
          <p:nvPr/>
        </p:nvSpPr>
        <p:spPr>
          <a:xfrm>
            <a:off x="9410700" y="7608391"/>
            <a:ext cx="3757517" cy="346621"/>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3A3A3A"/>
                </a:solidFill>
                <a:latin typeface="Georgia" pitchFamily="34" charset="0"/>
                <a:ea typeface="Georgia" pitchFamily="34" charset="-122"/>
                <a:cs typeface="Georgia" pitchFamily="34" charset="-120"/>
              </a:rPr>
              <a:t>El problema se comparte.</a:t>
            </a:r>
            <a:endParaRPr lang="en-US" sz="1800" dirty="0"/>
          </a:p>
        </p:txBody>
      </p:sp>
      <p:pic>
        <p:nvPicPr>
          <p:cNvPr id="26" name="Image 3" descr="preencoded.png"/>
          <p:cNvPicPr>
            <a:picLocks noChangeAspect="1"/>
          </p:cNvPicPr>
          <p:nvPr/>
        </p:nvPicPr>
        <p:blipFill>
          <a:blip r:embed="rId4"/>
          <a:stretch>
            <a:fillRect/>
          </a:stretch>
        </p:blipFill>
        <p:spPr>
          <a:xfrm>
            <a:off x="13134975" y="6937772"/>
            <a:ext cx="381000" cy="190500"/>
          </a:xfrm>
          <a:prstGeom prst="rect">
            <a:avLst/>
          </a:prstGeom>
        </p:spPr>
      </p:pic>
      <p:sp>
        <p:nvSpPr>
          <p:cNvPr id="27" name="Text 21"/>
          <p:cNvSpPr/>
          <p:nvPr/>
        </p:nvSpPr>
        <p:spPr>
          <a:xfrm>
            <a:off x="13592175" y="5577780"/>
            <a:ext cx="3757517"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384" dirty="0">
                <a:solidFill>
                  <a:srgbClr val="2E9D5C"/>
                </a:solidFill>
                <a:latin typeface="-apple-system" pitchFamily="34" charset="0"/>
                <a:ea typeface="-apple-system" pitchFamily="34" charset="-122"/>
                <a:cs typeface="-apple-system" pitchFamily="34" charset="-120"/>
              </a:rPr>
              <a:t>FASE 0 4 · 30 MIN</a:t>
            </a:r>
            <a:endParaRPr lang="en-US" sz="1200" dirty="0"/>
          </a:p>
        </p:txBody>
      </p:sp>
      <p:sp>
        <p:nvSpPr>
          <p:cNvPr id="28" name="Shape 22"/>
          <p:cNvSpPr/>
          <p:nvPr/>
        </p:nvSpPr>
        <p:spPr>
          <a:xfrm>
            <a:off x="13592175" y="5935861"/>
            <a:ext cx="3648075" cy="9525"/>
          </a:xfrm>
          <a:prstGeom prst="rect">
            <a:avLst/>
          </a:prstGeom>
          <a:solidFill>
            <a:srgbClr val="1A1A1A"/>
          </a:solidFill>
          <a:ln/>
        </p:spPr>
        <p:txBody>
          <a:bodyPr/>
          <a:lstStyle/>
          <a:p>
            <a:endParaRPr lang="es-EC"/>
          </a:p>
        </p:txBody>
      </p:sp>
      <p:sp>
        <p:nvSpPr>
          <p:cNvPr id="29" name="Text 23"/>
          <p:cNvSpPr/>
          <p:nvPr/>
        </p:nvSpPr>
        <p:spPr>
          <a:xfrm>
            <a:off x="13592175" y="6173986"/>
            <a:ext cx="1184225" cy="12382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0500" b="1" kern="0" spc="-525" dirty="0">
                <a:solidFill>
                  <a:srgbClr val="2E9D5C"/>
                </a:solidFill>
                <a:latin typeface="-apple-system" pitchFamily="34" charset="0"/>
                <a:ea typeface="-apple-system" pitchFamily="34" charset="-122"/>
                <a:cs typeface="-apple-system" pitchFamily="34" charset="-120"/>
              </a:rPr>
              <a:t>M</a:t>
            </a:r>
            <a:endParaRPr lang="en-US" sz="10500" dirty="0"/>
          </a:p>
        </p:txBody>
      </p:sp>
      <p:sp>
        <p:nvSpPr>
          <p:cNvPr id="30" name="Text 24"/>
          <p:cNvSpPr/>
          <p:nvPr/>
        </p:nvSpPr>
        <p:spPr>
          <a:xfrm>
            <a:off x="14852600" y="6916936"/>
            <a:ext cx="1146423" cy="50095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700" b="1" kern="0" spc="108" dirty="0">
                <a:solidFill>
                  <a:srgbClr val="1A1A1A"/>
                </a:solidFill>
                <a:latin typeface="-apple-system" pitchFamily="34" charset="0"/>
                <a:ea typeface="-apple-system" pitchFamily="34" charset="-122"/>
                <a:cs typeface="-apple-system" pitchFamily="34" charset="-120"/>
              </a:rPr>
              <a:t>MOVE</a:t>
            </a:r>
            <a:endParaRPr lang="en-US" sz="2700" dirty="0"/>
          </a:p>
        </p:txBody>
      </p:sp>
      <p:sp>
        <p:nvSpPr>
          <p:cNvPr id="31" name="Text 25"/>
          <p:cNvSpPr/>
          <p:nvPr/>
        </p:nvSpPr>
        <p:spPr>
          <a:xfrm>
            <a:off x="13592175" y="7608391"/>
            <a:ext cx="3757517" cy="346621"/>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3A3A3A"/>
                </a:solidFill>
                <a:latin typeface="Georgia" pitchFamily="34" charset="0"/>
                <a:ea typeface="Georgia" pitchFamily="34" charset="-122"/>
                <a:cs typeface="Georgia" pitchFamily="34" charset="-120"/>
              </a:rPr>
              <a:t>La acción sucede.</a:t>
            </a:r>
            <a:endParaRPr lang="en-US" sz="1800" dirty="0"/>
          </a:p>
        </p:txBody>
      </p:sp>
      <p:sp>
        <p:nvSpPr>
          <p:cNvPr id="32" name="Text 26"/>
          <p:cNvSpPr/>
          <p:nvPr/>
        </p:nvSpPr>
        <p:spPr>
          <a:xfrm>
            <a:off x="1047750" y="8678912"/>
            <a:ext cx="14716125"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i="1" dirty="0">
                <a:solidFill>
                  <a:srgbClr val="3A3A3A"/>
                </a:solidFill>
                <a:latin typeface="Georgia" pitchFamily="34" charset="0"/>
                <a:ea typeface="Georgia" pitchFamily="34" charset="-122"/>
                <a:cs typeface="Georgia" pitchFamily="34" charset="-120"/>
              </a:rPr>
              <a:t>Cada fase tiene un tiempo definido y un entregable físico. </a:t>
            </a:r>
            <a:r>
              <a:rPr lang="en-US" sz="1950" b="1" dirty="0">
                <a:solidFill>
                  <a:srgbClr val="1A1A1A"/>
                </a:solidFill>
                <a:latin typeface="Georgia" pitchFamily="34" charset="0"/>
                <a:ea typeface="Georgia" pitchFamily="34" charset="-122"/>
                <a:cs typeface="Georgia" pitchFamily="34" charset="-120"/>
              </a:rPr>
              <a:t>Nadie sale de la sala sin un plan firmado.</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8596164"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2558713" y="666750"/>
            <a:ext cx="4821984"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04 · LOS 5 PRINCIPIOS NO NEGOCIABLES</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79738" y="9547920"/>
            <a:ext cx="836712"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12 / 32</a:t>
            </a:r>
            <a:endParaRPr lang="en-US" sz="1200" dirty="0"/>
          </a:p>
        </p:txBody>
      </p:sp>
      <p:sp>
        <p:nvSpPr>
          <p:cNvPr id="7" name="Text 4"/>
          <p:cNvSpPr/>
          <p:nvPr/>
        </p:nvSpPr>
        <p:spPr>
          <a:xfrm>
            <a:off x="1047750" y="1714500"/>
            <a:ext cx="16678275"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480" dirty="0">
                <a:solidFill>
                  <a:srgbClr val="D72631"/>
                </a:solidFill>
                <a:latin typeface="-apple-system" pitchFamily="34" charset="0"/>
                <a:ea typeface="-apple-system" pitchFamily="34" charset="-122"/>
                <a:cs typeface="-apple-system" pitchFamily="34" charset="-120"/>
              </a:rPr>
              <a:t>REGLAS OPERATIVAS · NO VALORES DE PÓSTER</a:t>
            </a:r>
            <a:endParaRPr lang="en-US" sz="1200" dirty="0"/>
          </a:p>
        </p:txBody>
      </p:sp>
      <p:sp>
        <p:nvSpPr>
          <p:cNvPr id="8" name="Text 5"/>
          <p:cNvSpPr/>
          <p:nvPr/>
        </p:nvSpPr>
        <p:spPr>
          <a:xfrm>
            <a:off x="1047750" y="2186880"/>
            <a:ext cx="16678275" cy="1485900"/>
          </a:xfrm>
          <a:prstGeom prst="rect">
            <a:avLst/>
          </a:prstGeom>
          <a:noFill/>
          <a:ln/>
        </p:spPr>
        <p:txBody>
          <a:bodyPr wrap="square" lIns="25400" tIns="25400" rIns="25400" bIns="25400" rtlCol="0" anchor="t">
            <a:normAutofit/>
          </a:bodyPr>
          <a:lstStyle/>
          <a:p>
            <a:pPr marL="0" indent="0" algn="l">
              <a:lnSpc>
                <a:spcPct val="100000"/>
              </a:lnSpc>
              <a:buNone/>
            </a:pPr>
            <a:r>
              <a:rPr lang="en-US" sz="5700" b="1" kern="0" spc="-142" dirty="0">
                <a:solidFill>
                  <a:srgbClr val="1A1A1A"/>
                </a:solidFill>
                <a:latin typeface="-apple-system" pitchFamily="34" charset="0"/>
                <a:ea typeface="-apple-system" pitchFamily="34" charset="-122"/>
                <a:cs typeface="-apple-system" pitchFamily="34" charset="-120"/>
              </a:rPr>
              <a:t>Si no se respetan, la metodología </a:t>
            </a:r>
            <a:r>
              <a:rPr lang="en-US" sz="5700" b="1" kern="0" spc="-142" dirty="0">
                <a:solidFill>
                  <a:srgbClr val="D72631"/>
                </a:solidFill>
                <a:latin typeface="-apple-system" pitchFamily="34" charset="0"/>
                <a:ea typeface="-apple-system" pitchFamily="34" charset="-122"/>
                <a:cs typeface="-apple-system" pitchFamily="34" charset="-120"/>
              </a:rPr>
              <a:t>no funciona.</a:t>
            </a:r>
            <a:endParaRPr lang="en-US" sz="5700" dirty="0"/>
          </a:p>
        </p:txBody>
      </p:sp>
      <p:sp>
        <p:nvSpPr>
          <p:cNvPr id="9" name="Shape 6"/>
          <p:cNvSpPr/>
          <p:nvPr/>
        </p:nvSpPr>
        <p:spPr>
          <a:xfrm>
            <a:off x="1047750" y="4053780"/>
            <a:ext cx="16192500" cy="9525"/>
          </a:xfrm>
          <a:prstGeom prst="rect">
            <a:avLst/>
          </a:prstGeom>
          <a:solidFill>
            <a:srgbClr val="1A1A1A"/>
          </a:solidFill>
          <a:ln/>
        </p:spPr>
        <p:txBody>
          <a:bodyPr/>
          <a:lstStyle/>
          <a:p>
            <a:endParaRPr lang="es-EC"/>
          </a:p>
        </p:txBody>
      </p:sp>
      <p:sp>
        <p:nvSpPr>
          <p:cNvPr id="10" name="Shape 7"/>
          <p:cNvSpPr/>
          <p:nvPr/>
        </p:nvSpPr>
        <p:spPr>
          <a:xfrm>
            <a:off x="1047750" y="4894808"/>
            <a:ext cx="16192500" cy="9525"/>
          </a:xfrm>
          <a:prstGeom prst="rect">
            <a:avLst/>
          </a:prstGeom>
          <a:solidFill>
            <a:srgbClr val="C9C6BD"/>
          </a:solidFill>
          <a:ln/>
        </p:spPr>
        <p:txBody>
          <a:bodyPr/>
          <a:lstStyle/>
          <a:p>
            <a:endParaRPr lang="es-EC"/>
          </a:p>
        </p:txBody>
      </p:sp>
      <p:sp>
        <p:nvSpPr>
          <p:cNvPr id="11" name="Text 8"/>
          <p:cNvSpPr/>
          <p:nvPr/>
        </p:nvSpPr>
        <p:spPr>
          <a:xfrm>
            <a:off x="1047750" y="4234755"/>
            <a:ext cx="838200" cy="52670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850" b="1" dirty="0">
                <a:solidFill>
                  <a:srgbClr val="D72631"/>
                </a:solidFill>
                <a:latin typeface="-apple-system" pitchFamily="34" charset="0"/>
                <a:ea typeface="-apple-system" pitchFamily="34" charset="-122"/>
                <a:cs typeface="-apple-system" pitchFamily="34" charset="-120"/>
              </a:rPr>
              <a:t>01</a:t>
            </a:r>
            <a:endParaRPr lang="en-US" sz="2850" dirty="0"/>
          </a:p>
        </p:txBody>
      </p:sp>
      <p:sp>
        <p:nvSpPr>
          <p:cNvPr id="12" name="Text 9"/>
          <p:cNvSpPr/>
          <p:nvPr/>
        </p:nvSpPr>
        <p:spPr>
          <a:xfrm>
            <a:off x="2266950" y="4320480"/>
            <a:ext cx="5606844"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b="1" kern="0" spc="-22" dirty="0">
                <a:solidFill>
                  <a:srgbClr val="1A1A1A"/>
                </a:solidFill>
                <a:latin typeface="-apple-system" pitchFamily="34" charset="0"/>
                <a:ea typeface="-apple-system" pitchFamily="34" charset="-122"/>
                <a:cs typeface="-apple-system" pitchFamily="34" charset="-120"/>
              </a:rPr>
              <a:t>Sin audiencia.</a:t>
            </a:r>
            <a:endParaRPr lang="en-US" sz="2250" dirty="0"/>
          </a:p>
        </p:txBody>
      </p:sp>
      <p:sp>
        <p:nvSpPr>
          <p:cNvPr id="13" name="Text 10"/>
          <p:cNvSpPr/>
          <p:nvPr/>
        </p:nvSpPr>
        <p:spPr>
          <a:xfrm>
            <a:off x="8167687" y="4396680"/>
            <a:ext cx="9344739" cy="34185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650" dirty="0">
                <a:solidFill>
                  <a:srgbClr val="3A3A3A"/>
                </a:solidFill>
                <a:latin typeface="-apple-system" pitchFamily="34" charset="0"/>
                <a:ea typeface="-apple-system" pitchFamily="34" charset="-122"/>
                <a:cs typeface="-apple-system" pitchFamily="34" charset="-120"/>
              </a:rPr>
              <a:t>Si estás en la sala, juegas. Si no, no deberías estar.</a:t>
            </a:r>
            <a:endParaRPr lang="en-US" sz="1650" dirty="0"/>
          </a:p>
        </p:txBody>
      </p:sp>
      <p:sp>
        <p:nvSpPr>
          <p:cNvPr id="14" name="Shape 11"/>
          <p:cNvSpPr/>
          <p:nvPr/>
        </p:nvSpPr>
        <p:spPr>
          <a:xfrm>
            <a:off x="1047750" y="5735836"/>
            <a:ext cx="16192500" cy="9525"/>
          </a:xfrm>
          <a:prstGeom prst="rect">
            <a:avLst/>
          </a:prstGeom>
          <a:solidFill>
            <a:srgbClr val="C9C6BD"/>
          </a:solidFill>
          <a:ln/>
        </p:spPr>
        <p:txBody>
          <a:bodyPr/>
          <a:lstStyle/>
          <a:p>
            <a:endParaRPr lang="es-EC"/>
          </a:p>
        </p:txBody>
      </p:sp>
      <p:sp>
        <p:nvSpPr>
          <p:cNvPr id="15" name="Text 12"/>
          <p:cNvSpPr/>
          <p:nvPr/>
        </p:nvSpPr>
        <p:spPr>
          <a:xfrm>
            <a:off x="1047750" y="5075783"/>
            <a:ext cx="838200" cy="52670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850" b="1" dirty="0">
                <a:solidFill>
                  <a:srgbClr val="D72631"/>
                </a:solidFill>
                <a:latin typeface="-apple-system" pitchFamily="34" charset="0"/>
                <a:ea typeface="-apple-system" pitchFamily="34" charset="-122"/>
                <a:cs typeface="-apple-system" pitchFamily="34" charset="-120"/>
              </a:rPr>
              <a:t>02</a:t>
            </a:r>
            <a:endParaRPr lang="en-US" sz="2850" dirty="0"/>
          </a:p>
        </p:txBody>
      </p:sp>
      <p:sp>
        <p:nvSpPr>
          <p:cNvPr id="16" name="Text 13"/>
          <p:cNvSpPr/>
          <p:nvPr/>
        </p:nvSpPr>
        <p:spPr>
          <a:xfrm>
            <a:off x="2266950" y="5161508"/>
            <a:ext cx="5606844"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b="1" kern="0" spc="-22" dirty="0">
                <a:solidFill>
                  <a:srgbClr val="1A1A1A"/>
                </a:solidFill>
                <a:latin typeface="-apple-system" pitchFamily="34" charset="0"/>
                <a:ea typeface="-apple-system" pitchFamily="34" charset="-122"/>
                <a:cs typeface="-apple-system" pitchFamily="34" charset="-120"/>
              </a:rPr>
              <a:t>El tiempo es sagrado.</a:t>
            </a:r>
            <a:endParaRPr lang="en-US" sz="2250" dirty="0"/>
          </a:p>
        </p:txBody>
      </p:sp>
      <p:sp>
        <p:nvSpPr>
          <p:cNvPr id="17" name="Text 14"/>
          <p:cNvSpPr/>
          <p:nvPr/>
        </p:nvSpPr>
        <p:spPr>
          <a:xfrm>
            <a:off x="8167687" y="5237708"/>
            <a:ext cx="9344739" cy="34185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650" dirty="0">
                <a:solidFill>
                  <a:srgbClr val="3A3A3A"/>
                </a:solidFill>
                <a:latin typeface="-apple-system" pitchFamily="34" charset="0"/>
                <a:ea typeface="-apple-system" pitchFamily="34" charset="-122"/>
                <a:cs typeface="-apple-system" pitchFamily="34" charset="-120"/>
              </a:rPr>
              <a:t>Cada fase tiene reloj. La urgencia no es decorativa, es el método.</a:t>
            </a:r>
            <a:endParaRPr lang="en-US" sz="1650" dirty="0"/>
          </a:p>
        </p:txBody>
      </p:sp>
      <p:sp>
        <p:nvSpPr>
          <p:cNvPr id="18" name="Shape 15"/>
          <p:cNvSpPr/>
          <p:nvPr/>
        </p:nvSpPr>
        <p:spPr>
          <a:xfrm>
            <a:off x="1047750" y="6576864"/>
            <a:ext cx="16192500" cy="9525"/>
          </a:xfrm>
          <a:prstGeom prst="rect">
            <a:avLst/>
          </a:prstGeom>
          <a:solidFill>
            <a:srgbClr val="C9C6BD"/>
          </a:solidFill>
          <a:ln/>
        </p:spPr>
        <p:txBody>
          <a:bodyPr/>
          <a:lstStyle/>
          <a:p>
            <a:endParaRPr lang="es-EC"/>
          </a:p>
        </p:txBody>
      </p:sp>
      <p:sp>
        <p:nvSpPr>
          <p:cNvPr id="19" name="Text 16"/>
          <p:cNvSpPr/>
          <p:nvPr/>
        </p:nvSpPr>
        <p:spPr>
          <a:xfrm>
            <a:off x="1047750" y="5916811"/>
            <a:ext cx="838200" cy="52670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850" b="1" dirty="0">
                <a:solidFill>
                  <a:srgbClr val="D72631"/>
                </a:solidFill>
                <a:latin typeface="-apple-system" pitchFamily="34" charset="0"/>
                <a:ea typeface="-apple-system" pitchFamily="34" charset="-122"/>
                <a:cs typeface="-apple-system" pitchFamily="34" charset="-120"/>
              </a:rPr>
              <a:t>03</a:t>
            </a:r>
            <a:endParaRPr lang="en-US" sz="2850" dirty="0"/>
          </a:p>
        </p:txBody>
      </p:sp>
      <p:sp>
        <p:nvSpPr>
          <p:cNvPr id="20" name="Text 17"/>
          <p:cNvSpPr/>
          <p:nvPr/>
        </p:nvSpPr>
        <p:spPr>
          <a:xfrm>
            <a:off x="2266950" y="6002536"/>
            <a:ext cx="5606844"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b="1" kern="0" spc="-22" dirty="0">
                <a:solidFill>
                  <a:srgbClr val="1A1A1A"/>
                </a:solidFill>
                <a:latin typeface="-apple-system" pitchFamily="34" charset="0"/>
                <a:ea typeface="-apple-system" pitchFamily="34" charset="-122"/>
                <a:cs typeface="-apple-system" pitchFamily="34" charset="-120"/>
              </a:rPr>
              <a:t>La IA alimenta, los humanos deciden.</a:t>
            </a:r>
            <a:endParaRPr lang="en-US" sz="2250" dirty="0"/>
          </a:p>
        </p:txBody>
      </p:sp>
      <p:sp>
        <p:nvSpPr>
          <p:cNvPr id="21" name="Text 18"/>
          <p:cNvSpPr/>
          <p:nvPr/>
        </p:nvSpPr>
        <p:spPr>
          <a:xfrm>
            <a:off x="8167687" y="6078736"/>
            <a:ext cx="9344739" cy="34185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650" dirty="0">
                <a:solidFill>
                  <a:srgbClr val="3A3A3A"/>
                </a:solidFill>
                <a:latin typeface="-apple-system" pitchFamily="34" charset="0"/>
                <a:ea typeface="-apple-system" pitchFamily="34" charset="-122"/>
                <a:cs typeface="-apple-system" pitchFamily="34" charset="-120"/>
              </a:rPr>
              <a:t>El sistema hace visible lo que se necesita ver. La decisión es nuestra.</a:t>
            </a:r>
            <a:endParaRPr lang="en-US" sz="1650" dirty="0"/>
          </a:p>
        </p:txBody>
      </p:sp>
      <p:sp>
        <p:nvSpPr>
          <p:cNvPr id="22" name="Shape 19"/>
          <p:cNvSpPr/>
          <p:nvPr/>
        </p:nvSpPr>
        <p:spPr>
          <a:xfrm>
            <a:off x="1047750" y="7786539"/>
            <a:ext cx="16192500" cy="9525"/>
          </a:xfrm>
          <a:prstGeom prst="rect">
            <a:avLst/>
          </a:prstGeom>
          <a:solidFill>
            <a:srgbClr val="C9C6BD"/>
          </a:solidFill>
          <a:ln/>
        </p:spPr>
        <p:txBody>
          <a:bodyPr/>
          <a:lstStyle/>
          <a:p>
            <a:endParaRPr lang="es-EC"/>
          </a:p>
        </p:txBody>
      </p:sp>
      <p:sp>
        <p:nvSpPr>
          <p:cNvPr id="23" name="Text 20"/>
          <p:cNvSpPr/>
          <p:nvPr/>
        </p:nvSpPr>
        <p:spPr>
          <a:xfrm>
            <a:off x="1047750" y="6757839"/>
            <a:ext cx="838200" cy="52670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850" b="1" dirty="0">
                <a:solidFill>
                  <a:srgbClr val="D72631"/>
                </a:solidFill>
                <a:latin typeface="-apple-system" pitchFamily="34" charset="0"/>
                <a:ea typeface="-apple-system" pitchFamily="34" charset="-122"/>
                <a:cs typeface="-apple-system" pitchFamily="34" charset="-120"/>
              </a:rPr>
              <a:t>04</a:t>
            </a:r>
            <a:endParaRPr lang="en-US" sz="2850" dirty="0"/>
          </a:p>
        </p:txBody>
      </p:sp>
      <p:sp>
        <p:nvSpPr>
          <p:cNvPr id="24" name="Text 21"/>
          <p:cNvSpPr/>
          <p:nvPr/>
        </p:nvSpPr>
        <p:spPr>
          <a:xfrm>
            <a:off x="2266950" y="6843564"/>
            <a:ext cx="5606844" cy="809625"/>
          </a:xfrm>
          <a:prstGeom prst="rect">
            <a:avLst/>
          </a:prstGeom>
          <a:noFill/>
          <a:ln/>
        </p:spPr>
        <p:txBody>
          <a:bodyPr wrap="square" lIns="25400" tIns="25400" rIns="25400" bIns="25400" rtlCol="0" anchor="t">
            <a:normAutofit/>
          </a:bodyPr>
          <a:lstStyle/>
          <a:p>
            <a:pPr marL="0" indent="0" algn="l">
              <a:lnSpc>
                <a:spcPct val="135000"/>
              </a:lnSpc>
              <a:buNone/>
            </a:pPr>
            <a:r>
              <a:rPr lang="en-US" sz="2250" b="1" kern="0" spc="-22" dirty="0">
                <a:solidFill>
                  <a:srgbClr val="1A1A1A"/>
                </a:solidFill>
                <a:latin typeface="-apple-system" pitchFamily="34" charset="0"/>
                <a:ea typeface="-apple-system" pitchFamily="34" charset="-122"/>
                <a:cs typeface="-apple-system" pitchFamily="34" charset="-120"/>
              </a:rPr>
              <a:t>Cada sesión termina con algo en la mano.</a:t>
            </a:r>
            <a:endParaRPr lang="en-US" sz="2250" dirty="0"/>
          </a:p>
        </p:txBody>
      </p:sp>
      <p:sp>
        <p:nvSpPr>
          <p:cNvPr id="25" name="Text 22"/>
          <p:cNvSpPr/>
          <p:nvPr/>
        </p:nvSpPr>
        <p:spPr>
          <a:xfrm>
            <a:off x="8167687" y="6919764"/>
            <a:ext cx="9344739" cy="34185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650" dirty="0">
                <a:solidFill>
                  <a:srgbClr val="3A3A3A"/>
                </a:solidFill>
                <a:latin typeface="-apple-system" pitchFamily="34" charset="0"/>
                <a:ea typeface="-apple-system" pitchFamily="34" charset="-122"/>
                <a:cs typeface="-apple-system" pitchFamily="34" charset="-120"/>
              </a:rPr>
              <a:t>No PDF. No correo. Algo físico, fotografiado y enviado antes de salir.</a:t>
            </a:r>
            <a:endParaRPr lang="en-US" sz="1650" dirty="0"/>
          </a:p>
        </p:txBody>
      </p:sp>
      <p:sp>
        <p:nvSpPr>
          <p:cNvPr id="26" name="Shape 23"/>
          <p:cNvSpPr/>
          <p:nvPr/>
        </p:nvSpPr>
        <p:spPr>
          <a:xfrm>
            <a:off x="1047750" y="8627566"/>
            <a:ext cx="16192500" cy="9525"/>
          </a:xfrm>
          <a:prstGeom prst="rect">
            <a:avLst/>
          </a:prstGeom>
          <a:solidFill>
            <a:srgbClr val="C9C6BD"/>
          </a:solidFill>
          <a:ln/>
        </p:spPr>
        <p:txBody>
          <a:bodyPr/>
          <a:lstStyle/>
          <a:p>
            <a:endParaRPr lang="es-EC"/>
          </a:p>
        </p:txBody>
      </p:sp>
      <p:sp>
        <p:nvSpPr>
          <p:cNvPr id="27" name="Text 24"/>
          <p:cNvSpPr/>
          <p:nvPr/>
        </p:nvSpPr>
        <p:spPr>
          <a:xfrm>
            <a:off x="1047750" y="7967514"/>
            <a:ext cx="838200" cy="52670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850" b="1" dirty="0">
                <a:solidFill>
                  <a:srgbClr val="D72631"/>
                </a:solidFill>
                <a:latin typeface="-apple-system" pitchFamily="34" charset="0"/>
                <a:ea typeface="-apple-system" pitchFamily="34" charset="-122"/>
                <a:cs typeface="-apple-system" pitchFamily="34" charset="-120"/>
              </a:rPr>
              <a:t>05</a:t>
            </a:r>
            <a:endParaRPr lang="en-US" sz="2850" dirty="0"/>
          </a:p>
        </p:txBody>
      </p:sp>
      <p:sp>
        <p:nvSpPr>
          <p:cNvPr id="28" name="Text 25"/>
          <p:cNvSpPr/>
          <p:nvPr/>
        </p:nvSpPr>
        <p:spPr>
          <a:xfrm>
            <a:off x="2266950" y="8053239"/>
            <a:ext cx="5606844"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b="1" kern="0" spc="-22" dirty="0">
                <a:solidFill>
                  <a:srgbClr val="1A1A1A"/>
                </a:solidFill>
                <a:latin typeface="-apple-system" pitchFamily="34" charset="0"/>
                <a:ea typeface="-apple-system" pitchFamily="34" charset="-122"/>
                <a:cs typeface="-apple-system" pitchFamily="34" charset="-120"/>
              </a:rPr>
              <a:t>El problema evoluciona.</a:t>
            </a:r>
            <a:endParaRPr lang="en-US" sz="2250" dirty="0"/>
          </a:p>
        </p:txBody>
      </p:sp>
      <p:sp>
        <p:nvSpPr>
          <p:cNvPr id="29" name="Text 26"/>
          <p:cNvSpPr/>
          <p:nvPr/>
        </p:nvSpPr>
        <p:spPr>
          <a:xfrm>
            <a:off x="8167687" y="8129439"/>
            <a:ext cx="9344739" cy="34185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650" dirty="0">
                <a:solidFill>
                  <a:srgbClr val="3A3A3A"/>
                </a:solidFill>
                <a:latin typeface="-apple-system" pitchFamily="34" charset="0"/>
                <a:ea typeface="-apple-system" pitchFamily="34" charset="-122"/>
                <a:cs typeface="-apple-system" pitchFamily="34" charset="-120"/>
              </a:rPr>
              <a:t>El método se adapta al ritmo del cliente, no al revés.</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10082808"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4045357" y="666750"/>
            <a:ext cx="329074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05 · MODOS DE ACTIVACIÓN</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76166" y="9547920"/>
            <a:ext cx="840284"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13 / 32</a:t>
            </a:r>
            <a:endParaRPr lang="en-US" sz="1200" dirty="0"/>
          </a:p>
        </p:txBody>
      </p:sp>
      <p:sp>
        <p:nvSpPr>
          <p:cNvPr id="7" name="Text 4"/>
          <p:cNvSpPr/>
          <p:nvPr/>
        </p:nvSpPr>
        <p:spPr>
          <a:xfrm>
            <a:off x="1047750" y="1905000"/>
            <a:ext cx="16678275"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480" dirty="0">
                <a:solidFill>
                  <a:srgbClr val="D72631"/>
                </a:solidFill>
                <a:latin typeface="-apple-system" pitchFamily="34" charset="0"/>
                <a:ea typeface="-apple-system" pitchFamily="34" charset="-122"/>
                <a:cs typeface="-apple-system" pitchFamily="34" charset="-120"/>
              </a:rPr>
              <a:t>TRES FORMATOS · MISMO MÉTODO · DISTINTO RITMO</a:t>
            </a:r>
            <a:endParaRPr lang="en-US" sz="1200" dirty="0"/>
          </a:p>
        </p:txBody>
      </p:sp>
      <p:sp>
        <p:nvSpPr>
          <p:cNvPr id="8" name="Text 5"/>
          <p:cNvSpPr/>
          <p:nvPr/>
        </p:nvSpPr>
        <p:spPr>
          <a:xfrm>
            <a:off x="1047750" y="2453580"/>
            <a:ext cx="16678275" cy="1866900"/>
          </a:xfrm>
          <a:prstGeom prst="rect">
            <a:avLst/>
          </a:prstGeom>
          <a:noFill/>
          <a:ln/>
        </p:spPr>
        <p:txBody>
          <a:bodyPr wrap="square" lIns="25400" tIns="25400" rIns="25400" bIns="25400" rtlCol="0" anchor="t">
            <a:normAutofit/>
          </a:bodyPr>
          <a:lstStyle/>
          <a:p>
            <a:pPr marL="0" indent="0" algn="l">
              <a:lnSpc>
                <a:spcPct val="100000"/>
              </a:lnSpc>
              <a:buNone/>
            </a:pPr>
            <a:r>
              <a:rPr lang="en-US" sz="7200" b="1" kern="0" spc="-180" dirty="0">
                <a:solidFill>
                  <a:srgbClr val="1A1A1A"/>
                </a:solidFill>
                <a:latin typeface="-apple-system" pitchFamily="34" charset="0"/>
                <a:ea typeface="-apple-system" pitchFamily="34" charset="-122"/>
                <a:cs typeface="-apple-system" pitchFamily="34" charset="-120"/>
              </a:rPr>
              <a:t>El método se adapta al </a:t>
            </a:r>
            <a:r>
              <a:rPr lang="en-US" sz="7200" b="1" kern="0" spc="-180" dirty="0">
                <a:solidFill>
                  <a:srgbClr val="D72631"/>
                </a:solidFill>
                <a:latin typeface="-apple-system" pitchFamily="34" charset="0"/>
                <a:ea typeface="-apple-system" pitchFamily="34" charset="-122"/>
                <a:cs typeface="-apple-system" pitchFamily="34" charset="-120"/>
              </a:rPr>
              <a:t>pulso del cliente.</a:t>
            </a:r>
            <a:endParaRPr lang="en-US" sz="7200" dirty="0"/>
          </a:p>
        </p:txBody>
      </p:sp>
      <p:sp>
        <p:nvSpPr>
          <p:cNvPr id="9" name="Shape 6"/>
          <p:cNvSpPr/>
          <p:nvPr/>
        </p:nvSpPr>
        <p:spPr>
          <a:xfrm>
            <a:off x="1047750" y="5044380"/>
            <a:ext cx="5194250" cy="3447901"/>
          </a:xfrm>
          <a:prstGeom prst="rect">
            <a:avLst/>
          </a:prstGeom>
          <a:solidFill>
            <a:srgbClr val="F5F4F1"/>
          </a:solidFill>
          <a:ln/>
        </p:spPr>
        <p:txBody>
          <a:bodyPr/>
          <a:lstStyle/>
          <a:p>
            <a:endParaRPr lang="es-EC"/>
          </a:p>
        </p:txBody>
      </p:sp>
      <p:sp>
        <p:nvSpPr>
          <p:cNvPr id="10" name="Shape 7"/>
          <p:cNvSpPr/>
          <p:nvPr/>
        </p:nvSpPr>
        <p:spPr>
          <a:xfrm>
            <a:off x="1047750" y="5044380"/>
            <a:ext cx="5194250" cy="76200"/>
          </a:xfrm>
          <a:prstGeom prst="rect">
            <a:avLst/>
          </a:prstGeom>
          <a:solidFill>
            <a:srgbClr val="D72631"/>
          </a:solidFill>
          <a:ln/>
        </p:spPr>
        <p:txBody>
          <a:bodyPr/>
          <a:lstStyle/>
          <a:p>
            <a:endParaRPr lang="es-EC"/>
          </a:p>
        </p:txBody>
      </p:sp>
      <p:sp>
        <p:nvSpPr>
          <p:cNvPr id="11" name="Text 8"/>
          <p:cNvSpPr/>
          <p:nvPr/>
        </p:nvSpPr>
        <p:spPr>
          <a:xfrm>
            <a:off x="1390650" y="5463480"/>
            <a:ext cx="4643704" cy="75813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4200" b="1" kern="0" spc="84" dirty="0">
                <a:solidFill>
                  <a:srgbClr val="1A1A1A"/>
                </a:solidFill>
                <a:latin typeface="-apple-system" pitchFamily="34" charset="0"/>
                <a:ea typeface="-apple-system" pitchFamily="34" charset="-122"/>
                <a:cs typeface="-apple-system" pitchFamily="34" charset="-120"/>
              </a:rPr>
              <a:t>PULSE</a:t>
            </a:r>
            <a:endParaRPr lang="en-US" sz="4200" dirty="0"/>
          </a:p>
        </p:txBody>
      </p:sp>
      <p:sp>
        <p:nvSpPr>
          <p:cNvPr id="12" name="Text 9"/>
          <p:cNvSpPr/>
          <p:nvPr/>
        </p:nvSpPr>
        <p:spPr>
          <a:xfrm>
            <a:off x="1390650" y="6354961"/>
            <a:ext cx="4643704" cy="346621"/>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3A3A3A"/>
                </a:solidFill>
                <a:latin typeface="Georgia" pitchFamily="34" charset="0"/>
                <a:ea typeface="Georgia" pitchFamily="34" charset="-122"/>
                <a:cs typeface="Georgia" pitchFamily="34" charset="-120"/>
              </a:rPr>
              <a:t>Operación continua</a:t>
            </a:r>
            <a:endParaRPr lang="en-US" sz="1800" dirty="0"/>
          </a:p>
        </p:txBody>
      </p:sp>
      <p:sp>
        <p:nvSpPr>
          <p:cNvPr id="13" name="Shape 10"/>
          <p:cNvSpPr/>
          <p:nvPr/>
        </p:nvSpPr>
        <p:spPr>
          <a:xfrm>
            <a:off x="1390650" y="6911132"/>
            <a:ext cx="4508450" cy="9525"/>
          </a:xfrm>
          <a:prstGeom prst="rect">
            <a:avLst/>
          </a:prstGeom>
          <a:solidFill>
            <a:srgbClr val="C9C6BD"/>
          </a:solidFill>
          <a:ln/>
        </p:spPr>
        <p:txBody>
          <a:bodyPr/>
          <a:lstStyle/>
          <a:p>
            <a:endParaRPr lang="es-EC"/>
          </a:p>
        </p:txBody>
      </p:sp>
      <p:sp>
        <p:nvSpPr>
          <p:cNvPr id="14" name="Text 11"/>
          <p:cNvSpPr/>
          <p:nvPr/>
        </p:nvSpPr>
        <p:spPr>
          <a:xfrm>
            <a:off x="1390650" y="7168307"/>
            <a:ext cx="4643704" cy="981075"/>
          </a:xfrm>
          <a:prstGeom prst="rect">
            <a:avLst/>
          </a:prstGeom>
          <a:noFill/>
          <a:ln/>
        </p:spPr>
        <p:txBody>
          <a:bodyPr wrap="square" lIns="25400" tIns="25400" rIns="25400" bIns="25400" rtlCol="0" anchor="t">
            <a:normAutofit/>
          </a:bodyPr>
          <a:lstStyle/>
          <a:p>
            <a:pPr marL="0" indent="0" algn="l">
              <a:lnSpc>
                <a:spcPct val="150000"/>
              </a:lnSpc>
              <a:buNone/>
            </a:pPr>
            <a:r>
              <a:rPr lang="en-US" sz="1650" dirty="0">
                <a:solidFill>
                  <a:srgbClr val="3A3A3A"/>
                </a:solidFill>
                <a:latin typeface="-apple-system" pitchFamily="34" charset="0"/>
                <a:ea typeface="-apple-system" pitchFamily="34" charset="-122"/>
                <a:cs typeface="-apple-system" pitchFamily="34" charset="-120"/>
              </a:rPr>
              <a:t>Para quien quiere ventaja anticipatoria permanente. Signal Brief semanal + sesión mensual.</a:t>
            </a:r>
            <a:endParaRPr lang="en-US" sz="1650" dirty="0"/>
          </a:p>
        </p:txBody>
      </p:sp>
      <p:sp>
        <p:nvSpPr>
          <p:cNvPr id="15" name="Shape 12"/>
          <p:cNvSpPr/>
          <p:nvPr/>
        </p:nvSpPr>
        <p:spPr>
          <a:xfrm>
            <a:off x="6546800" y="5044380"/>
            <a:ext cx="5194399" cy="3447901"/>
          </a:xfrm>
          <a:prstGeom prst="rect">
            <a:avLst/>
          </a:prstGeom>
          <a:solidFill>
            <a:srgbClr val="F5F4F1"/>
          </a:solidFill>
          <a:ln/>
        </p:spPr>
        <p:txBody>
          <a:bodyPr/>
          <a:lstStyle/>
          <a:p>
            <a:endParaRPr lang="es-EC"/>
          </a:p>
        </p:txBody>
      </p:sp>
      <p:sp>
        <p:nvSpPr>
          <p:cNvPr id="16" name="Shape 13"/>
          <p:cNvSpPr/>
          <p:nvPr/>
        </p:nvSpPr>
        <p:spPr>
          <a:xfrm>
            <a:off x="6546800" y="5044380"/>
            <a:ext cx="5194399" cy="76200"/>
          </a:xfrm>
          <a:prstGeom prst="rect">
            <a:avLst/>
          </a:prstGeom>
          <a:solidFill>
            <a:srgbClr val="F5B400"/>
          </a:solidFill>
          <a:ln/>
        </p:spPr>
        <p:txBody>
          <a:bodyPr/>
          <a:lstStyle/>
          <a:p>
            <a:endParaRPr lang="es-EC"/>
          </a:p>
        </p:txBody>
      </p:sp>
      <p:sp>
        <p:nvSpPr>
          <p:cNvPr id="17" name="Text 14"/>
          <p:cNvSpPr/>
          <p:nvPr/>
        </p:nvSpPr>
        <p:spPr>
          <a:xfrm>
            <a:off x="6889700" y="5463480"/>
            <a:ext cx="4643857" cy="75813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4200" b="1" kern="0" spc="84" dirty="0">
                <a:solidFill>
                  <a:srgbClr val="1A1A1A"/>
                </a:solidFill>
                <a:latin typeface="-apple-system" pitchFamily="34" charset="0"/>
                <a:ea typeface="-apple-system" pitchFamily="34" charset="-122"/>
                <a:cs typeface="-apple-system" pitchFamily="34" charset="-120"/>
              </a:rPr>
              <a:t>SPRINT</a:t>
            </a:r>
            <a:endParaRPr lang="en-US" sz="4200" dirty="0"/>
          </a:p>
        </p:txBody>
      </p:sp>
      <p:sp>
        <p:nvSpPr>
          <p:cNvPr id="18" name="Text 15"/>
          <p:cNvSpPr/>
          <p:nvPr/>
        </p:nvSpPr>
        <p:spPr>
          <a:xfrm>
            <a:off x="6889700" y="6354961"/>
            <a:ext cx="4643857" cy="346621"/>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3A3A3A"/>
                </a:solidFill>
                <a:latin typeface="Georgia" pitchFamily="34" charset="0"/>
                <a:ea typeface="Georgia" pitchFamily="34" charset="-122"/>
                <a:cs typeface="Georgia" pitchFamily="34" charset="-120"/>
              </a:rPr>
              <a:t>Resolución urgente</a:t>
            </a:r>
            <a:endParaRPr lang="en-US" sz="1800" dirty="0"/>
          </a:p>
        </p:txBody>
      </p:sp>
      <p:sp>
        <p:nvSpPr>
          <p:cNvPr id="19" name="Shape 16"/>
          <p:cNvSpPr/>
          <p:nvPr/>
        </p:nvSpPr>
        <p:spPr>
          <a:xfrm>
            <a:off x="6889700" y="6911132"/>
            <a:ext cx="4508599" cy="9525"/>
          </a:xfrm>
          <a:prstGeom prst="rect">
            <a:avLst/>
          </a:prstGeom>
          <a:solidFill>
            <a:srgbClr val="C9C6BD"/>
          </a:solidFill>
          <a:ln/>
        </p:spPr>
        <p:txBody>
          <a:bodyPr/>
          <a:lstStyle/>
          <a:p>
            <a:endParaRPr lang="es-EC"/>
          </a:p>
        </p:txBody>
      </p:sp>
      <p:sp>
        <p:nvSpPr>
          <p:cNvPr id="20" name="Text 17"/>
          <p:cNvSpPr/>
          <p:nvPr/>
        </p:nvSpPr>
        <p:spPr>
          <a:xfrm>
            <a:off x="6889700" y="7168307"/>
            <a:ext cx="4643857" cy="6667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650" dirty="0">
                <a:solidFill>
                  <a:srgbClr val="3A3A3A"/>
                </a:solidFill>
                <a:latin typeface="-apple-system" pitchFamily="34" charset="0"/>
                <a:ea typeface="-apple-system" pitchFamily="34" charset="-122"/>
                <a:cs typeface="-apple-system" pitchFamily="34" charset="-120"/>
              </a:rPr>
              <a:t>Reto que necesita decisión en días. RADAR + sesión de 4–6 horas + Action Board para 72h.</a:t>
            </a:r>
            <a:endParaRPr lang="en-US" sz="1650" dirty="0"/>
          </a:p>
        </p:txBody>
      </p:sp>
      <p:sp>
        <p:nvSpPr>
          <p:cNvPr id="21" name="Shape 18"/>
          <p:cNvSpPr/>
          <p:nvPr/>
        </p:nvSpPr>
        <p:spPr>
          <a:xfrm>
            <a:off x="12046000" y="5044380"/>
            <a:ext cx="5194250" cy="3447901"/>
          </a:xfrm>
          <a:prstGeom prst="rect">
            <a:avLst/>
          </a:prstGeom>
          <a:solidFill>
            <a:srgbClr val="F5F4F1"/>
          </a:solidFill>
          <a:ln/>
        </p:spPr>
        <p:txBody>
          <a:bodyPr/>
          <a:lstStyle/>
          <a:p>
            <a:endParaRPr lang="es-EC"/>
          </a:p>
        </p:txBody>
      </p:sp>
      <p:sp>
        <p:nvSpPr>
          <p:cNvPr id="22" name="Shape 19"/>
          <p:cNvSpPr/>
          <p:nvPr/>
        </p:nvSpPr>
        <p:spPr>
          <a:xfrm>
            <a:off x="12046000" y="5044380"/>
            <a:ext cx="5194250" cy="76200"/>
          </a:xfrm>
          <a:prstGeom prst="rect">
            <a:avLst/>
          </a:prstGeom>
          <a:solidFill>
            <a:srgbClr val="0B3D7E"/>
          </a:solidFill>
          <a:ln/>
        </p:spPr>
        <p:txBody>
          <a:bodyPr/>
          <a:lstStyle/>
          <a:p>
            <a:endParaRPr lang="es-EC"/>
          </a:p>
        </p:txBody>
      </p:sp>
      <p:sp>
        <p:nvSpPr>
          <p:cNvPr id="23" name="Text 20"/>
          <p:cNvSpPr/>
          <p:nvPr/>
        </p:nvSpPr>
        <p:spPr>
          <a:xfrm>
            <a:off x="12388900" y="5463480"/>
            <a:ext cx="4643704" cy="75813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4200" b="1" kern="0" spc="84" dirty="0">
                <a:solidFill>
                  <a:srgbClr val="1A1A1A"/>
                </a:solidFill>
                <a:latin typeface="-apple-system" pitchFamily="34" charset="0"/>
                <a:ea typeface="-apple-system" pitchFamily="34" charset="-122"/>
                <a:cs typeface="-apple-system" pitchFamily="34" charset="-120"/>
              </a:rPr>
              <a:t>TRANSFORM</a:t>
            </a:r>
            <a:endParaRPr lang="en-US" sz="4200" dirty="0"/>
          </a:p>
        </p:txBody>
      </p:sp>
      <p:sp>
        <p:nvSpPr>
          <p:cNvPr id="24" name="Text 21"/>
          <p:cNvSpPr/>
          <p:nvPr/>
        </p:nvSpPr>
        <p:spPr>
          <a:xfrm>
            <a:off x="12388900" y="6354961"/>
            <a:ext cx="4643704" cy="346621"/>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3A3A3A"/>
                </a:solidFill>
                <a:latin typeface="Georgia" pitchFamily="34" charset="0"/>
                <a:ea typeface="Georgia" pitchFamily="34" charset="-122"/>
                <a:cs typeface="Georgia" pitchFamily="34" charset="-120"/>
              </a:rPr>
              <a:t>Cambio profundo</a:t>
            </a:r>
            <a:endParaRPr lang="en-US" sz="1800" dirty="0"/>
          </a:p>
        </p:txBody>
      </p:sp>
      <p:sp>
        <p:nvSpPr>
          <p:cNvPr id="25" name="Shape 22"/>
          <p:cNvSpPr/>
          <p:nvPr/>
        </p:nvSpPr>
        <p:spPr>
          <a:xfrm>
            <a:off x="12388900" y="6911132"/>
            <a:ext cx="4508450" cy="9525"/>
          </a:xfrm>
          <a:prstGeom prst="rect">
            <a:avLst/>
          </a:prstGeom>
          <a:solidFill>
            <a:srgbClr val="C9C6BD"/>
          </a:solidFill>
          <a:ln/>
        </p:spPr>
        <p:txBody>
          <a:bodyPr/>
          <a:lstStyle/>
          <a:p>
            <a:endParaRPr lang="es-EC"/>
          </a:p>
        </p:txBody>
      </p:sp>
      <p:sp>
        <p:nvSpPr>
          <p:cNvPr id="26" name="Text 23"/>
          <p:cNvSpPr/>
          <p:nvPr/>
        </p:nvSpPr>
        <p:spPr>
          <a:xfrm>
            <a:off x="12388900" y="7168307"/>
            <a:ext cx="4643704" cy="6667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650" dirty="0">
                <a:solidFill>
                  <a:srgbClr val="3A3A3A"/>
                </a:solidFill>
                <a:latin typeface="-apple-system" pitchFamily="34" charset="0"/>
                <a:ea typeface="-apple-system" pitchFamily="34" charset="-122"/>
                <a:cs typeface="-apple-system" pitchFamily="34" charset="-120"/>
              </a:rPr>
              <a:t>Cuando el cambio necesita instalarse, no solo diseñarse. Programa de 3–6 meses.</a:t>
            </a:r>
            <a:endParaRPr lang="en-US" sz="1650" dirty="0"/>
          </a:p>
        </p:txBody>
      </p:sp>
      <p:sp>
        <p:nvSpPr>
          <p:cNvPr id="27" name="Text 24"/>
          <p:cNvSpPr/>
          <p:nvPr/>
        </p:nvSpPr>
        <p:spPr>
          <a:xfrm>
            <a:off x="1047750" y="9025682"/>
            <a:ext cx="14716125" cy="39811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i="1" dirty="0">
                <a:solidFill>
                  <a:srgbClr val="3A3A3A"/>
                </a:solidFill>
                <a:latin typeface="Georgia" pitchFamily="34" charset="0"/>
                <a:ea typeface="Georgia" pitchFamily="34" charset="-122"/>
                <a:cs typeface="Georgia" pitchFamily="34" charset="-120"/>
              </a:rPr>
              <a:t>Para SECOM proponemos </a:t>
            </a:r>
            <a:r>
              <a:rPr lang="en-US" sz="2100" b="1" dirty="0">
                <a:solidFill>
                  <a:srgbClr val="1A1A1A"/>
                </a:solidFill>
                <a:latin typeface="Georgia" pitchFamily="34" charset="0"/>
                <a:ea typeface="Georgia" pitchFamily="34" charset="-122"/>
                <a:cs typeface="Georgia" pitchFamily="34" charset="-120"/>
              </a:rPr>
              <a:t>PULSE + un SPRINT inicial </a:t>
            </a:r>
            <a:r>
              <a:rPr lang="en-US" sz="2100" i="1" dirty="0">
                <a:solidFill>
                  <a:srgbClr val="3A3A3A"/>
                </a:solidFill>
                <a:latin typeface="Georgia" pitchFamily="34" charset="0"/>
                <a:ea typeface="Georgia" pitchFamily="34" charset="-122"/>
                <a:cs typeface="Georgia" pitchFamily="34" charset="-120"/>
              </a:rPr>
              <a:t>de activación pre-Mundial.</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1A1A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12420154"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FFFFFF">
                    <a:alpha val="55000"/>
                  </a:srgbClr>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6382702" y="666750"/>
            <a:ext cx="933748"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FFFFFF">
                    <a:alpha val="55000"/>
                  </a:srgbClr>
                </a:solidFill>
                <a:latin typeface="-apple-system" pitchFamily="34" charset="0"/>
                <a:ea typeface="-apple-system" pitchFamily="34" charset="-122"/>
                <a:cs typeface="-apple-system" pitchFamily="34" charset="-120"/>
              </a:rPr>
              <a:t>ACTO II</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FFFFFF">
                    <a:alpha val="50000"/>
                  </a:srgbClr>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73636" y="9547920"/>
            <a:ext cx="842814"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FFFFFF">
                    <a:alpha val="50000"/>
                  </a:srgbClr>
                </a:solidFill>
                <a:latin typeface="-apple-system" pitchFamily="34" charset="0"/>
                <a:ea typeface="-apple-system" pitchFamily="34" charset="-122"/>
                <a:cs typeface="-apple-system" pitchFamily="34" charset="-120"/>
              </a:rPr>
              <a:t>14 / 32</a:t>
            </a:r>
            <a:endParaRPr lang="en-US" sz="1200" dirty="0"/>
          </a:p>
        </p:txBody>
      </p:sp>
      <p:sp>
        <p:nvSpPr>
          <p:cNvPr id="7" name="Text 4"/>
          <p:cNvSpPr/>
          <p:nvPr/>
        </p:nvSpPr>
        <p:spPr>
          <a:xfrm>
            <a:off x="1047750" y="1982688"/>
            <a:ext cx="12951110" cy="32087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b="1" kern="0" spc="528" dirty="0">
                <a:solidFill>
                  <a:srgbClr val="D72631"/>
                </a:solidFill>
                <a:latin typeface="-apple-system" pitchFamily="34" charset="0"/>
                <a:ea typeface="-apple-system" pitchFamily="34" charset="-122"/>
                <a:cs typeface="-apple-system" pitchFamily="34" charset="-120"/>
              </a:rPr>
              <a:t>ACTO II · SEGUNDA PARTE</a:t>
            </a:r>
            <a:endParaRPr lang="en-US" sz="1650" dirty="0"/>
          </a:p>
        </p:txBody>
      </p:sp>
      <p:sp>
        <p:nvSpPr>
          <p:cNvPr id="8" name="Text 5"/>
          <p:cNvSpPr/>
          <p:nvPr/>
        </p:nvSpPr>
        <p:spPr>
          <a:xfrm>
            <a:off x="1047750" y="2836962"/>
            <a:ext cx="12951110" cy="2390775"/>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9750" b="1" kern="0" spc="-292" dirty="0">
                <a:solidFill>
                  <a:srgbClr val="FFFFFF"/>
                </a:solidFill>
                <a:latin typeface="-apple-system" pitchFamily="34" charset="0"/>
                <a:ea typeface="-apple-system" pitchFamily="34" charset="-122"/>
                <a:cs typeface="-apple-system" pitchFamily="34" charset="-120"/>
              </a:rPr>
              <a:t>Hasta aquí hablamos del </a:t>
            </a:r>
            <a:r>
              <a:rPr lang="en-US" sz="9750" b="1" kern="0" spc="-292" dirty="0">
                <a:solidFill>
                  <a:srgbClr val="FFFFFF">
                    <a:alpha val="40000"/>
                  </a:srgbClr>
                </a:solidFill>
                <a:latin typeface="-apple-system" pitchFamily="34" charset="0"/>
                <a:ea typeface="-apple-system" pitchFamily="34" charset="-122"/>
                <a:cs typeface="-apple-system" pitchFamily="34" charset="-120"/>
              </a:rPr>
              <a:t>método.</a:t>
            </a:r>
            <a:endParaRPr lang="en-US" sz="9750" dirty="0"/>
          </a:p>
        </p:txBody>
      </p:sp>
      <p:sp>
        <p:nvSpPr>
          <p:cNvPr id="9" name="Text 6"/>
          <p:cNvSpPr/>
          <p:nvPr/>
        </p:nvSpPr>
        <p:spPr>
          <a:xfrm>
            <a:off x="1047750" y="5951637"/>
            <a:ext cx="12951110" cy="2390775"/>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9750" b="1" kern="0" spc="-292" dirty="0">
                <a:solidFill>
                  <a:srgbClr val="FFFFFF"/>
                </a:solidFill>
                <a:latin typeface="-apple-system" pitchFamily="34" charset="0"/>
                <a:ea typeface="-apple-system" pitchFamily="34" charset="-122"/>
                <a:cs typeface="-apple-system" pitchFamily="34" charset="-120"/>
              </a:rPr>
              <a:t>Ahora les mostramos </a:t>
            </a:r>
            <a:r>
              <a:rPr lang="en-US" sz="9750" b="1" kern="0" spc="-292" dirty="0">
                <a:solidFill>
                  <a:srgbClr val="D72631"/>
                </a:solidFill>
                <a:latin typeface="-apple-system" pitchFamily="34" charset="0"/>
                <a:ea typeface="-apple-system" pitchFamily="34" charset="-122"/>
                <a:cs typeface="-apple-system" pitchFamily="34" charset="-120"/>
              </a:rPr>
              <a:t>lo que ya escuchamos.</a:t>
            </a:r>
            <a:endParaRPr lang="en-US" sz="9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9223772"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3186321" y="666750"/>
            <a:ext cx="4175547"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07 · EL RADAR YA ESTÁ CORRIENDO</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77506" y="9547920"/>
            <a:ext cx="838944"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15 / 32</a:t>
            </a:r>
            <a:endParaRPr lang="en-US" sz="1200" dirty="0"/>
          </a:p>
        </p:txBody>
      </p:sp>
      <p:sp>
        <p:nvSpPr>
          <p:cNvPr id="7" name="Text 4"/>
          <p:cNvSpPr/>
          <p:nvPr/>
        </p:nvSpPr>
        <p:spPr>
          <a:xfrm>
            <a:off x="1047750" y="1905000"/>
            <a:ext cx="16678275"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480" dirty="0">
                <a:solidFill>
                  <a:srgbClr val="D72631"/>
                </a:solidFill>
                <a:latin typeface="-apple-system" pitchFamily="34" charset="0"/>
                <a:ea typeface="-apple-system" pitchFamily="34" charset="-122"/>
                <a:cs typeface="-apple-system" pitchFamily="34" charset="-120"/>
              </a:rPr>
              <a:t>SIGNAL BRIEF SECOM · ABRIL 2025 — ABRIL 2026</a:t>
            </a:r>
            <a:endParaRPr lang="en-US" sz="1200" dirty="0"/>
          </a:p>
        </p:txBody>
      </p:sp>
      <p:sp>
        <p:nvSpPr>
          <p:cNvPr id="8" name="Text 5"/>
          <p:cNvSpPr/>
          <p:nvPr/>
        </p:nvSpPr>
        <p:spPr>
          <a:xfrm>
            <a:off x="895209" y="2512009"/>
            <a:ext cx="10656161" cy="278130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24000" b="1" kern="0" spc="-960" dirty="0">
                <a:solidFill>
                  <a:srgbClr val="D72631"/>
                </a:solidFill>
                <a:latin typeface="-apple-system" pitchFamily="34" charset="0"/>
                <a:ea typeface="-apple-system" pitchFamily="34" charset="-122"/>
                <a:cs typeface="-apple-system" pitchFamily="34" charset="-120"/>
              </a:rPr>
              <a:t>20.527</a:t>
            </a:r>
            <a:endParaRPr lang="en-US" sz="24000" dirty="0"/>
          </a:p>
        </p:txBody>
      </p:sp>
      <p:sp>
        <p:nvSpPr>
          <p:cNvPr id="9" name="Text 6"/>
          <p:cNvSpPr/>
          <p:nvPr/>
        </p:nvSpPr>
        <p:spPr>
          <a:xfrm>
            <a:off x="1047750" y="5425380"/>
            <a:ext cx="6867525" cy="44946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400" i="1" dirty="0">
                <a:solidFill>
                  <a:srgbClr val="3A3A3A"/>
                </a:solidFill>
                <a:latin typeface="Georgia" pitchFamily="34" charset="0"/>
                <a:ea typeface="Georgia" pitchFamily="34" charset="-122"/>
                <a:cs typeface="Georgia" pitchFamily="34" charset="-120"/>
              </a:rPr>
              <a:t>menciones procesadas en los últimos 12 meses.</a:t>
            </a:r>
            <a:endParaRPr lang="en-US" sz="2400" dirty="0"/>
          </a:p>
        </p:txBody>
      </p:sp>
      <p:sp>
        <p:nvSpPr>
          <p:cNvPr id="10" name="Text 7"/>
          <p:cNvSpPr/>
          <p:nvPr/>
        </p:nvSpPr>
        <p:spPr>
          <a:xfrm>
            <a:off x="12155537" y="4427041"/>
            <a:ext cx="5237254" cy="10668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i="1" dirty="0">
                <a:solidFill>
                  <a:srgbClr val="3A3A3A"/>
                </a:solidFill>
                <a:latin typeface="Georgia" pitchFamily="34" charset="0"/>
                <a:ea typeface="Georgia" pitchFamily="34" charset="-122"/>
                <a:cs typeface="Georgia" pitchFamily="34" charset="-120"/>
              </a:rPr>
              <a:t>Esto es lo que el RADAR entrega antes de que cualquier sesión empiece. </a:t>
            </a:r>
            <a:r>
              <a:rPr lang="en-US" sz="1800" b="1" dirty="0">
                <a:solidFill>
                  <a:srgbClr val="D72631"/>
                </a:solidFill>
                <a:latin typeface="Georgia" pitchFamily="34" charset="0"/>
                <a:ea typeface="Georgia" pitchFamily="34" charset="-122"/>
                <a:cs typeface="Georgia" pitchFamily="34" charset="-120"/>
              </a:rPr>
              <a:t>Para cualquier cliente. SECOM ya lo tiene.</a:t>
            </a:r>
            <a:endParaRPr lang="en-US" sz="1800" dirty="0"/>
          </a:p>
        </p:txBody>
      </p:sp>
      <p:sp>
        <p:nvSpPr>
          <p:cNvPr id="11" name="Shape 8"/>
          <p:cNvSpPr/>
          <p:nvPr/>
        </p:nvSpPr>
        <p:spPr>
          <a:xfrm>
            <a:off x="1047750" y="8551366"/>
            <a:ext cx="16192500" cy="9525"/>
          </a:xfrm>
          <a:prstGeom prst="rect">
            <a:avLst/>
          </a:prstGeom>
          <a:solidFill>
            <a:srgbClr val="C9C6BD"/>
          </a:solidFill>
          <a:ln/>
        </p:spPr>
        <p:txBody>
          <a:bodyPr/>
          <a:lstStyle/>
          <a:p>
            <a:endParaRPr lang="es-EC"/>
          </a:p>
        </p:txBody>
      </p:sp>
      <p:sp>
        <p:nvSpPr>
          <p:cNvPr id="12" name="Shape 9"/>
          <p:cNvSpPr/>
          <p:nvPr/>
        </p:nvSpPr>
        <p:spPr>
          <a:xfrm>
            <a:off x="1047750" y="6598741"/>
            <a:ext cx="16192500" cy="9525"/>
          </a:xfrm>
          <a:prstGeom prst="rect">
            <a:avLst/>
          </a:prstGeom>
          <a:solidFill>
            <a:srgbClr val="1A1A1A"/>
          </a:solidFill>
          <a:ln/>
        </p:spPr>
        <p:txBody>
          <a:bodyPr/>
          <a:lstStyle/>
          <a:p>
            <a:endParaRPr lang="es-EC"/>
          </a:p>
        </p:txBody>
      </p:sp>
      <p:sp>
        <p:nvSpPr>
          <p:cNvPr id="13" name="Text 10"/>
          <p:cNvSpPr/>
          <p:nvPr/>
        </p:nvSpPr>
        <p:spPr>
          <a:xfrm>
            <a:off x="1314450" y="6913066"/>
            <a:ext cx="3612809" cy="952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200" b="1" kern="0" spc="-216" dirty="0">
                <a:solidFill>
                  <a:srgbClr val="D72631"/>
                </a:solidFill>
                <a:latin typeface="-apple-system" pitchFamily="34" charset="0"/>
                <a:ea typeface="-apple-system" pitchFamily="34" charset="-122"/>
                <a:cs typeface="-apple-system" pitchFamily="34" charset="-120"/>
              </a:rPr>
              <a:t>11</a:t>
            </a:r>
            <a:endParaRPr lang="en-US" sz="7200" dirty="0"/>
          </a:p>
        </p:txBody>
      </p:sp>
      <p:sp>
        <p:nvSpPr>
          <p:cNvPr id="14" name="Text 11"/>
          <p:cNvSpPr/>
          <p:nvPr/>
        </p:nvSpPr>
        <p:spPr>
          <a:xfrm>
            <a:off x="1314450" y="7979866"/>
            <a:ext cx="3139440"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3A3A"/>
                </a:solidFill>
                <a:latin typeface="-apple-system" pitchFamily="34" charset="0"/>
                <a:ea typeface="-apple-system" pitchFamily="34" charset="-122"/>
                <a:cs typeface="-apple-system" pitchFamily="34" charset="-120"/>
              </a:rPr>
              <a:t>Territorios temáticos del país</a:t>
            </a:r>
            <a:endParaRPr lang="en-US" sz="1500" dirty="0"/>
          </a:p>
        </p:txBody>
      </p:sp>
      <p:sp>
        <p:nvSpPr>
          <p:cNvPr id="15" name="Shape 12"/>
          <p:cNvSpPr/>
          <p:nvPr/>
        </p:nvSpPr>
        <p:spPr>
          <a:xfrm>
            <a:off x="5088731" y="6608266"/>
            <a:ext cx="9525" cy="1943100"/>
          </a:xfrm>
          <a:prstGeom prst="rect">
            <a:avLst/>
          </a:prstGeom>
          <a:solidFill>
            <a:srgbClr val="C9C6BD"/>
          </a:solidFill>
          <a:ln/>
        </p:spPr>
        <p:txBody>
          <a:bodyPr/>
          <a:lstStyle/>
          <a:p>
            <a:endParaRPr lang="es-EC"/>
          </a:p>
        </p:txBody>
      </p:sp>
      <p:sp>
        <p:nvSpPr>
          <p:cNvPr id="16" name="Text 13"/>
          <p:cNvSpPr/>
          <p:nvPr/>
        </p:nvSpPr>
        <p:spPr>
          <a:xfrm>
            <a:off x="5364956" y="6913066"/>
            <a:ext cx="3612809" cy="952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200" b="1" kern="0" spc="-216" dirty="0">
                <a:solidFill>
                  <a:srgbClr val="D72631"/>
                </a:solidFill>
                <a:latin typeface="-apple-system" pitchFamily="34" charset="0"/>
                <a:ea typeface="-apple-system" pitchFamily="34" charset="-122"/>
                <a:cs typeface="-apple-system" pitchFamily="34" charset="-120"/>
              </a:rPr>
              <a:t>3</a:t>
            </a:r>
            <a:endParaRPr lang="en-US" sz="7200" dirty="0"/>
          </a:p>
        </p:txBody>
      </p:sp>
      <p:sp>
        <p:nvSpPr>
          <p:cNvPr id="17" name="Text 14"/>
          <p:cNvSpPr/>
          <p:nvPr/>
        </p:nvSpPr>
        <p:spPr>
          <a:xfrm>
            <a:off x="5364956" y="7979866"/>
            <a:ext cx="3139440"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3A3A"/>
                </a:solidFill>
                <a:latin typeface="-apple-system" pitchFamily="34" charset="0"/>
                <a:ea typeface="-apple-system" pitchFamily="34" charset="-122"/>
                <a:cs typeface="-apple-system" pitchFamily="34" charset="-120"/>
              </a:rPr>
              <a:t>Niveles de árbol IA por mención</a:t>
            </a:r>
            <a:endParaRPr lang="en-US" sz="1500" dirty="0"/>
          </a:p>
        </p:txBody>
      </p:sp>
      <p:sp>
        <p:nvSpPr>
          <p:cNvPr id="18" name="Shape 15"/>
          <p:cNvSpPr/>
          <p:nvPr/>
        </p:nvSpPr>
        <p:spPr>
          <a:xfrm>
            <a:off x="9139238" y="6608266"/>
            <a:ext cx="9525" cy="1943100"/>
          </a:xfrm>
          <a:prstGeom prst="rect">
            <a:avLst/>
          </a:prstGeom>
          <a:solidFill>
            <a:srgbClr val="C9C6BD"/>
          </a:solidFill>
          <a:ln/>
        </p:spPr>
        <p:txBody>
          <a:bodyPr/>
          <a:lstStyle/>
          <a:p>
            <a:endParaRPr lang="es-EC"/>
          </a:p>
        </p:txBody>
      </p:sp>
      <p:sp>
        <p:nvSpPr>
          <p:cNvPr id="19" name="Text 16"/>
          <p:cNvSpPr/>
          <p:nvPr/>
        </p:nvSpPr>
        <p:spPr>
          <a:xfrm>
            <a:off x="9415463" y="6913066"/>
            <a:ext cx="3612809" cy="952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200" b="1" kern="0" spc="-216" dirty="0">
                <a:solidFill>
                  <a:srgbClr val="D72631"/>
                </a:solidFill>
                <a:latin typeface="-apple-system" pitchFamily="34" charset="0"/>
                <a:ea typeface="-apple-system" pitchFamily="34" charset="-122"/>
                <a:cs typeface="-apple-system" pitchFamily="34" charset="-120"/>
              </a:rPr>
              <a:t>8</a:t>
            </a:r>
            <a:endParaRPr lang="en-US" sz="7200" dirty="0"/>
          </a:p>
        </p:txBody>
      </p:sp>
      <p:sp>
        <p:nvSpPr>
          <p:cNvPr id="20" name="Text 17"/>
          <p:cNvSpPr/>
          <p:nvPr/>
        </p:nvSpPr>
        <p:spPr>
          <a:xfrm>
            <a:off x="9415463" y="7979866"/>
            <a:ext cx="3139440"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3A3A"/>
                </a:solidFill>
                <a:latin typeface="-apple-system" pitchFamily="34" charset="0"/>
                <a:ea typeface="-apple-system" pitchFamily="34" charset="-122"/>
                <a:cs typeface="-apple-system" pitchFamily="34" charset="-120"/>
              </a:rPr>
              <a:t>Emociones detectadas</a:t>
            </a:r>
            <a:endParaRPr lang="en-US" sz="1500" dirty="0"/>
          </a:p>
        </p:txBody>
      </p:sp>
      <p:sp>
        <p:nvSpPr>
          <p:cNvPr id="21" name="Shape 18"/>
          <p:cNvSpPr/>
          <p:nvPr/>
        </p:nvSpPr>
        <p:spPr>
          <a:xfrm>
            <a:off x="13189744" y="6608266"/>
            <a:ext cx="9525" cy="1943100"/>
          </a:xfrm>
          <a:prstGeom prst="rect">
            <a:avLst/>
          </a:prstGeom>
          <a:solidFill>
            <a:srgbClr val="C9C6BD"/>
          </a:solidFill>
          <a:ln/>
        </p:spPr>
        <p:txBody>
          <a:bodyPr/>
          <a:lstStyle/>
          <a:p>
            <a:endParaRPr lang="es-EC"/>
          </a:p>
        </p:txBody>
      </p:sp>
      <p:sp>
        <p:nvSpPr>
          <p:cNvPr id="22" name="Text 19"/>
          <p:cNvSpPr/>
          <p:nvPr/>
        </p:nvSpPr>
        <p:spPr>
          <a:xfrm>
            <a:off x="13465969" y="6913066"/>
            <a:ext cx="3612809" cy="952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200" b="1" kern="0" spc="-216" dirty="0">
                <a:solidFill>
                  <a:srgbClr val="D72631"/>
                </a:solidFill>
                <a:latin typeface="-apple-system" pitchFamily="34" charset="0"/>
                <a:ea typeface="-apple-system" pitchFamily="34" charset="-122"/>
                <a:cs typeface="-apple-system" pitchFamily="34" charset="-120"/>
              </a:rPr>
              <a:t>15</a:t>
            </a:r>
            <a:endParaRPr lang="en-US" sz="7200" dirty="0"/>
          </a:p>
        </p:txBody>
      </p:sp>
      <p:sp>
        <p:nvSpPr>
          <p:cNvPr id="23" name="Text 20"/>
          <p:cNvSpPr/>
          <p:nvPr/>
        </p:nvSpPr>
        <p:spPr>
          <a:xfrm>
            <a:off x="13465969" y="7979866"/>
            <a:ext cx="3139440"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3A3A"/>
                </a:solidFill>
                <a:latin typeface="-apple-system" pitchFamily="34" charset="0"/>
                <a:ea typeface="-apple-system" pitchFamily="34" charset="-122"/>
                <a:cs typeface="-apple-system" pitchFamily="34" charset="-120"/>
              </a:rPr>
              <a:t>Oportunidades sintetizadas</a:t>
            </a:r>
            <a:endParaRPr lang="en-US" sz="1500" dirty="0"/>
          </a:p>
        </p:txBody>
      </p:sp>
      <p:sp>
        <p:nvSpPr>
          <p:cNvPr id="24" name="Text 21"/>
          <p:cNvSpPr/>
          <p:nvPr/>
        </p:nvSpPr>
        <p:spPr>
          <a:xfrm>
            <a:off x="1047750" y="8789491"/>
            <a:ext cx="3837230"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kern="0" spc="294" dirty="0">
                <a:solidFill>
                  <a:srgbClr val="6B6B6B"/>
                </a:solidFill>
                <a:latin typeface="-apple-system" pitchFamily="34" charset="0"/>
                <a:ea typeface="-apple-system" pitchFamily="34" charset="-122"/>
                <a:cs typeface="-apple-system" pitchFamily="34" charset="-120"/>
              </a:rPr>
              <a:t>FUENTE · YOUSCAN + SIGNALS ENGINE</a:t>
            </a:r>
            <a:endParaRPr lang="en-US" sz="1050" dirty="0"/>
          </a:p>
        </p:txBody>
      </p:sp>
      <p:sp>
        <p:nvSpPr>
          <p:cNvPr id="25" name="Text 22"/>
          <p:cNvSpPr/>
          <p:nvPr/>
        </p:nvSpPr>
        <p:spPr>
          <a:xfrm>
            <a:off x="11820525" y="8789491"/>
            <a:ext cx="5582317"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kern="0" spc="294" dirty="0">
                <a:solidFill>
                  <a:srgbClr val="6B6B6B"/>
                </a:solidFill>
                <a:latin typeface="-apple-system" pitchFamily="34" charset="0"/>
                <a:ea typeface="-apple-system" pitchFamily="34" charset="-122"/>
                <a:cs typeface="-apple-system" pitchFamily="34" charset="-120"/>
              </a:rPr>
              <a:t>PROCESAMIENTO · GEMINI 2.5 FLASH + CLAUDE SONNET</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10514707"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4477256" y="666750"/>
            <a:ext cx="2845884"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08 · EL ÁRBOL DEL PAÍS</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74678" y="9547920"/>
            <a:ext cx="841772"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16 / 32</a:t>
            </a:r>
            <a:endParaRPr lang="en-US" sz="1200" dirty="0"/>
          </a:p>
        </p:txBody>
      </p:sp>
      <p:sp>
        <p:nvSpPr>
          <p:cNvPr id="7" name="Text 4"/>
          <p:cNvSpPr/>
          <p:nvPr/>
        </p:nvSpPr>
        <p:spPr>
          <a:xfrm>
            <a:off x="1047750" y="1714500"/>
            <a:ext cx="16678275"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480" dirty="0">
                <a:solidFill>
                  <a:srgbClr val="D72631"/>
                </a:solidFill>
                <a:latin typeface="-apple-system" pitchFamily="34" charset="0"/>
                <a:ea typeface="-apple-system" pitchFamily="34" charset="-122"/>
                <a:cs typeface="-apple-system" pitchFamily="34" charset="-120"/>
              </a:rPr>
              <a:t>CÓMO ORGANIZAMOS LAS 20.527 MENCIONES</a:t>
            </a:r>
            <a:endParaRPr lang="en-US" sz="1200" dirty="0"/>
          </a:p>
        </p:txBody>
      </p:sp>
      <p:sp>
        <p:nvSpPr>
          <p:cNvPr id="8" name="Text 5"/>
          <p:cNvSpPr/>
          <p:nvPr/>
        </p:nvSpPr>
        <p:spPr>
          <a:xfrm>
            <a:off x="1047750" y="2148780"/>
            <a:ext cx="16678275" cy="1409700"/>
          </a:xfrm>
          <a:prstGeom prst="rect">
            <a:avLst/>
          </a:prstGeom>
          <a:noFill/>
          <a:ln/>
        </p:spPr>
        <p:txBody>
          <a:bodyPr wrap="square" lIns="25400" tIns="25400" rIns="25400" bIns="25400" rtlCol="0" anchor="t">
            <a:normAutofit/>
          </a:bodyPr>
          <a:lstStyle/>
          <a:p>
            <a:pPr marL="0" indent="0" algn="l">
              <a:lnSpc>
                <a:spcPct val="100000"/>
              </a:lnSpc>
              <a:buNone/>
            </a:pPr>
            <a:r>
              <a:rPr lang="en-US" sz="5400" b="1" kern="0" spc="-108" dirty="0">
                <a:solidFill>
                  <a:srgbClr val="1A1A1A"/>
                </a:solidFill>
                <a:latin typeface="-apple-system" pitchFamily="34" charset="0"/>
                <a:ea typeface="-apple-system" pitchFamily="34" charset="-122"/>
                <a:cs typeface="-apple-system" pitchFamily="34" charset="-120"/>
              </a:rPr>
              <a:t>No es un dashboard. Es un </a:t>
            </a:r>
            <a:r>
              <a:rPr lang="en-US" sz="5400" b="1" kern="0" spc="-108" dirty="0">
                <a:solidFill>
                  <a:srgbClr val="D72631"/>
                </a:solidFill>
                <a:latin typeface="-apple-system" pitchFamily="34" charset="0"/>
                <a:ea typeface="-apple-system" pitchFamily="34" charset="-122"/>
                <a:cs typeface="-apple-system" pitchFamily="34" charset="-120"/>
              </a:rPr>
              <a:t>mapa emocional.</a:t>
            </a:r>
            <a:endParaRPr lang="en-US" sz="5400" dirty="0"/>
          </a:p>
        </p:txBody>
      </p:sp>
      <p:sp>
        <p:nvSpPr>
          <p:cNvPr id="9" name="Shape 6"/>
          <p:cNvSpPr/>
          <p:nvPr/>
        </p:nvSpPr>
        <p:spPr>
          <a:xfrm>
            <a:off x="1047750" y="4367064"/>
            <a:ext cx="7555409" cy="9525"/>
          </a:xfrm>
          <a:prstGeom prst="rect">
            <a:avLst/>
          </a:prstGeom>
          <a:solidFill>
            <a:srgbClr val="1A1A1A"/>
          </a:solidFill>
          <a:ln/>
        </p:spPr>
        <p:txBody>
          <a:bodyPr/>
          <a:lstStyle/>
          <a:p>
            <a:endParaRPr lang="es-EC"/>
          </a:p>
        </p:txBody>
      </p:sp>
      <p:sp>
        <p:nvSpPr>
          <p:cNvPr id="10" name="Shape 7"/>
          <p:cNvSpPr/>
          <p:nvPr/>
        </p:nvSpPr>
        <p:spPr>
          <a:xfrm>
            <a:off x="1047750" y="3863280"/>
            <a:ext cx="7555409" cy="19050"/>
          </a:xfrm>
          <a:prstGeom prst="rect">
            <a:avLst/>
          </a:prstGeom>
          <a:solidFill>
            <a:srgbClr val="1A1A1A"/>
          </a:solidFill>
          <a:ln/>
        </p:spPr>
        <p:txBody>
          <a:bodyPr/>
          <a:lstStyle/>
          <a:p>
            <a:endParaRPr lang="es-EC"/>
          </a:p>
        </p:txBody>
      </p:sp>
      <p:sp>
        <p:nvSpPr>
          <p:cNvPr id="11" name="Text 8"/>
          <p:cNvSpPr/>
          <p:nvPr/>
        </p:nvSpPr>
        <p:spPr>
          <a:xfrm>
            <a:off x="1047750" y="4034730"/>
            <a:ext cx="2614166"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336" dirty="0">
                <a:solidFill>
                  <a:srgbClr val="1A1A1A"/>
                </a:solidFill>
                <a:latin typeface="-apple-system" pitchFamily="34" charset="0"/>
                <a:ea typeface="-apple-system" pitchFamily="34" charset="-122"/>
                <a:cs typeface="-apple-system" pitchFamily="34" charset="-120"/>
              </a:rPr>
              <a:t>NIVEL 01 · TERRITORIOS</a:t>
            </a:r>
            <a:endParaRPr lang="en-US" sz="1050" dirty="0"/>
          </a:p>
        </p:txBody>
      </p:sp>
      <p:sp>
        <p:nvSpPr>
          <p:cNvPr id="12" name="Text 9"/>
          <p:cNvSpPr/>
          <p:nvPr/>
        </p:nvSpPr>
        <p:spPr>
          <a:xfrm>
            <a:off x="8384084" y="4034730"/>
            <a:ext cx="295275"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336" dirty="0">
                <a:solidFill>
                  <a:srgbClr val="1A1A1A"/>
                </a:solidFill>
                <a:latin typeface="-apple-system" pitchFamily="34" charset="0"/>
                <a:ea typeface="-apple-system" pitchFamily="34" charset="-122"/>
                <a:cs typeface="-apple-system" pitchFamily="34" charset="-120"/>
              </a:rPr>
              <a:t>11</a:t>
            </a:r>
            <a:endParaRPr lang="en-US" sz="1050" dirty="0"/>
          </a:p>
        </p:txBody>
      </p:sp>
      <p:sp>
        <p:nvSpPr>
          <p:cNvPr id="13" name="Shape 10"/>
          <p:cNvSpPr/>
          <p:nvPr/>
        </p:nvSpPr>
        <p:spPr>
          <a:xfrm>
            <a:off x="1047750" y="4509939"/>
            <a:ext cx="7555409" cy="4594175"/>
          </a:xfrm>
          <a:prstGeom prst="rect">
            <a:avLst/>
          </a:prstGeom>
          <a:ln w="9525">
            <a:solidFill>
              <a:srgbClr val="1A1A1A"/>
            </a:solidFill>
            <a:prstDash val="solid"/>
          </a:ln>
        </p:spPr>
        <p:txBody>
          <a:bodyPr/>
          <a:lstStyle/>
          <a:p>
            <a:endParaRPr lang="es-EC"/>
          </a:p>
        </p:txBody>
      </p:sp>
      <p:sp>
        <p:nvSpPr>
          <p:cNvPr id="14" name="Shape 11"/>
          <p:cNvSpPr/>
          <p:nvPr/>
        </p:nvSpPr>
        <p:spPr>
          <a:xfrm>
            <a:off x="1057275" y="4519464"/>
            <a:ext cx="4521696" cy="2836515"/>
          </a:xfrm>
          <a:prstGeom prst="rect">
            <a:avLst/>
          </a:prstGeom>
          <a:solidFill>
            <a:srgbClr val="1A1A1A"/>
          </a:solidFill>
          <a:ln/>
        </p:spPr>
        <p:txBody>
          <a:bodyPr/>
          <a:lstStyle/>
          <a:p>
            <a:endParaRPr lang="es-EC"/>
          </a:p>
        </p:txBody>
      </p:sp>
      <p:sp>
        <p:nvSpPr>
          <p:cNvPr id="15" name="Shape 12"/>
          <p:cNvSpPr/>
          <p:nvPr/>
        </p:nvSpPr>
        <p:spPr>
          <a:xfrm>
            <a:off x="1057275" y="7346454"/>
            <a:ext cx="4521696" cy="9525"/>
          </a:xfrm>
          <a:prstGeom prst="rect">
            <a:avLst/>
          </a:prstGeom>
          <a:solidFill>
            <a:srgbClr val="1A1A1A"/>
          </a:solidFill>
          <a:ln/>
        </p:spPr>
        <p:txBody>
          <a:bodyPr/>
          <a:lstStyle/>
          <a:p>
            <a:endParaRPr lang="es-EC"/>
          </a:p>
        </p:txBody>
      </p:sp>
      <p:sp>
        <p:nvSpPr>
          <p:cNvPr id="16" name="Shape 13"/>
          <p:cNvSpPr/>
          <p:nvPr/>
        </p:nvSpPr>
        <p:spPr>
          <a:xfrm>
            <a:off x="5569446" y="4519464"/>
            <a:ext cx="9525" cy="2836515"/>
          </a:xfrm>
          <a:prstGeom prst="rect">
            <a:avLst/>
          </a:prstGeom>
          <a:solidFill>
            <a:srgbClr val="1A1A1A"/>
          </a:solidFill>
          <a:ln/>
        </p:spPr>
        <p:txBody>
          <a:bodyPr/>
          <a:lstStyle/>
          <a:p>
            <a:endParaRPr lang="es-EC"/>
          </a:p>
        </p:txBody>
      </p:sp>
      <p:sp>
        <p:nvSpPr>
          <p:cNvPr id="17" name="Text 14"/>
          <p:cNvSpPr/>
          <p:nvPr/>
        </p:nvSpPr>
        <p:spPr>
          <a:xfrm>
            <a:off x="1171575" y="4614714"/>
            <a:ext cx="4412078" cy="26952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b="1" kern="0" spc="216" dirty="0">
                <a:solidFill>
                  <a:srgbClr val="FFFFFF"/>
                </a:solidFill>
                <a:latin typeface="-apple-system" pitchFamily="34" charset="0"/>
                <a:ea typeface="-apple-system" pitchFamily="34" charset="-122"/>
                <a:cs typeface="-apple-system" pitchFamily="34" charset="-120"/>
              </a:rPr>
              <a:t>IDENTIDAD</a:t>
            </a:r>
            <a:endParaRPr lang="en-US" sz="1350" dirty="0"/>
          </a:p>
        </p:txBody>
      </p:sp>
      <p:sp>
        <p:nvSpPr>
          <p:cNvPr id="18" name="Text 15"/>
          <p:cNvSpPr/>
          <p:nvPr/>
        </p:nvSpPr>
        <p:spPr>
          <a:xfrm>
            <a:off x="1171575" y="6839843"/>
            <a:ext cx="4412078" cy="44946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400" b="1" dirty="0">
                <a:solidFill>
                  <a:srgbClr val="FFFFFF"/>
                </a:solidFill>
                <a:latin typeface="-apple-system" pitchFamily="34" charset="0"/>
                <a:ea typeface="-apple-system" pitchFamily="34" charset="-122"/>
                <a:cs typeface="-apple-system" pitchFamily="34" charset="-120"/>
              </a:rPr>
              <a:t>10.299</a:t>
            </a:r>
            <a:endParaRPr lang="en-US" sz="2400" dirty="0"/>
          </a:p>
        </p:txBody>
      </p:sp>
      <p:sp>
        <p:nvSpPr>
          <p:cNvPr id="19" name="Shape 16"/>
          <p:cNvSpPr/>
          <p:nvPr/>
        </p:nvSpPr>
        <p:spPr>
          <a:xfrm>
            <a:off x="5578971" y="4519464"/>
            <a:ext cx="3014514" cy="1097905"/>
          </a:xfrm>
          <a:prstGeom prst="rect">
            <a:avLst/>
          </a:prstGeom>
          <a:solidFill>
            <a:srgbClr val="E8E6E0"/>
          </a:solidFill>
          <a:ln/>
        </p:spPr>
        <p:txBody>
          <a:bodyPr/>
          <a:lstStyle/>
          <a:p>
            <a:endParaRPr lang="es-EC"/>
          </a:p>
        </p:txBody>
      </p:sp>
      <p:sp>
        <p:nvSpPr>
          <p:cNvPr id="20" name="Shape 17"/>
          <p:cNvSpPr/>
          <p:nvPr/>
        </p:nvSpPr>
        <p:spPr>
          <a:xfrm>
            <a:off x="5578971" y="5607844"/>
            <a:ext cx="3014514" cy="9525"/>
          </a:xfrm>
          <a:prstGeom prst="rect">
            <a:avLst/>
          </a:prstGeom>
          <a:solidFill>
            <a:srgbClr val="1A1A1A"/>
          </a:solidFill>
          <a:ln/>
        </p:spPr>
        <p:txBody>
          <a:bodyPr/>
          <a:lstStyle/>
          <a:p>
            <a:endParaRPr lang="es-EC"/>
          </a:p>
        </p:txBody>
      </p:sp>
      <p:sp>
        <p:nvSpPr>
          <p:cNvPr id="21" name="Shape 18"/>
          <p:cNvSpPr/>
          <p:nvPr/>
        </p:nvSpPr>
        <p:spPr>
          <a:xfrm>
            <a:off x="8583960" y="4519464"/>
            <a:ext cx="9525" cy="1097905"/>
          </a:xfrm>
          <a:prstGeom prst="rect">
            <a:avLst/>
          </a:prstGeom>
          <a:solidFill>
            <a:srgbClr val="1A1A1A"/>
          </a:solidFill>
          <a:ln/>
        </p:spPr>
        <p:txBody>
          <a:bodyPr/>
          <a:lstStyle/>
          <a:p>
            <a:endParaRPr lang="es-EC"/>
          </a:p>
        </p:txBody>
      </p:sp>
      <p:sp>
        <p:nvSpPr>
          <p:cNvPr id="22" name="Text 19"/>
          <p:cNvSpPr/>
          <p:nvPr/>
        </p:nvSpPr>
        <p:spPr>
          <a:xfrm>
            <a:off x="5693271" y="4614714"/>
            <a:ext cx="2859680" cy="26952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b="1" kern="0" spc="216" dirty="0">
                <a:solidFill>
                  <a:srgbClr val="1A1A1A"/>
                </a:solidFill>
                <a:latin typeface="-apple-system" pitchFamily="34" charset="0"/>
                <a:ea typeface="-apple-system" pitchFamily="34" charset="-122"/>
                <a:cs typeface="-apple-system" pitchFamily="34" charset="-120"/>
              </a:rPr>
              <a:t>NATURALEZA</a:t>
            </a:r>
            <a:endParaRPr lang="en-US" sz="1350" dirty="0"/>
          </a:p>
        </p:txBody>
      </p:sp>
      <p:sp>
        <p:nvSpPr>
          <p:cNvPr id="23" name="Text 20"/>
          <p:cNvSpPr/>
          <p:nvPr/>
        </p:nvSpPr>
        <p:spPr>
          <a:xfrm>
            <a:off x="5693271" y="5101233"/>
            <a:ext cx="2859680" cy="44946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400" b="1" dirty="0">
                <a:solidFill>
                  <a:srgbClr val="1A1A1A"/>
                </a:solidFill>
                <a:latin typeface="-apple-system" pitchFamily="34" charset="0"/>
                <a:ea typeface="-apple-system" pitchFamily="34" charset="-122"/>
                <a:cs typeface="-apple-system" pitchFamily="34" charset="-120"/>
              </a:rPr>
              <a:t>2.505</a:t>
            </a:r>
            <a:endParaRPr lang="en-US" sz="2400" dirty="0"/>
          </a:p>
        </p:txBody>
      </p:sp>
      <p:sp>
        <p:nvSpPr>
          <p:cNvPr id="24" name="Shape 21"/>
          <p:cNvSpPr/>
          <p:nvPr/>
        </p:nvSpPr>
        <p:spPr>
          <a:xfrm>
            <a:off x="5578971" y="5617369"/>
            <a:ext cx="3014514" cy="1006525"/>
          </a:xfrm>
          <a:prstGeom prst="rect">
            <a:avLst/>
          </a:prstGeom>
          <a:solidFill>
            <a:srgbClr val="E8E6E0"/>
          </a:solidFill>
          <a:ln/>
        </p:spPr>
        <p:txBody>
          <a:bodyPr/>
          <a:lstStyle/>
          <a:p>
            <a:endParaRPr lang="es-EC"/>
          </a:p>
        </p:txBody>
      </p:sp>
      <p:sp>
        <p:nvSpPr>
          <p:cNvPr id="25" name="Shape 22"/>
          <p:cNvSpPr/>
          <p:nvPr/>
        </p:nvSpPr>
        <p:spPr>
          <a:xfrm>
            <a:off x="5578971" y="6614368"/>
            <a:ext cx="3014514" cy="9525"/>
          </a:xfrm>
          <a:prstGeom prst="rect">
            <a:avLst/>
          </a:prstGeom>
          <a:solidFill>
            <a:srgbClr val="1A1A1A"/>
          </a:solidFill>
          <a:ln/>
        </p:spPr>
        <p:txBody>
          <a:bodyPr/>
          <a:lstStyle/>
          <a:p>
            <a:endParaRPr lang="es-EC"/>
          </a:p>
        </p:txBody>
      </p:sp>
      <p:sp>
        <p:nvSpPr>
          <p:cNvPr id="26" name="Shape 23"/>
          <p:cNvSpPr/>
          <p:nvPr/>
        </p:nvSpPr>
        <p:spPr>
          <a:xfrm>
            <a:off x="8583960" y="5617369"/>
            <a:ext cx="9525" cy="1006525"/>
          </a:xfrm>
          <a:prstGeom prst="rect">
            <a:avLst/>
          </a:prstGeom>
          <a:solidFill>
            <a:srgbClr val="1A1A1A"/>
          </a:solidFill>
          <a:ln/>
        </p:spPr>
        <p:txBody>
          <a:bodyPr/>
          <a:lstStyle/>
          <a:p>
            <a:endParaRPr lang="es-EC"/>
          </a:p>
        </p:txBody>
      </p:sp>
      <p:sp>
        <p:nvSpPr>
          <p:cNvPr id="27" name="Text 24"/>
          <p:cNvSpPr/>
          <p:nvPr/>
        </p:nvSpPr>
        <p:spPr>
          <a:xfrm>
            <a:off x="5693271" y="5712619"/>
            <a:ext cx="2859680" cy="26952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b="1" kern="0" spc="216" dirty="0">
                <a:solidFill>
                  <a:srgbClr val="1A1A1A"/>
                </a:solidFill>
                <a:latin typeface="-apple-system" pitchFamily="34" charset="0"/>
                <a:ea typeface="-apple-system" pitchFamily="34" charset="-122"/>
                <a:cs typeface="-apple-system" pitchFamily="34" charset="-120"/>
              </a:rPr>
              <a:t>TALENTO</a:t>
            </a:r>
            <a:endParaRPr lang="en-US" sz="1350" dirty="0"/>
          </a:p>
        </p:txBody>
      </p:sp>
      <p:sp>
        <p:nvSpPr>
          <p:cNvPr id="28" name="Text 25"/>
          <p:cNvSpPr/>
          <p:nvPr/>
        </p:nvSpPr>
        <p:spPr>
          <a:xfrm>
            <a:off x="5693271" y="6107757"/>
            <a:ext cx="2859680" cy="44946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400" b="1" dirty="0">
                <a:solidFill>
                  <a:srgbClr val="1A1A1A"/>
                </a:solidFill>
                <a:latin typeface="-apple-system" pitchFamily="34" charset="0"/>
                <a:ea typeface="-apple-system" pitchFamily="34" charset="-122"/>
                <a:cs typeface="-apple-system" pitchFamily="34" charset="-120"/>
              </a:rPr>
              <a:t>2.179</a:t>
            </a:r>
            <a:endParaRPr lang="en-US" sz="2400" dirty="0"/>
          </a:p>
        </p:txBody>
      </p:sp>
      <p:sp>
        <p:nvSpPr>
          <p:cNvPr id="29" name="Shape 26"/>
          <p:cNvSpPr/>
          <p:nvPr/>
        </p:nvSpPr>
        <p:spPr>
          <a:xfrm>
            <a:off x="5578971" y="6623893"/>
            <a:ext cx="3014514" cy="731937"/>
          </a:xfrm>
          <a:prstGeom prst="rect">
            <a:avLst/>
          </a:prstGeom>
          <a:solidFill>
            <a:srgbClr val="E8E6E0"/>
          </a:solidFill>
          <a:ln/>
        </p:spPr>
        <p:txBody>
          <a:bodyPr/>
          <a:lstStyle/>
          <a:p>
            <a:endParaRPr lang="es-EC"/>
          </a:p>
        </p:txBody>
      </p:sp>
      <p:sp>
        <p:nvSpPr>
          <p:cNvPr id="30" name="Shape 27"/>
          <p:cNvSpPr/>
          <p:nvPr/>
        </p:nvSpPr>
        <p:spPr>
          <a:xfrm>
            <a:off x="5578971" y="7346305"/>
            <a:ext cx="3014514" cy="9525"/>
          </a:xfrm>
          <a:prstGeom prst="rect">
            <a:avLst/>
          </a:prstGeom>
          <a:solidFill>
            <a:srgbClr val="1A1A1A"/>
          </a:solidFill>
          <a:ln/>
        </p:spPr>
        <p:txBody>
          <a:bodyPr/>
          <a:lstStyle/>
          <a:p>
            <a:endParaRPr lang="es-EC"/>
          </a:p>
        </p:txBody>
      </p:sp>
      <p:sp>
        <p:nvSpPr>
          <p:cNvPr id="31" name="Shape 28"/>
          <p:cNvSpPr/>
          <p:nvPr/>
        </p:nvSpPr>
        <p:spPr>
          <a:xfrm>
            <a:off x="8583960" y="6623893"/>
            <a:ext cx="9525" cy="731937"/>
          </a:xfrm>
          <a:prstGeom prst="rect">
            <a:avLst/>
          </a:prstGeom>
          <a:solidFill>
            <a:srgbClr val="1A1A1A"/>
          </a:solidFill>
          <a:ln/>
        </p:spPr>
        <p:txBody>
          <a:bodyPr/>
          <a:lstStyle/>
          <a:p>
            <a:endParaRPr lang="es-EC"/>
          </a:p>
        </p:txBody>
      </p:sp>
      <p:sp>
        <p:nvSpPr>
          <p:cNvPr id="32" name="Text 29"/>
          <p:cNvSpPr/>
          <p:nvPr/>
        </p:nvSpPr>
        <p:spPr>
          <a:xfrm>
            <a:off x="5693271" y="6719143"/>
            <a:ext cx="2859680" cy="26952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b="1" kern="0" spc="216" dirty="0">
                <a:solidFill>
                  <a:srgbClr val="1A1A1A"/>
                </a:solidFill>
                <a:latin typeface="-apple-system" pitchFamily="34" charset="0"/>
                <a:ea typeface="-apple-system" pitchFamily="34" charset="-122"/>
                <a:cs typeface="-apple-system" pitchFamily="34" charset="-120"/>
              </a:rPr>
              <a:t>PADRES</a:t>
            </a:r>
            <a:endParaRPr lang="en-US" sz="1350" dirty="0"/>
          </a:p>
        </p:txBody>
      </p:sp>
      <p:sp>
        <p:nvSpPr>
          <p:cNvPr id="33" name="Text 30"/>
          <p:cNvSpPr/>
          <p:nvPr/>
        </p:nvSpPr>
        <p:spPr>
          <a:xfrm>
            <a:off x="5693271" y="6950571"/>
            <a:ext cx="2859680" cy="44946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400" b="1" dirty="0">
                <a:solidFill>
                  <a:srgbClr val="1A1A1A"/>
                </a:solidFill>
                <a:latin typeface="-apple-system" pitchFamily="34" charset="0"/>
                <a:ea typeface="-apple-system" pitchFamily="34" charset="-122"/>
                <a:cs typeface="-apple-system" pitchFamily="34" charset="-120"/>
              </a:rPr>
              <a:t>2.055</a:t>
            </a:r>
            <a:endParaRPr lang="en-US" sz="2400" dirty="0"/>
          </a:p>
        </p:txBody>
      </p:sp>
      <p:sp>
        <p:nvSpPr>
          <p:cNvPr id="34" name="Shape 31"/>
          <p:cNvSpPr/>
          <p:nvPr/>
        </p:nvSpPr>
        <p:spPr>
          <a:xfrm>
            <a:off x="1057275" y="7355979"/>
            <a:ext cx="2411611" cy="1006525"/>
          </a:xfrm>
          <a:prstGeom prst="rect">
            <a:avLst/>
          </a:prstGeom>
          <a:solidFill>
            <a:srgbClr val="FFFFFF"/>
          </a:solidFill>
          <a:ln/>
        </p:spPr>
        <p:txBody>
          <a:bodyPr/>
          <a:lstStyle/>
          <a:p>
            <a:endParaRPr lang="es-EC"/>
          </a:p>
        </p:txBody>
      </p:sp>
      <p:sp>
        <p:nvSpPr>
          <p:cNvPr id="35" name="Shape 32"/>
          <p:cNvSpPr/>
          <p:nvPr/>
        </p:nvSpPr>
        <p:spPr>
          <a:xfrm>
            <a:off x="1057275" y="8352979"/>
            <a:ext cx="2411611" cy="9525"/>
          </a:xfrm>
          <a:prstGeom prst="rect">
            <a:avLst/>
          </a:prstGeom>
          <a:solidFill>
            <a:srgbClr val="1A1A1A"/>
          </a:solidFill>
          <a:ln/>
        </p:spPr>
        <p:txBody>
          <a:bodyPr/>
          <a:lstStyle/>
          <a:p>
            <a:endParaRPr lang="es-EC"/>
          </a:p>
        </p:txBody>
      </p:sp>
      <p:sp>
        <p:nvSpPr>
          <p:cNvPr id="36" name="Shape 33"/>
          <p:cNvSpPr/>
          <p:nvPr/>
        </p:nvSpPr>
        <p:spPr>
          <a:xfrm>
            <a:off x="3459361" y="7355979"/>
            <a:ext cx="9525" cy="1006525"/>
          </a:xfrm>
          <a:prstGeom prst="rect">
            <a:avLst/>
          </a:prstGeom>
          <a:solidFill>
            <a:srgbClr val="1A1A1A"/>
          </a:solidFill>
          <a:ln/>
        </p:spPr>
        <p:txBody>
          <a:bodyPr/>
          <a:lstStyle/>
          <a:p>
            <a:endParaRPr lang="es-EC"/>
          </a:p>
        </p:txBody>
      </p:sp>
      <p:sp>
        <p:nvSpPr>
          <p:cNvPr id="37" name="Text 34"/>
          <p:cNvSpPr/>
          <p:nvPr/>
        </p:nvSpPr>
        <p:spPr>
          <a:xfrm>
            <a:off x="1171575" y="7451229"/>
            <a:ext cx="2249686" cy="19228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900" b="1" kern="0" spc="144" dirty="0">
                <a:solidFill>
                  <a:srgbClr val="1A1A1A"/>
                </a:solidFill>
                <a:latin typeface="-apple-system" pitchFamily="34" charset="0"/>
                <a:ea typeface="-apple-system" pitchFamily="34" charset="-122"/>
                <a:cs typeface="-apple-system" pitchFamily="34" charset="-120"/>
              </a:rPr>
              <a:t>EMPRENDEDORES</a:t>
            </a:r>
            <a:endParaRPr lang="en-US" sz="900" dirty="0"/>
          </a:p>
        </p:txBody>
      </p:sp>
      <p:sp>
        <p:nvSpPr>
          <p:cNvPr id="38" name="Text 35"/>
          <p:cNvSpPr/>
          <p:nvPr/>
        </p:nvSpPr>
        <p:spPr>
          <a:xfrm>
            <a:off x="1171575" y="8026301"/>
            <a:ext cx="2249686" cy="26952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b="1" dirty="0">
                <a:solidFill>
                  <a:srgbClr val="1A1A1A"/>
                </a:solidFill>
                <a:latin typeface="-apple-system" pitchFamily="34" charset="0"/>
                <a:ea typeface="-apple-system" pitchFamily="34" charset="-122"/>
                <a:cs typeface="-apple-system" pitchFamily="34" charset="-120"/>
              </a:rPr>
              <a:t>932</a:t>
            </a:r>
            <a:endParaRPr lang="en-US" sz="1350" dirty="0"/>
          </a:p>
        </p:txBody>
      </p:sp>
      <p:sp>
        <p:nvSpPr>
          <p:cNvPr id="39" name="Shape 36"/>
          <p:cNvSpPr/>
          <p:nvPr/>
        </p:nvSpPr>
        <p:spPr>
          <a:xfrm>
            <a:off x="3468886" y="7355979"/>
            <a:ext cx="1657945" cy="1006525"/>
          </a:xfrm>
          <a:prstGeom prst="rect">
            <a:avLst/>
          </a:prstGeom>
          <a:solidFill>
            <a:srgbClr val="FFFFFF"/>
          </a:solidFill>
          <a:ln/>
        </p:spPr>
        <p:txBody>
          <a:bodyPr/>
          <a:lstStyle/>
          <a:p>
            <a:endParaRPr lang="es-EC"/>
          </a:p>
        </p:txBody>
      </p:sp>
      <p:sp>
        <p:nvSpPr>
          <p:cNvPr id="40" name="Shape 37"/>
          <p:cNvSpPr/>
          <p:nvPr/>
        </p:nvSpPr>
        <p:spPr>
          <a:xfrm>
            <a:off x="3468886" y="8352979"/>
            <a:ext cx="1657945" cy="9525"/>
          </a:xfrm>
          <a:prstGeom prst="rect">
            <a:avLst/>
          </a:prstGeom>
          <a:solidFill>
            <a:srgbClr val="1A1A1A"/>
          </a:solidFill>
          <a:ln/>
        </p:spPr>
        <p:txBody>
          <a:bodyPr/>
          <a:lstStyle/>
          <a:p>
            <a:endParaRPr lang="es-EC"/>
          </a:p>
        </p:txBody>
      </p:sp>
      <p:sp>
        <p:nvSpPr>
          <p:cNvPr id="41" name="Shape 38"/>
          <p:cNvSpPr/>
          <p:nvPr/>
        </p:nvSpPr>
        <p:spPr>
          <a:xfrm>
            <a:off x="5117306" y="7355979"/>
            <a:ext cx="9525" cy="1006525"/>
          </a:xfrm>
          <a:prstGeom prst="rect">
            <a:avLst/>
          </a:prstGeom>
          <a:solidFill>
            <a:srgbClr val="1A1A1A"/>
          </a:solidFill>
          <a:ln/>
        </p:spPr>
        <p:txBody>
          <a:bodyPr/>
          <a:lstStyle/>
          <a:p>
            <a:endParaRPr lang="es-EC"/>
          </a:p>
        </p:txBody>
      </p:sp>
      <p:sp>
        <p:nvSpPr>
          <p:cNvPr id="42" name="Text 39"/>
          <p:cNvSpPr/>
          <p:nvPr/>
        </p:nvSpPr>
        <p:spPr>
          <a:xfrm>
            <a:off x="3583186" y="7451229"/>
            <a:ext cx="1496020" cy="19228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900" b="1" kern="0" spc="144" dirty="0">
                <a:solidFill>
                  <a:srgbClr val="1A1A1A"/>
                </a:solidFill>
                <a:latin typeface="-apple-system" pitchFamily="34" charset="0"/>
                <a:ea typeface="-apple-system" pitchFamily="34" charset="-122"/>
                <a:cs typeface="-apple-system" pitchFamily="34" charset="-120"/>
              </a:rPr>
              <a:t>MUJERES</a:t>
            </a:r>
            <a:endParaRPr lang="en-US" sz="900" dirty="0"/>
          </a:p>
        </p:txBody>
      </p:sp>
      <p:sp>
        <p:nvSpPr>
          <p:cNvPr id="43" name="Text 40"/>
          <p:cNvSpPr/>
          <p:nvPr/>
        </p:nvSpPr>
        <p:spPr>
          <a:xfrm>
            <a:off x="3583186" y="8026301"/>
            <a:ext cx="1496020" cy="26952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b="1" dirty="0">
                <a:solidFill>
                  <a:srgbClr val="1A1A1A"/>
                </a:solidFill>
                <a:latin typeface="-apple-system" pitchFamily="34" charset="0"/>
                <a:ea typeface="-apple-system" pitchFamily="34" charset="-122"/>
                <a:cs typeface="-apple-system" pitchFamily="34" charset="-120"/>
              </a:rPr>
              <a:t>578</a:t>
            </a:r>
            <a:endParaRPr lang="en-US" sz="1350" dirty="0"/>
          </a:p>
        </p:txBody>
      </p:sp>
      <p:sp>
        <p:nvSpPr>
          <p:cNvPr id="44" name="Shape 41"/>
          <p:cNvSpPr/>
          <p:nvPr/>
        </p:nvSpPr>
        <p:spPr>
          <a:xfrm>
            <a:off x="5126831" y="7355979"/>
            <a:ext cx="1356420" cy="1006525"/>
          </a:xfrm>
          <a:prstGeom prst="rect">
            <a:avLst/>
          </a:prstGeom>
          <a:solidFill>
            <a:srgbClr val="FFFFFF"/>
          </a:solidFill>
          <a:ln/>
        </p:spPr>
        <p:txBody>
          <a:bodyPr/>
          <a:lstStyle/>
          <a:p>
            <a:endParaRPr lang="es-EC"/>
          </a:p>
        </p:txBody>
      </p:sp>
      <p:sp>
        <p:nvSpPr>
          <p:cNvPr id="45" name="Shape 42"/>
          <p:cNvSpPr/>
          <p:nvPr/>
        </p:nvSpPr>
        <p:spPr>
          <a:xfrm>
            <a:off x="5126831" y="8352979"/>
            <a:ext cx="1356420" cy="9525"/>
          </a:xfrm>
          <a:prstGeom prst="rect">
            <a:avLst/>
          </a:prstGeom>
          <a:solidFill>
            <a:srgbClr val="1A1A1A"/>
          </a:solidFill>
          <a:ln/>
        </p:spPr>
        <p:txBody>
          <a:bodyPr/>
          <a:lstStyle/>
          <a:p>
            <a:endParaRPr lang="es-EC"/>
          </a:p>
        </p:txBody>
      </p:sp>
      <p:sp>
        <p:nvSpPr>
          <p:cNvPr id="46" name="Shape 43"/>
          <p:cNvSpPr/>
          <p:nvPr/>
        </p:nvSpPr>
        <p:spPr>
          <a:xfrm>
            <a:off x="6473726" y="7355979"/>
            <a:ext cx="9525" cy="1006525"/>
          </a:xfrm>
          <a:prstGeom prst="rect">
            <a:avLst/>
          </a:prstGeom>
          <a:solidFill>
            <a:srgbClr val="1A1A1A"/>
          </a:solidFill>
          <a:ln/>
        </p:spPr>
        <p:txBody>
          <a:bodyPr/>
          <a:lstStyle/>
          <a:p>
            <a:endParaRPr lang="es-EC"/>
          </a:p>
        </p:txBody>
      </p:sp>
      <p:sp>
        <p:nvSpPr>
          <p:cNvPr id="47" name="Text 44"/>
          <p:cNvSpPr/>
          <p:nvPr/>
        </p:nvSpPr>
        <p:spPr>
          <a:xfrm>
            <a:off x="5241131" y="7451229"/>
            <a:ext cx="1194495" cy="19228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900" b="1" kern="0" spc="144" dirty="0">
                <a:solidFill>
                  <a:srgbClr val="1A1A1A"/>
                </a:solidFill>
                <a:latin typeface="-apple-system" pitchFamily="34" charset="0"/>
                <a:ea typeface="-apple-system" pitchFamily="34" charset="-122"/>
                <a:cs typeface="-apple-system" pitchFamily="34" charset="-120"/>
              </a:rPr>
              <a:t>JÓVENES</a:t>
            </a:r>
            <a:endParaRPr lang="en-US" sz="900" dirty="0"/>
          </a:p>
        </p:txBody>
      </p:sp>
      <p:sp>
        <p:nvSpPr>
          <p:cNvPr id="48" name="Text 45"/>
          <p:cNvSpPr/>
          <p:nvPr/>
        </p:nvSpPr>
        <p:spPr>
          <a:xfrm>
            <a:off x="5241131" y="8026301"/>
            <a:ext cx="1194495" cy="26952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b="1" dirty="0">
                <a:solidFill>
                  <a:srgbClr val="1A1A1A"/>
                </a:solidFill>
                <a:latin typeface="-apple-system" pitchFamily="34" charset="0"/>
                <a:ea typeface="-apple-system" pitchFamily="34" charset="-122"/>
                <a:cs typeface="-apple-system" pitchFamily="34" charset="-120"/>
              </a:rPr>
              <a:t>488</a:t>
            </a:r>
            <a:endParaRPr lang="en-US" sz="1350" dirty="0"/>
          </a:p>
        </p:txBody>
      </p:sp>
      <p:sp>
        <p:nvSpPr>
          <p:cNvPr id="49" name="Shape 46"/>
          <p:cNvSpPr/>
          <p:nvPr/>
        </p:nvSpPr>
        <p:spPr>
          <a:xfrm>
            <a:off x="6483400" y="7355979"/>
            <a:ext cx="1205805" cy="1006525"/>
          </a:xfrm>
          <a:prstGeom prst="rect">
            <a:avLst/>
          </a:prstGeom>
          <a:solidFill>
            <a:srgbClr val="FFFFFF"/>
          </a:solidFill>
          <a:ln/>
        </p:spPr>
        <p:txBody>
          <a:bodyPr/>
          <a:lstStyle/>
          <a:p>
            <a:endParaRPr lang="es-EC"/>
          </a:p>
        </p:txBody>
      </p:sp>
      <p:sp>
        <p:nvSpPr>
          <p:cNvPr id="50" name="Shape 47"/>
          <p:cNvSpPr/>
          <p:nvPr/>
        </p:nvSpPr>
        <p:spPr>
          <a:xfrm>
            <a:off x="6483400" y="8352979"/>
            <a:ext cx="1205805" cy="9525"/>
          </a:xfrm>
          <a:prstGeom prst="rect">
            <a:avLst/>
          </a:prstGeom>
          <a:solidFill>
            <a:srgbClr val="1A1A1A"/>
          </a:solidFill>
          <a:ln/>
        </p:spPr>
        <p:txBody>
          <a:bodyPr/>
          <a:lstStyle/>
          <a:p>
            <a:endParaRPr lang="es-EC"/>
          </a:p>
        </p:txBody>
      </p:sp>
      <p:sp>
        <p:nvSpPr>
          <p:cNvPr id="51" name="Shape 48"/>
          <p:cNvSpPr/>
          <p:nvPr/>
        </p:nvSpPr>
        <p:spPr>
          <a:xfrm>
            <a:off x="7679680" y="7355979"/>
            <a:ext cx="9525" cy="1006525"/>
          </a:xfrm>
          <a:prstGeom prst="rect">
            <a:avLst/>
          </a:prstGeom>
          <a:solidFill>
            <a:srgbClr val="1A1A1A"/>
          </a:solidFill>
          <a:ln/>
        </p:spPr>
        <p:txBody>
          <a:bodyPr/>
          <a:lstStyle/>
          <a:p>
            <a:endParaRPr lang="es-EC"/>
          </a:p>
        </p:txBody>
      </p:sp>
      <p:sp>
        <p:nvSpPr>
          <p:cNvPr id="52" name="Text 49"/>
          <p:cNvSpPr/>
          <p:nvPr/>
        </p:nvSpPr>
        <p:spPr>
          <a:xfrm>
            <a:off x="6597700" y="7451229"/>
            <a:ext cx="1043880" cy="19228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900" b="1" kern="0" spc="144" dirty="0">
                <a:solidFill>
                  <a:srgbClr val="1A1A1A"/>
                </a:solidFill>
                <a:latin typeface="-apple-system" pitchFamily="34" charset="0"/>
                <a:ea typeface="-apple-system" pitchFamily="34" charset="-122"/>
                <a:cs typeface="-apple-system" pitchFamily="34" charset="-120"/>
              </a:rPr>
              <a:t>RESILIENCIA</a:t>
            </a:r>
            <a:endParaRPr lang="en-US" sz="900" dirty="0"/>
          </a:p>
        </p:txBody>
      </p:sp>
      <p:sp>
        <p:nvSpPr>
          <p:cNvPr id="53" name="Text 50"/>
          <p:cNvSpPr/>
          <p:nvPr/>
        </p:nvSpPr>
        <p:spPr>
          <a:xfrm>
            <a:off x="6597700" y="8026301"/>
            <a:ext cx="1043880" cy="26952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b="1" dirty="0">
                <a:solidFill>
                  <a:srgbClr val="1A1A1A"/>
                </a:solidFill>
                <a:latin typeface="-apple-system" pitchFamily="34" charset="0"/>
                <a:ea typeface="-apple-system" pitchFamily="34" charset="-122"/>
                <a:cs typeface="-apple-system" pitchFamily="34" charset="-120"/>
              </a:rPr>
              <a:t>412</a:t>
            </a:r>
            <a:endParaRPr lang="en-US" sz="1350" dirty="0"/>
          </a:p>
        </p:txBody>
      </p:sp>
      <p:sp>
        <p:nvSpPr>
          <p:cNvPr id="54" name="Shape 51"/>
          <p:cNvSpPr/>
          <p:nvPr/>
        </p:nvSpPr>
        <p:spPr>
          <a:xfrm>
            <a:off x="7689205" y="7355979"/>
            <a:ext cx="904280" cy="1006525"/>
          </a:xfrm>
          <a:prstGeom prst="rect">
            <a:avLst/>
          </a:prstGeom>
          <a:solidFill>
            <a:srgbClr val="FFFFFF"/>
          </a:solidFill>
          <a:ln/>
        </p:spPr>
        <p:txBody>
          <a:bodyPr/>
          <a:lstStyle/>
          <a:p>
            <a:endParaRPr lang="es-EC"/>
          </a:p>
        </p:txBody>
      </p:sp>
      <p:sp>
        <p:nvSpPr>
          <p:cNvPr id="55" name="Shape 52"/>
          <p:cNvSpPr/>
          <p:nvPr/>
        </p:nvSpPr>
        <p:spPr>
          <a:xfrm>
            <a:off x="7689205" y="8352979"/>
            <a:ext cx="904280" cy="9525"/>
          </a:xfrm>
          <a:prstGeom prst="rect">
            <a:avLst/>
          </a:prstGeom>
          <a:solidFill>
            <a:srgbClr val="1A1A1A"/>
          </a:solidFill>
          <a:ln/>
        </p:spPr>
        <p:txBody>
          <a:bodyPr/>
          <a:lstStyle/>
          <a:p>
            <a:endParaRPr lang="es-EC"/>
          </a:p>
        </p:txBody>
      </p:sp>
      <p:sp>
        <p:nvSpPr>
          <p:cNvPr id="56" name="Shape 53"/>
          <p:cNvSpPr/>
          <p:nvPr/>
        </p:nvSpPr>
        <p:spPr>
          <a:xfrm>
            <a:off x="8583960" y="7355979"/>
            <a:ext cx="9525" cy="1006525"/>
          </a:xfrm>
          <a:prstGeom prst="rect">
            <a:avLst/>
          </a:prstGeom>
          <a:solidFill>
            <a:srgbClr val="1A1A1A"/>
          </a:solidFill>
          <a:ln/>
        </p:spPr>
        <p:txBody>
          <a:bodyPr/>
          <a:lstStyle/>
          <a:p>
            <a:endParaRPr lang="es-EC"/>
          </a:p>
        </p:txBody>
      </p:sp>
      <p:sp>
        <p:nvSpPr>
          <p:cNvPr id="57" name="Text 54"/>
          <p:cNvSpPr/>
          <p:nvPr/>
        </p:nvSpPr>
        <p:spPr>
          <a:xfrm>
            <a:off x="7803505" y="7451229"/>
            <a:ext cx="742355" cy="19228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900" b="1" kern="0" spc="144" dirty="0">
                <a:solidFill>
                  <a:srgbClr val="1A1A1A"/>
                </a:solidFill>
                <a:latin typeface="-apple-system" pitchFamily="34" charset="0"/>
                <a:ea typeface="-apple-system" pitchFamily="34" charset="-122"/>
                <a:cs typeface="-apple-system" pitchFamily="34" charset="-120"/>
              </a:rPr>
              <a:t>MIGRANTES</a:t>
            </a:r>
            <a:endParaRPr lang="en-US" sz="900" dirty="0"/>
          </a:p>
        </p:txBody>
      </p:sp>
      <p:sp>
        <p:nvSpPr>
          <p:cNvPr id="58" name="Text 55"/>
          <p:cNvSpPr/>
          <p:nvPr/>
        </p:nvSpPr>
        <p:spPr>
          <a:xfrm>
            <a:off x="7803505" y="8026301"/>
            <a:ext cx="742355" cy="26952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b="1" dirty="0">
                <a:solidFill>
                  <a:srgbClr val="1A1A1A"/>
                </a:solidFill>
                <a:latin typeface="-apple-system" pitchFamily="34" charset="0"/>
                <a:ea typeface="-apple-system" pitchFamily="34" charset="-122"/>
                <a:cs typeface="-apple-system" pitchFamily="34" charset="-120"/>
              </a:rPr>
              <a:t>380</a:t>
            </a:r>
            <a:endParaRPr lang="en-US" sz="1350" dirty="0"/>
          </a:p>
        </p:txBody>
      </p:sp>
      <p:sp>
        <p:nvSpPr>
          <p:cNvPr id="59" name="Shape 56"/>
          <p:cNvSpPr/>
          <p:nvPr/>
        </p:nvSpPr>
        <p:spPr>
          <a:xfrm>
            <a:off x="1057275" y="8362504"/>
            <a:ext cx="4521696" cy="731937"/>
          </a:xfrm>
          <a:prstGeom prst="rect">
            <a:avLst/>
          </a:prstGeom>
          <a:solidFill>
            <a:srgbClr val="FFFFFF"/>
          </a:solidFill>
          <a:ln/>
        </p:spPr>
        <p:txBody>
          <a:bodyPr/>
          <a:lstStyle/>
          <a:p>
            <a:endParaRPr lang="es-EC"/>
          </a:p>
        </p:txBody>
      </p:sp>
      <p:sp>
        <p:nvSpPr>
          <p:cNvPr id="60" name="Shape 57"/>
          <p:cNvSpPr/>
          <p:nvPr/>
        </p:nvSpPr>
        <p:spPr>
          <a:xfrm>
            <a:off x="1057275" y="9084915"/>
            <a:ext cx="4521696" cy="9525"/>
          </a:xfrm>
          <a:prstGeom prst="rect">
            <a:avLst/>
          </a:prstGeom>
          <a:solidFill>
            <a:srgbClr val="1A1A1A"/>
          </a:solidFill>
          <a:ln/>
        </p:spPr>
        <p:txBody>
          <a:bodyPr/>
          <a:lstStyle/>
          <a:p>
            <a:endParaRPr lang="es-EC"/>
          </a:p>
        </p:txBody>
      </p:sp>
      <p:sp>
        <p:nvSpPr>
          <p:cNvPr id="61" name="Shape 58"/>
          <p:cNvSpPr/>
          <p:nvPr/>
        </p:nvSpPr>
        <p:spPr>
          <a:xfrm>
            <a:off x="5569446" y="8362504"/>
            <a:ext cx="9525" cy="731937"/>
          </a:xfrm>
          <a:prstGeom prst="rect">
            <a:avLst/>
          </a:prstGeom>
          <a:solidFill>
            <a:srgbClr val="1A1A1A"/>
          </a:solidFill>
          <a:ln/>
        </p:spPr>
        <p:txBody>
          <a:bodyPr/>
          <a:lstStyle/>
          <a:p>
            <a:endParaRPr lang="es-EC"/>
          </a:p>
        </p:txBody>
      </p:sp>
      <p:sp>
        <p:nvSpPr>
          <p:cNvPr id="62" name="Text 59"/>
          <p:cNvSpPr/>
          <p:nvPr/>
        </p:nvSpPr>
        <p:spPr>
          <a:xfrm>
            <a:off x="1171575" y="8457754"/>
            <a:ext cx="4412078" cy="19228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900" b="1" kern="0" spc="144" dirty="0">
                <a:solidFill>
                  <a:srgbClr val="1A1A1A"/>
                </a:solidFill>
                <a:latin typeface="-apple-system" pitchFamily="34" charset="0"/>
                <a:ea typeface="-apple-system" pitchFamily="34" charset="-122"/>
                <a:cs typeface="-apple-system" pitchFamily="34" charset="-120"/>
              </a:rPr>
              <a:t>GASTRONOMÍA</a:t>
            </a:r>
            <a:endParaRPr lang="en-US" sz="900" dirty="0"/>
          </a:p>
        </p:txBody>
      </p:sp>
      <p:sp>
        <p:nvSpPr>
          <p:cNvPr id="63" name="Text 60"/>
          <p:cNvSpPr/>
          <p:nvPr/>
        </p:nvSpPr>
        <p:spPr>
          <a:xfrm>
            <a:off x="1171575" y="8758238"/>
            <a:ext cx="4412078" cy="26952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b="1" dirty="0">
                <a:solidFill>
                  <a:srgbClr val="1A1A1A"/>
                </a:solidFill>
                <a:latin typeface="-apple-system" pitchFamily="34" charset="0"/>
                <a:ea typeface="-apple-system" pitchFamily="34" charset="-122"/>
                <a:cs typeface="-apple-system" pitchFamily="34" charset="-120"/>
              </a:rPr>
              <a:t>350</a:t>
            </a:r>
            <a:endParaRPr lang="en-US" sz="1350" dirty="0"/>
          </a:p>
        </p:txBody>
      </p:sp>
      <p:sp>
        <p:nvSpPr>
          <p:cNvPr id="64" name="Shape 61"/>
          <p:cNvSpPr/>
          <p:nvPr/>
        </p:nvSpPr>
        <p:spPr>
          <a:xfrm>
            <a:off x="5578971" y="8362504"/>
            <a:ext cx="3014514" cy="731937"/>
          </a:xfrm>
          <a:prstGeom prst="rect">
            <a:avLst/>
          </a:prstGeom>
          <a:solidFill>
            <a:srgbClr val="FFFFFF"/>
          </a:solidFill>
          <a:ln/>
        </p:spPr>
        <p:txBody>
          <a:bodyPr/>
          <a:lstStyle/>
          <a:p>
            <a:endParaRPr lang="es-EC"/>
          </a:p>
        </p:txBody>
      </p:sp>
      <p:sp>
        <p:nvSpPr>
          <p:cNvPr id="65" name="Shape 62"/>
          <p:cNvSpPr/>
          <p:nvPr/>
        </p:nvSpPr>
        <p:spPr>
          <a:xfrm>
            <a:off x="5578971" y="9084915"/>
            <a:ext cx="3014514" cy="9525"/>
          </a:xfrm>
          <a:prstGeom prst="rect">
            <a:avLst/>
          </a:prstGeom>
          <a:solidFill>
            <a:srgbClr val="1A1A1A"/>
          </a:solidFill>
          <a:ln/>
        </p:spPr>
        <p:txBody>
          <a:bodyPr/>
          <a:lstStyle/>
          <a:p>
            <a:endParaRPr lang="es-EC"/>
          </a:p>
        </p:txBody>
      </p:sp>
      <p:sp>
        <p:nvSpPr>
          <p:cNvPr id="66" name="Shape 63"/>
          <p:cNvSpPr/>
          <p:nvPr/>
        </p:nvSpPr>
        <p:spPr>
          <a:xfrm>
            <a:off x="8583960" y="8362504"/>
            <a:ext cx="9525" cy="731937"/>
          </a:xfrm>
          <a:prstGeom prst="rect">
            <a:avLst/>
          </a:prstGeom>
          <a:solidFill>
            <a:srgbClr val="1A1A1A"/>
          </a:solidFill>
          <a:ln/>
        </p:spPr>
        <p:txBody>
          <a:bodyPr/>
          <a:lstStyle/>
          <a:p>
            <a:endParaRPr lang="es-EC"/>
          </a:p>
        </p:txBody>
      </p:sp>
      <p:sp>
        <p:nvSpPr>
          <p:cNvPr id="67" name="Text 64"/>
          <p:cNvSpPr/>
          <p:nvPr/>
        </p:nvSpPr>
        <p:spPr>
          <a:xfrm>
            <a:off x="5693271" y="8457754"/>
            <a:ext cx="2859680" cy="19228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900" b="1" kern="0" spc="144" dirty="0">
                <a:solidFill>
                  <a:srgbClr val="1A1A1A"/>
                </a:solidFill>
                <a:latin typeface="-apple-system" pitchFamily="34" charset="0"/>
                <a:ea typeface="-apple-system" pitchFamily="34" charset="-122"/>
                <a:cs typeface="-apple-system" pitchFamily="34" charset="-120"/>
              </a:rPr>
              <a:t>ARTE</a:t>
            </a:r>
            <a:endParaRPr lang="en-US" sz="900" dirty="0"/>
          </a:p>
        </p:txBody>
      </p:sp>
      <p:sp>
        <p:nvSpPr>
          <p:cNvPr id="68" name="Text 65"/>
          <p:cNvSpPr/>
          <p:nvPr/>
        </p:nvSpPr>
        <p:spPr>
          <a:xfrm>
            <a:off x="5693271" y="8758238"/>
            <a:ext cx="2859680" cy="26952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b="1" dirty="0">
                <a:solidFill>
                  <a:srgbClr val="1A1A1A"/>
                </a:solidFill>
                <a:latin typeface="-apple-system" pitchFamily="34" charset="0"/>
                <a:ea typeface="-apple-system" pitchFamily="34" charset="-122"/>
                <a:cs typeface="-apple-system" pitchFamily="34" charset="-120"/>
              </a:rPr>
              <a:t>349</a:t>
            </a:r>
            <a:endParaRPr lang="en-US" sz="1350" dirty="0"/>
          </a:p>
        </p:txBody>
      </p:sp>
      <p:sp>
        <p:nvSpPr>
          <p:cNvPr id="69" name="Shape 66"/>
          <p:cNvSpPr/>
          <p:nvPr/>
        </p:nvSpPr>
        <p:spPr>
          <a:xfrm>
            <a:off x="8907959" y="4367064"/>
            <a:ext cx="4013746" cy="9525"/>
          </a:xfrm>
          <a:prstGeom prst="rect">
            <a:avLst/>
          </a:prstGeom>
          <a:solidFill>
            <a:srgbClr val="1A1A1A"/>
          </a:solidFill>
          <a:ln/>
        </p:spPr>
        <p:txBody>
          <a:bodyPr/>
          <a:lstStyle/>
          <a:p>
            <a:endParaRPr lang="es-EC"/>
          </a:p>
        </p:txBody>
      </p:sp>
      <p:sp>
        <p:nvSpPr>
          <p:cNvPr id="70" name="Shape 67"/>
          <p:cNvSpPr/>
          <p:nvPr/>
        </p:nvSpPr>
        <p:spPr>
          <a:xfrm>
            <a:off x="8907959" y="3863280"/>
            <a:ext cx="4013746" cy="19050"/>
          </a:xfrm>
          <a:prstGeom prst="rect">
            <a:avLst/>
          </a:prstGeom>
          <a:solidFill>
            <a:srgbClr val="1A1A1A"/>
          </a:solidFill>
          <a:ln/>
        </p:spPr>
        <p:txBody>
          <a:bodyPr/>
          <a:lstStyle/>
          <a:p>
            <a:endParaRPr lang="es-EC"/>
          </a:p>
        </p:txBody>
      </p:sp>
      <p:sp>
        <p:nvSpPr>
          <p:cNvPr id="71" name="Text 68"/>
          <p:cNvSpPr/>
          <p:nvPr/>
        </p:nvSpPr>
        <p:spPr>
          <a:xfrm>
            <a:off x="8907959" y="4034730"/>
            <a:ext cx="2173784"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336" dirty="0">
                <a:solidFill>
                  <a:srgbClr val="1A1A1A"/>
                </a:solidFill>
                <a:latin typeface="-apple-system" pitchFamily="34" charset="0"/>
                <a:ea typeface="-apple-system" pitchFamily="34" charset="-122"/>
                <a:cs typeface="-apple-system" pitchFamily="34" charset="-120"/>
              </a:rPr>
              <a:t>NIVEL 02 · SEÑALES</a:t>
            </a:r>
            <a:endParaRPr lang="en-US" sz="1050" dirty="0"/>
          </a:p>
        </p:txBody>
      </p:sp>
      <p:sp>
        <p:nvSpPr>
          <p:cNvPr id="72" name="Text 69"/>
          <p:cNvSpPr/>
          <p:nvPr/>
        </p:nvSpPr>
        <p:spPr>
          <a:xfrm>
            <a:off x="12788801" y="4034730"/>
            <a:ext cx="209104"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336" dirty="0">
                <a:solidFill>
                  <a:srgbClr val="1A1A1A"/>
                </a:solidFill>
                <a:latin typeface="-apple-system" pitchFamily="34" charset="0"/>
                <a:ea typeface="-apple-system" pitchFamily="34" charset="-122"/>
                <a:cs typeface="-apple-system" pitchFamily="34" charset="-120"/>
              </a:rPr>
              <a:t>4</a:t>
            </a:r>
            <a:endParaRPr lang="en-US" sz="1050" dirty="0"/>
          </a:p>
        </p:txBody>
      </p:sp>
      <p:sp>
        <p:nvSpPr>
          <p:cNvPr id="73" name="Shape 70"/>
          <p:cNvSpPr/>
          <p:nvPr/>
        </p:nvSpPr>
        <p:spPr>
          <a:xfrm>
            <a:off x="8907959" y="4509939"/>
            <a:ext cx="4013746" cy="2281684"/>
          </a:xfrm>
          <a:prstGeom prst="rect">
            <a:avLst/>
          </a:prstGeom>
          <a:solidFill>
            <a:srgbClr val="F5F4F1"/>
          </a:solidFill>
          <a:ln/>
        </p:spPr>
        <p:txBody>
          <a:bodyPr/>
          <a:lstStyle/>
          <a:p>
            <a:endParaRPr lang="es-EC"/>
          </a:p>
        </p:txBody>
      </p:sp>
      <p:sp>
        <p:nvSpPr>
          <p:cNvPr id="74" name="Shape 71"/>
          <p:cNvSpPr/>
          <p:nvPr/>
        </p:nvSpPr>
        <p:spPr>
          <a:xfrm>
            <a:off x="8907959" y="4509939"/>
            <a:ext cx="47625" cy="2281684"/>
          </a:xfrm>
          <a:prstGeom prst="rect">
            <a:avLst/>
          </a:prstGeom>
          <a:solidFill>
            <a:srgbClr val="1A1A1A"/>
          </a:solidFill>
          <a:ln/>
        </p:spPr>
        <p:txBody>
          <a:bodyPr/>
          <a:lstStyle/>
          <a:p>
            <a:endParaRPr lang="es-EC"/>
          </a:p>
        </p:txBody>
      </p:sp>
      <p:sp>
        <p:nvSpPr>
          <p:cNvPr id="75" name="Text 72"/>
          <p:cNvSpPr/>
          <p:nvPr/>
        </p:nvSpPr>
        <p:spPr>
          <a:xfrm>
            <a:off x="9088934" y="4624239"/>
            <a:ext cx="744885"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216" dirty="0">
                <a:solidFill>
                  <a:srgbClr val="1A1A1A"/>
                </a:solidFill>
                <a:latin typeface="-apple-system" pitchFamily="34" charset="0"/>
                <a:ea typeface="-apple-system" pitchFamily="34" charset="-122"/>
                <a:cs typeface="-apple-system" pitchFamily="34" charset="-120"/>
              </a:rPr>
              <a:t>TREND</a:t>
            </a:r>
            <a:endParaRPr lang="en-US" sz="1200" dirty="0"/>
          </a:p>
        </p:txBody>
      </p:sp>
      <p:sp>
        <p:nvSpPr>
          <p:cNvPr id="76" name="Text 73"/>
          <p:cNvSpPr/>
          <p:nvPr/>
        </p:nvSpPr>
        <p:spPr>
          <a:xfrm>
            <a:off x="12506623" y="4671864"/>
            <a:ext cx="357932" cy="179487"/>
          </a:xfrm>
          <a:prstGeom prst="rect">
            <a:avLst/>
          </a:prstGeom>
          <a:noFill/>
          <a:ln/>
        </p:spPr>
        <p:txBody>
          <a:bodyPr wrap="square" lIns="25400" tIns="25400" rIns="25400" bIns="25400" rtlCol="0" anchor="t">
            <a:normAutofit fontScale="85000" lnSpcReduction="10000"/>
          </a:bodyPr>
          <a:lstStyle/>
          <a:p>
            <a:pPr marL="0" indent="0" algn="l">
              <a:lnSpc>
                <a:spcPct val="135000"/>
              </a:lnSpc>
              <a:buNone/>
            </a:pPr>
            <a:r>
              <a:rPr lang="en-US" sz="825" kern="0" spc="132" dirty="0">
                <a:solidFill>
                  <a:srgbClr val="6B6B6B"/>
                </a:solidFill>
                <a:latin typeface="-apple-system" pitchFamily="34" charset="0"/>
                <a:ea typeface="-apple-system" pitchFamily="34" charset="-122"/>
                <a:cs typeface="-apple-system" pitchFamily="34" charset="-120"/>
              </a:rPr>
              <a:t>63 %</a:t>
            </a:r>
            <a:endParaRPr lang="en-US" sz="825" dirty="0"/>
          </a:p>
        </p:txBody>
      </p:sp>
      <p:sp>
        <p:nvSpPr>
          <p:cNvPr id="77" name="Text 74"/>
          <p:cNvSpPr/>
          <p:nvPr/>
        </p:nvSpPr>
        <p:spPr>
          <a:xfrm>
            <a:off x="9088934" y="6343055"/>
            <a:ext cx="3810403"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b="1" dirty="0">
                <a:solidFill>
                  <a:srgbClr val="1A1A1A"/>
                </a:solidFill>
                <a:latin typeface="-apple-system" pitchFamily="34" charset="0"/>
                <a:ea typeface="-apple-system" pitchFamily="34" charset="-122"/>
                <a:cs typeface="-apple-system" pitchFamily="34" charset="-120"/>
              </a:rPr>
              <a:t>12.831</a:t>
            </a:r>
            <a:endParaRPr lang="en-US" sz="1950" dirty="0"/>
          </a:p>
        </p:txBody>
      </p:sp>
      <p:sp>
        <p:nvSpPr>
          <p:cNvPr id="78" name="Shape 75"/>
          <p:cNvSpPr/>
          <p:nvPr/>
        </p:nvSpPr>
        <p:spPr>
          <a:xfrm>
            <a:off x="8907959" y="6886873"/>
            <a:ext cx="4013746" cy="883741"/>
          </a:xfrm>
          <a:prstGeom prst="rect">
            <a:avLst/>
          </a:prstGeom>
          <a:solidFill>
            <a:srgbClr val="F5F4F1"/>
          </a:solidFill>
          <a:ln/>
        </p:spPr>
        <p:txBody>
          <a:bodyPr/>
          <a:lstStyle/>
          <a:p>
            <a:endParaRPr lang="es-EC"/>
          </a:p>
        </p:txBody>
      </p:sp>
      <p:sp>
        <p:nvSpPr>
          <p:cNvPr id="79" name="Shape 76"/>
          <p:cNvSpPr/>
          <p:nvPr/>
        </p:nvSpPr>
        <p:spPr>
          <a:xfrm>
            <a:off x="8907959" y="6886873"/>
            <a:ext cx="47625" cy="883741"/>
          </a:xfrm>
          <a:prstGeom prst="rect">
            <a:avLst/>
          </a:prstGeom>
          <a:solidFill>
            <a:srgbClr val="F5B400"/>
          </a:solidFill>
          <a:ln/>
        </p:spPr>
        <p:txBody>
          <a:bodyPr/>
          <a:lstStyle/>
          <a:p>
            <a:endParaRPr lang="es-EC"/>
          </a:p>
        </p:txBody>
      </p:sp>
      <p:sp>
        <p:nvSpPr>
          <p:cNvPr id="80" name="Text 77"/>
          <p:cNvSpPr/>
          <p:nvPr/>
        </p:nvSpPr>
        <p:spPr>
          <a:xfrm>
            <a:off x="9088934" y="7001173"/>
            <a:ext cx="488156"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216" dirty="0">
                <a:solidFill>
                  <a:srgbClr val="1A1A1A"/>
                </a:solidFill>
                <a:latin typeface="-apple-system" pitchFamily="34" charset="0"/>
                <a:ea typeface="-apple-system" pitchFamily="34" charset="-122"/>
                <a:cs typeface="-apple-system" pitchFamily="34" charset="-120"/>
              </a:rPr>
              <a:t>GAP</a:t>
            </a:r>
            <a:endParaRPr lang="en-US" sz="1200" dirty="0"/>
          </a:p>
        </p:txBody>
      </p:sp>
      <p:sp>
        <p:nvSpPr>
          <p:cNvPr id="81" name="Text 78"/>
          <p:cNvSpPr/>
          <p:nvPr/>
        </p:nvSpPr>
        <p:spPr>
          <a:xfrm>
            <a:off x="12509897" y="7048798"/>
            <a:ext cx="354657" cy="179487"/>
          </a:xfrm>
          <a:prstGeom prst="rect">
            <a:avLst/>
          </a:prstGeom>
          <a:noFill/>
          <a:ln/>
        </p:spPr>
        <p:txBody>
          <a:bodyPr wrap="square" lIns="25400" tIns="25400" rIns="25400" bIns="25400" rtlCol="0" anchor="t">
            <a:normAutofit fontScale="85000" lnSpcReduction="10000"/>
          </a:bodyPr>
          <a:lstStyle/>
          <a:p>
            <a:pPr marL="0" indent="0" algn="l">
              <a:lnSpc>
                <a:spcPct val="135000"/>
              </a:lnSpc>
              <a:buNone/>
            </a:pPr>
            <a:r>
              <a:rPr lang="en-US" sz="825" kern="0" spc="132" dirty="0">
                <a:solidFill>
                  <a:srgbClr val="6B6B6B"/>
                </a:solidFill>
                <a:latin typeface="-apple-system" pitchFamily="34" charset="0"/>
                <a:ea typeface="-apple-system" pitchFamily="34" charset="-122"/>
                <a:cs typeface="-apple-system" pitchFamily="34" charset="-120"/>
              </a:rPr>
              <a:t>20 %</a:t>
            </a:r>
            <a:endParaRPr lang="en-US" sz="825" dirty="0"/>
          </a:p>
        </p:txBody>
      </p:sp>
      <p:sp>
        <p:nvSpPr>
          <p:cNvPr id="82" name="Text 79"/>
          <p:cNvSpPr/>
          <p:nvPr/>
        </p:nvSpPr>
        <p:spPr>
          <a:xfrm>
            <a:off x="9088934" y="7322046"/>
            <a:ext cx="3810403"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b="1" dirty="0">
                <a:solidFill>
                  <a:srgbClr val="1A1A1A"/>
                </a:solidFill>
                <a:latin typeface="-apple-system" pitchFamily="34" charset="0"/>
                <a:ea typeface="-apple-system" pitchFamily="34" charset="-122"/>
                <a:cs typeface="-apple-system" pitchFamily="34" charset="-120"/>
              </a:rPr>
              <a:t>4.094</a:t>
            </a:r>
            <a:endParaRPr lang="en-US" sz="1950" dirty="0"/>
          </a:p>
        </p:txBody>
      </p:sp>
      <p:sp>
        <p:nvSpPr>
          <p:cNvPr id="83" name="Shape 80"/>
          <p:cNvSpPr/>
          <p:nvPr/>
        </p:nvSpPr>
        <p:spPr>
          <a:xfrm>
            <a:off x="8907959" y="7865864"/>
            <a:ext cx="4013746" cy="571500"/>
          </a:xfrm>
          <a:prstGeom prst="rect">
            <a:avLst/>
          </a:prstGeom>
          <a:solidFill>
            <a:srgbClr val="F5F4F1"/>
          </a:solidFill>
          <a:ln/>
        </p:spPr>
        <p:txBody>
          <a:bodyPr/>
          <a:lstStyle/>
          <a:p>
            <a:endParaRPr lang="es-EC"/>
          </a:p>
        </p:txBody>
      </p:sp>
      <p:sp>
        <p:nvSpPr>
          <p:cNvPr id="84" name="Shape 81"/>
          <p:cNvSpPr/>
          <p:nvPr/>
        </p:nvSpPr>
        <p:spPr>
          <a:xfrm>
            <a:off x="8907959" y="7865864"/>
            <a:ext cx="47625" cy="571500"/>
          </a:xfrm>
          <a:prstGeom prst="rect">
            <a:avLst/>
          </a:prstGeom>
          <a:solidFill>
            <a:srgbClr val="0B3D7E"/>
          </a:solidFill>
          <a:ln/>
        </p:spPr>
        <p:txBody>
          <a:bodyPr/>
          <a:lstStyle/>
          <a:p>
            <a:endParaRPr lang="es-EC"/>
          </a:p>
        </p:txBody>
      </p:sp>
      <p:sp>
        <p:nvSpPr>
          <p:cNvPr id="85" name="Text 82"/>
          <p:cNvSpPr/>
          <p:nvPr/>
        </p:nvSpPr>
        <p:spPr>
          <a:xfrm>
            <a:off x="9088934" y="7980164"/>
            <a:ext cx="1391543"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216" dirty="0">
                <a:solidFill>
                  <a:srgbClr val="1A1A1A"/>
                </a:solidFill>
                <a:latin typeface="-apple-system" pitchFamily="34" charset="0"/>
                <a:ea typeface="-apple-system" pitchFamily="34" charset="-122"/>
                <a:cs typeface="-apple-system" pitchFamily="34" charset="-120"/>
              </a:rPr>
              <a:t>COMPETITOR</a:t>
            </a:r>
            <a:endParaRPr lang="en-US" sz="1200" dirty="0"/>
          </a:p>
        </p:txBody>
      </p:sp>
      <p:sp>
        <p:nvSpPr>
          <p:cNvPr id="86" name="Text 83"/>
          <p:cNvSpPr/>
          <p:nvPr/>
        </p:nvSpPr>
        <p:spPr>
          <a:xfrm>
            <a:off x="12589669" y="8027789"/>
            <a:ext cx="274886" cy="179487"/>
          </a:xfrm>
          <a:prstGeom prst="rect">
            <a:avLst/>
          </a:prstGeom>
          <a:noFill/>
          <a:ln/>
        </p:spPr>
        <p:txBody>
          <a:bodyPr wrap="square" lIns="25400" tIns="25400" rIns="25400" bIns="25400" rtlCol="0" anchor="t">
            <a:normAutofit fontScale="85000" lnSpcReduction="10000"/>
          </a:bodyPr>
          <a:lstStyle/>
          <a:p>
            <a:pPr marL="0" indent="0" algn="l">
              <a:lnSpc>
                <a:spcPct val="135000"/>
              </a:lnSpc>
              <a:buNone/>
            </a:pPr>
            <a:r>
              <a:rPr lang="en-US" sz="825" kern="0" spc="132" dirty="0">
                <a:solidFill>
                  <a:srgbClr val="6B6B6B"/>
                </a:solidFill>
                <a:latin typeface="-apple-system" pitchFamily="34" charset="0"/>
                <a:ea typeface="-apple-system" pitchFamily="34" charset="-122"/>
                <a:cs typeface="-apple-system" pitchFamily="34" charset="-120"/>
              </a:rPr>
              <a:t>9 %</a:t>
            </a:r>
            <a:endParaRPr lang="en-US" sz="825" dirty="0"/>
          </a:p>
        </p:txBody>
      </p:sp>
      <p:sp>
        <p:nvSpPr>
          <p:cNvPr id="87" name="Text 84"/>
          <p:cNvSpPr/>
          <p:nvPr/>
        </p:nvSpPr>
        <p:spPr>
          <a:xfrm>
            <a:off x="9088934" y="8185845"/>
            <a:ext cx="3810403"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b="1" dirty="0">
                <a:solidFill>
                  <a:srgbClr val="1A1A1A"/>
                </a:solidFill>
                <a:latin typeface="-apple-system" pitchFamily="34" charset="0"/>
                <a:ea typeface="-apple-system" pitchFamily="34" charset="-122"/>
                <a:cs typeface="-apple-system" pitchFamily="34" charset="-120"/>
              </a:rPr>
              <a:t>1.867</a:t>
            </a:r>
            <a:endParaRPr lang="en-US" sz="1950" dirty="0"/>
          </a:p>
        </p:txBody>
      </p:sp>
      <p:sp>
        <p:nvSpPr>
          <p:cNvPr id="88" name="Shape 85"/>
          <p:cNvSpPr/>
          <p:nvPr/>
        </p:nvSpPr>
        <p:spPr>
          <a:xfrm>
            <a:off x="8907959" y="8532614"/>
            <a:ext cx="4013746" cy="571500"/>
          </a:xfrm>
          <a:prstGeom prst="rect">
            <a:avLst/>
          </a:prstGeom>
          <a:solidFill>
            <a:srgbClr val="F5F4F1"/>
          </a:solidFill>
          <a:ln/>
        </p:spPr>
        <p:txBody>
          <a:bodyPr/>
          <a:lstStyle/>
          <a:p>
            <a:endParaRPr lang="es-EC"/>
          </a:p>
        </p:txBody>
      </p:sp>
      <p:sp>
        <p:nvSpPr>
          <p:cNvPr id="89" name="Shape 86"/>
          <p:cNvSpPr/>
          <p:nvPr/>
        </p:nvSpPr>
        <p:spPr>
          <a:xfrm>
            <a:off x="8907959" y="8532614"/>
            <a:ext cx="47625" cy="571500"/>
          </a:xfrm>
          <a:prstGeom prst="rect">
            <a:avLst/>
          </a:prstGeom>
          <a:solidFill>
            <a:srgbClr val="D72631"/>
          </a:solidFill>
          <a:ln/>
        </p:spPr>
        <p:txBody>
          <a:bodyPr/>
          <a:lstStyle/>
          <a:p>
            <a:endParaRPr lang="es-EC"/>
          </a:p>
        </p:txBody>
      </p:sp>
      <p:sp>
        <p:nvSpPr>
          <p:cNvPr id="90" name="Text 87"/>
          <p:cNvSpPr/>
          <p:nvPr/>
        </p:nvSpPr>
        <p:spPr>
          <a:xfrm>
            <a:off x="9088934" y="8646914"/>
            <a:ext cx="946547"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216" dirty="0">
                <a:solidFill>
                  <a:srgbClr val="1A1A1A"/>
                </a:solidFill>
                <a:latin typeface="-apple-system" pitchFamily="34" charset="0"/>
                <a:ea typeface="-apple-system" pitchFamily="34" charset="-122"/>
                <a:cs typeface="-apple-system" pitchFamily="34" charset="-120"/>
              </a:rPr>
              <a:t>WINDOW</a:t>
            </a:r>
            <a:endParaRPr lang="en-US" sz="1200" dirty="0"/>
          </a:p>
        </p:txBody>
      </p:sp>
      <p:sp>
        <p:nvSpPr>
          <p:cNvPr id="91" name="Text 88"/>
          <p:cNvSpPr/>
          <p:nvPr/>
        </p:nvSpPr>
        <p:spPr>
          <a:xfrm>
            <a:off x="12589520" y="8694539"/>
            <a:ext cx="275034" cy="179487"/>
          </a:xfrm>
          <a:prstGeom prst="rect">
            <a:avLst/>
          </a:prstGeom>
          <a:noFill/>
          <a:ln/>
        </p:spPr>
        <p:txBody>
          <a:bodyPr wrap="square" lIns="25400" tIns="25400" rIns="25400" bIns="25400" rtlCol="0" anchor="t">
            <a:normAutofit fontScale="85000" lnSpcReduction="10000"/>
          </a:bodyPr>
          <a:lstStyle/>
          <a:p>
            <a:pPr marL="0" indent="0" algn="l">
              <a:lnSpc>
                <a:spcPct val="135000"/>
              </a:lnSpc>
              <a:buNone/>
            </a:pPr>
            <a:r>
              <a:rPr lang="en-US" sz="825" kern="0" spc="132" dirty="0">
                <a:solidFill>
                  <a:srgbClr val="6B6B6B"/>
                </a:solidFill>
                <a:latin typeface="-apple-system" pitchFamily="34" charset="0"/>
                <a:ea typeface="-apple-system" pitchFamily="34" charset="-122"/>
                <a:cs typeface="-apple-system" pitchFamily="34" charset="-120"/>
              </a:rPr>
              <a:t>8 %</a:t>
            </a:r>
            <a:endParaRPr lang="en-US" sz="825" dirty="0"/>
          </a:p>
        </p:txBody>
      </p:sp>
      <p:sp>
        <p:nvSpPr>
          <p:cNvPr id="92" name="Text 89"/>
          <p:cNvSpPr/>
          <p:nvPr/>
        </p:nvSpPr>
        <p:spPr>
          <a:xfrm>
            <a:off x="9088934" y="8852595"/>
            <a:ext cx="3810403"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b="1" dirty="0">
                <a:solidFill>
                  <a:srgbClr val="1A1A1A"/>
                </a:solidFill>
                <a:latin typeface="-apple-system" pitchFamily="34" charset="0"/>
                <a:ea typeface="-apple-system" pitchFamily="34" charset="-122"/>
                <a:cs typeface="-apple-system" pitchFamily="34" charset="-120"/>
              </a:rPr>
              <a:t>1.730</a:t>
            </a:r>
            <a:endParaRPr lang="en-US" sz="1950" dirty="0"/>
          </a:p>
        </p:txBody>
      </p:sp>
      <p:sp>
        <p:nvSpPr>
          <p:cNvPr id="93" name="Shape 90"/>
          <p:cNvSpPr/>
          <p:nvPr/>
        </p:nvSpPr>
        <p:spPr>
          <a:xfrm>
            <a:off x="13226504" y="4367064"/>
            <a:ext cx="4013746" cy="9525"/>
          </a:xfrm>
          <a:prstGeom prst="rect">
            <a:avLst/>
          </a:prstGeom>
          <a:solidFill>
            <a:srgbClr val="1A1A1A"/>
          </a:solidFill>
          <a:ln/>
        </p:spPr>
        <p:txBody>
          <a:bodyPr/>
          <a:lstStyle/>
          <a:p>
            <a:endParaRPr lang="es-EC"/>
          </a:p>
        </p:txBody>
      </p:sp>
      <p:sp>
        <p:nvSpPr>
          <p:cNvPr id="94" name="Shape 91"/>
          <p:cNvSpPr/>
          <p:nvPr/>
        </p:nvSpPr>
        <p:spPr>
          <a:xfrm>
            <a:off x="13226504" y="3863280"/>
            <a:ext cx="4013746" cy="19050"/>
          </a:xfrm>
          <a:prstGeom prst="rect">
            <a:avLst/>
          </a:prstGeom>
          <a:solidFill>
            <a:srgbClr val="1A1A1A"/>
          </a:solidFill>
          <a:ln/>
        </p:spPr>
        <p:txBody>
          <a:bodyPr/>
          <a:lstStyle/>
          <a:p>
            <a:endParaRPr lang="es-EC"/>
          </a:p>
        </p:txBody>
      </p:sp>
      <p:sp>
        <p:nvSpPr>
          <p:cNvPr id="95" name="Text 92"/>
          <p:cNvSpPr/>
          <p:nvPr/>
        </p:nvSpPr>
        <p:spPr>
          <a:xfrm>
            <a:off x="13226504" y="4034730"/>
            <a:ext cx="2463701"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336" dirty="0">
                <a:solidFill>
                  <a:srgbClr val="1A1A1A"/>
                </a:solidFill>
                <a:latin typeface="-apple-system" pitchFamily="34" charset="0"/>
                <a:ea typeface="-apple-system" pitchFamily="34" charset="-122"/>
                <a:cs typeface="-apple-system" pitchFamily="34" charset="-120"/>
              </a:rPr>
              <a:t>NIVEL 03 · EMOCIONES</a:t>
            </a:r>
            <a:endParaRPr lang="en-US" sz="1050" dirty="0"/>
          </a:p>
        </p:txBody>
      </p:sp>
      <p:sp>
        <p:nvSpPr>
          <p:cNvPr id="96" name="Text 93"/>
          <p:cNvSpPr/>
          <p:nvPr/>
        </p:nvSpPr>
        <p:spPr>
          <a:xfrm>
            <a:off x="17106454" y="4034730"/>
            <a:ext cx="209996"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336" dirty="0">
                <a:solidFill>
                  <a:srgbClr val="1A1A1A"/>
                </a:solidFill>
                <a:latin typeface="-apple-system" pitchFamily="34" charset="0"/>
                <a:ea typeface="-apple-system" pitchFamily="34" charset="-122"/>
                <a:cs typeface="-apple-system" pitchFamily="34" charset="-120"/>
              </a:rPr>
              <a:t>8</a:t>
            </a:r>
            <a:endParaRPr lang="en-US" sz="1050" dirty="0"/>
          </a:p>
        </p:txBody>
      </p:sp>
      <p:sp>
        <p:nvSpPr>
          <p:cNvPr id="97" name="Shape 94"/>
          <p:cNvSpPr/>
          <p:nvPr/>
        </p:nvSpPr>
        <p:spPr>
          <a:xfrm>
            <a:off x="13226504" y="4868019"/>
            <a:ext cx="4013746" cy="9525"/>
          </a:xfrm>
          <a:prstGeom prst="rect">
            <a:avLst/>
          </a:prstGeom>
          <a:solidFill>
            <a:srgbClr val="C9C6BD"/>
          </a:solidFill>
          <a:ln/>
        </p:spPr>
        <p:txBody>
          <a:bodyPr/>
          <a:lstStyle/>
          <a:p>
            <a:endParaRPr lang="es-EC"/>
          </a:p>
        </p:txBody>
      </p:sp>
      <p:sp>
        <p:nvSpPr>
          <p:cNvPr id="98" name="Shape 95"/>
          <p:cNvSpPr/>
          <p:nvPr/>
        </p:nvSpPr>
        <p:spPr>
          <a:xfrm>
            <a:off x="13226504" y="4643289"/>
            <a:ext cx="95250" cy="95250"/>
          </a:xfrm>
          <a:prstGeom prst="rect">
            <a:avLst/>
          </a:prstGeom>
          <a:solidFill>
            <a:srgbClr val="2E9D5C"/>
          </a:solidFill>
          <a:ln/>
        </p:spPr>
        <p:txBody>
          <a:bodyPr/>
          <a:lstStyle/>
          <a:p>
            <a:endParaRPr lang="es-EC"/>
          </a:p>
        </p:txBody>
      </p:sp>
      <p:sp>
        <p:nvSpPr>
          <p:cNvPr id="99" name="Text 96"/>
          <p:cNvSpPr/>
          <p:nvPr/>
        </p:nvSpPr>
        <p:spPr>
          <a:xfrm>
            <a:off x="13417004" y="4607421"/>
            <a:ext cx="806500"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b="1" kern="0" spc="137" dirty="0">
                <a:solidFill>
                  <a:srgbClr val="1A1A1A"/>
                </a:solidFill>
                <a:latin typeface="-apple-system" pitchFamily="34" charset="0"/>
                <a:ea typeface="-apple-system" pitchFamily="34" charset="-122"/>
                <a:cs typeface="-apple-system" pitchFamily="34" charset="-120"/>
              </a:rPr>
              <a:t>ORGULLO</a:t>
            </a:r>
            <a:endParaRPr lang="en-US" sz="975" dirty="0"/>
          </a:p>
        </p:txBody>
      </p:sp>
      <p:sp>
        <p:nvSpPr>
          <p:cNvPr id="100" name="Shape 97"/>
          <p:cNvSpPr/>
          <p:nvPr/>
        </p:nvSpPr>
        <p:spPr>
          <a:xfrm>
            <a:off x="14579054" y="4662339"/>
            <a:ext cx="1880146" cy="76200"/>
          </a:xfrm>
          <a:prstGeom prst="rect">
            <a:avLst/>
          </a:prstGeom>
          <a:solidFill>
            <a:srgbClr val="E8E6E0"/>
          </a:solidFill>
          <a:ln/>
        </p:spPr>
        <p:txBody>
          <a:bodyPr/>
          <a:lstStyle/>
          <a:p>
            <a:endParaRPr lang="es-EC"/>
          </a:p>
        </p:txBody>
      </p:sp>
      <p:sp>
        <p:nvSpPr>
          <p:cNvPr id="101" name="Shape 98"/>
          <p:cNvSpPr/>
          <p:nvPr/>
        </p:nvSpPr>
        <p:spPr>
          <a:xfrm>
            <a:off x="14579054" y="4662339"/>
            <a:ext cx="913805" cy="76200"/>
          </a:xfrm>
          <a:prstGeom prst="rect">
            <a:avLst/>
          </a:prstGeom>
          <a:solidFill>
            <a:srgbClr val="2E9D5C"/>
          </a:solidFill>
          <a:ln/>
        </p:spPr>
        <p:txBody>
          <a:bodyPr/>
          <a:lstStyle/>
          <a:p>
            <a:endParaRPr lang="es-EC"/>
          </a:p>
        </p:txBody>
      </p:sp>
      <p:sp>
        <p:nvSpPr>
          <p:cNvPr id="102" name="Text 99"/>
          <p:cNvSpPr/>
          <p:nvPr/>
        </p:nvSpPr>
        <p:spPr>
          <a:xfrm>
            <a:off x="16497300" y="4586139"/>
            <a:ext cx="742950" cy="243780"/>
          </a:xfrm>
          <a:prstGeom prst="rect">
            <a:avLst/>
          </a:prstGeom>
          <a:noFill/>
          <a:ln/>
        </p:spPr>
        <p:txBody>
          <a:bodyPr wrap="square" lIns="25400" tIns="25400" rIns="25400" bIns="25400" rtlCol="0" anchor="t">
            <a:normAutofit fontScale="92500" lnSpcReduction="20000"/>
          </a:bodyPr>
          <a:lstStyle/>
          <a:p>
            <a:pPr marL="0" indent="0" algn="r">
              <a:lnSpc>
                <a:spcPct val="135000"/>
              </a:lnSpc>
              <a:buNone/>
            </a:pPr>
            <a:r>
              <a:rPr lang="en-US" sz="1200" b="1" dirty="0">
                <a:solidFill>
                  <a:srgbClr val="1A1A1A"/>
                </a:solidFill>
                <a:latin typeface="-apple-system" pitchFamily="34" charset="0"/>
                <a:ea typeface="-apple-system" pitchFamily="34" charset="-122"/>
                <a:cs typeface="-apple-system" pitchFamily="34" charset="-120"/>
              </a:rPr>
              <a:t>9.977</a:t>
            </a:r>
            <a:endParaRPr lang="en-US" sz="1200" dirty="0"/>
          </a:p>
        </p:txBody>
      </p:sp>
      <p:sp>
        <p:nvSpPr>
          <p:cNvPr id="103" name="Shape 100"/>
          <p:cNvSpPr/>
          <p:nvPr/>
        </p:nvSpPr>
        <p:spPr>
          <a:xfrm>
            <a:off x="13226504" y="5235625"/>
            <a:ext cx="4013746" cy="9525"/>
          </a:xfrm>
          <a:prstGeom prst="rect">
            <a:avLst/>
          </a:prstGeom>
          <a:solidFill>
            <a:srgbClr val="C9C6BD"/>
          </a:solidFill>
          <a:ln/>
        </p:spPr>
        <p:txBody>
          <a:bodyPr/>
          <a:lstStyle/>
          <a:p>
            <a:endParaRPr lang="es-EC"/>
          </a:p>
        </p:txBody>
      </p:sp>
      <p:sp>
        <p:nvSpPr>
          <p:cNvPr id="104" name="Shape 101"/>
          <p:cNvSpPr/>
          <p:nvPr/>
        </p:nvSpPr>
        <p:spPr>
          <a:xfrm>
            <a:off x="13226504" y="5010894"/>
            <a:ext cx="95250" cy="95250"/>
          </a:xfrm>
          <a:prstGeom prst="rect">
            <a:avLst/>
          </a:prstGeom>
          <a:solidFill>
            <a:srgbClr val="F5B400"/>
          </a:solidFill>
          <a:ln/>
        </p:spPr>
        <p:txBody>
          <a:bodyPr/>
          <a:lstStyle/>
          <a:p>
            <a:endParaRPr lang="es-EC"/>
          </a:p>
        </p:txBody>
      </p:sp>
      <p:sp>
        <p:nvSpPr>
          <p:cNvPr id="105" name="Text 102"/>
          <p:cNvSpPr/>
          <p:nvPr/>
        </p:nvSpPr>
        <p:spPr>
          <a:xfrm>
            <a:off x="13417004" y="4975027"/>
            <a:ext cx="1174849"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b="1" kern="0" spc="137" dirty="0">
                <a:solidFill>
                  <a:srgbClr val="1A1A1A"/>
                </a:solidFill>
                <a:latin typeface="-apple-system" pitchFamily="34" charset="0"/>
                <a:ea typeface="-apple-system" pitchFamily="34" charset="-122"/>
                <a:cs typeface="-apple-system" pitchFamily="34" charset="-120"/>
              </a:rPr>
              <a:t>FRUSTRACIÓN</a:t>
            </a:r>
            <a:endParaRPr lang="en-US" sz="975" dirty="0"/>
          </a:p>
        </p:txBody>
      </p:sp>
      <p:sp>
        <p:nvSpPr>
          <p:cNvPr id="106" name="Shape 103"/>
          <p:cNvSpPr/>
          <p:nvPr/>
        </p:nvSpPr>
        <p:spPr>
          <a:xfrm>
            <a:off x="14629954" y="5029944"/>
            <a:ext cx="1829246" cy="76200"/>
          </a:xfrm>
          <a:prstGeom prst="rect">
            <a:avLst/>
          </a:prstGeom>
          <a:solidFill>
            <a:srgbClr val="E8E6E0"/>
          </a:solidFill>
          <a:ln/>
        </p:spPr>
        <p:txBody>
          <a:bodyPr/>
          <a:lstStyle/>
          <a:p>
            <a:endParaRPr lang="es-EC"/>
          </a:p>
        </p:txBody>
      </p:sp>
      <p:sp>
        <p:nvSpPr>
          <p:cNvPr id="107" name="Shape 104"/>
          <p:cNvSpPr/>
          <p:nvPr/>
        </p:nvSpPr>
        <p:spPr>
          <a:xfrm>
            <a:off x="14629954" y="5029944"/>
            <a:ext cx="340370" cy="76200"/>
          </a:xfrm>
          <a:prstGeom prst="rect">
            <a:avLst/>
          </a:prstGeom>
          <a:solidFill>
            <a:srgbClr val="F5B400"/>
          </a:solidFill>
          <a:ln/>
        </p:spPr>
        <p:txBody>
          <a:bodyPr/>
          <a:lstStyle/>
          <a:p>
            <a:endParaRPr lang="es-EC"/>
          </a:p>
        </p:txBody>
      </p:sp>
      <p:sp>
        <p:nvSpPr>
          <p:cNvPr id="108" name="Text 105"/>
          <p:cNvSpPr/>
          <p:nvPr/>
        </p:nvSpPr>
        <p:spPr>
          <a:xfrm>
            <a:off x="16497300" y="4953744"/>
            <a:ext cx="742950" cy="243780"/>
          </a:xfrm>
          <a:prstGeom prst="rect">
            <a:avLst/>
          </a:prstGeom>
          <a:noFill/>
          <a:ln/>
        </p:spPr>
        <p:txBody>
          <a:bodyPr wrap="square" lIns="25400" tIns="25400" rIns="25400" bIns="25400" rtlCol="0" anchor="t">
            <a:normAutofit fontScale="92500" lnSpcReduction="20000"/>
          </a:bodyPr>
          <a:lstStyle/>
          <a:p>
            <a:pPr marL="0" indent="0" algn="r">
              <a:lnSpc>
                <a:spcPct val="135000"/>
              </a:lnSpc>
              <a:buNone/>
            </a:pPr>
            <a:r>
              <a:rPr lang="en-US" sz="1200" b="1" dirty="0">
                <a:solidFill>
                  <a:srgbClr val="1A1A1A"/>
                </a:solidFill>
                <a:latin typeface="-apple-system" pitchFamily="34" charset="0"/>
                <a:ea typeface="-apple-system" pitchFamily="34" charset="-122"/>
                <a:cs typeface="-apple-system" pitchFamily="34" charset="-120"/>
              </a:rPr>
              <a:t>3.820</a:t>
            </a:r>
            <a:endParaRPr lang="en-US" sz="1200" dirty="0"/>
          </a:p>
        </p:txBody>
      </p:sp>
      <p:sp>
        <p:nvSpPr>
          <p:cNvPr id="109" name="Shape 106"/>
          <p:cNvSpPr/>
          <p:nvPr/>
        </p:nvSpPr>
        <p:spPr>
          <a:xfrm>
            <a:off x="13226504" y="5603230"/>
            <a:ext cx="4013746" cy="9525"/>
          </a:xfrm>
          <a:prstGeom prst="rect">
            <a:avLst/>
          </a:prstGeom>
          <a:solidFill>
            <a:srgbClr val="C9C6BD"/>
          </a:solidFill>
          <a:ln/>
        </p:spPr>
        <p:txBody>
          <a:bodyPr/>
          <a:lstStyle/>
          <a:p>
            <a:endParaRPr lang="es-EC"/>
          </a:p>
        </p:txBody>
      </p:sp>
      <p:sp>
        <p:nvSpPr>
          <p:cNvPr id="110" name="Shape 107"/>
          <p:cNvSpPr/>
          <p:nvPr/>
        </p:nvSpPr>
        <p:spPr>
          <a:xfrm>
            <a:off x="13226504" y="5378500"/>
            <a:ext cx="95250" cy="95250"/>
          </a:xfrm>
          <a:prstGeom prst="rect">
            <a:avLst/>
          </a:prstGeom>
          <a:solidFill>
            <a:srgbClr val="2E9D5C"/>
          </a:solidFill>
          <a:ln/>
        </p:spPr>
        <p:txBody>
          <a:bodyPr/>
          <a:lstStyle/>
          <a:p>
            <a:endParaRPr lang="es-EC"/>
          </a:p>
        </p:txBody>
      </p:sp>
      <p:sp>
        <p:nvSpPr>
          <p:cNvPr id="111" name="Text 108"/>
          <p:cNvSpPr/>
          <p:nvPr/>
        </p:nvSpPr>
        <p:spPr>
          <a:xfrm>
            <a:off x="13417004" y="5342632"/>
            <a:ext cx="992981"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b="1" kern="0" spc="137" dirty="0">
                <a:solidFill>
                  <a:srgbClr val="1A1A1A"/>
                </a:solidFill>
                <a:latin typeface="-apple-system" pitchFamily="34" charset="0"/>
                <a:ea typeface="-apple-system" pitchFamily="34" charset="-122"/>
                <a:cs typeface="-apple-system" pitchFamily="34" charset="-120"/>
              </a:rPr>
              <a:t>ESPERANZA</a:t>
            </a:r>
            <a:endParaRPr lang="en-US" sz="975" dirty="0"/>
          </a:p>
        </p:txBody>
      </p:sp>
      <p:sp>
        <p:nvSpPr>
          <p:cNvPr id="112" name="Shape 109"/>
          <p:cNvSpPr/>
          <p:nvPr/>
        </p:nvSpPr>
        <p:spPr>
          <a:xfrm>
            <a:off x="14579054" y="5397550"/>
            <a:ext cx="1880146" cy="76200"/>
          </a:xfrm>
          <a:prstGeom prst="rect">
            <a:avLst/>
          </a:prstGeom>
          <a:solidFill>
            <a:srgbClr val="E8E6E0"/>
          </a:solidFill>
          <a:ln/>
        </p:spPr>
        <p:txBody>
          <a:bodyPr/>
          <a:lstStyle/>
          <a:p>
            <a:endParaRPr lang="es-EC"/>
          </a:p>
        </p:txBody>
      </p:sp>
      <p:sp>
        <p:nvSpPr>
          <p:cNvPr id="113" name="Shape 110"/>
          <p:cNvSpPr/>
          <p:nvPr/>
        </p:nvSpPr>
        <p:spPr>
          <a:xfrm>
            <a:off x="14579054" y="5397550"/>
            <a:ext cx="273993" cy="76200"/>
          </a:xfrm>
          <a:prstGeom prst="rect">
            <a:avLst/>
          </a:prstGeom>
          <a:solidFill>
            <a:srgbClr val="2E9D5C"/>
          </a:solidFill>
          <a:ln/>
        </p:spPr>
        <p:txBody>
          <a:bodyPr/>
          <a:lstStyle/>
          <a:p>
            <a:endParaRPr lang="es-EC"/>
          </a:p>
        </p:txBody>
      </p:sp>
      <p:sp>
        <p:nvSpPr>
          <p:cNvPr id="114" name="Text 111"/>
          <p:cNvSpPr/>
          <p:nvPr/>
        </p:nvSpPr>
        <p:spPr>
          <a:xfrm>
            <a:off x="16497300" y="5321350"/>
            <a:ext cx="742950" cy="243780"/>
          </a:xfrm>
          <a:prstGeom prst="rect">
            <a:avLst/>
          </a:prstGeom>
          <a:noFill/>
          <a:ln/>
        </p:spPr>
        <p:txBody>
          <a:bodyPr wrap="square" lIns="25400" tIns="25400" rIns="25400" bIns="25400" rtlCol="0" anchor="t">
            <a:normAutofit fontScale="92500" lnSpcReduction="20000"/>
          </a:bodyPr>
          <a:lstStyle/>
          <a:p>
            <a:pPr marL="0" indent="0" algn="r">
              <a:lnSpc>
                <a:spcPct val="135000"/>
              </a:lnSpc>
              <a:buNone/>
            </a:pPr>
            <a:r>
              <a:rPr lang="en-US" sz="1200" b="1" dirty="0">
                <a:solidFill>
                  <a:srgbClr val="1A1A1A"/>
                </a:solidFill>
                <a:latin typeface="-apple-system" pitchFamily="34" charset="0"/>
                <a:ea typeface="-apple-system" pitchFamily="34" charset="-122"/>
                <a:cs typeface="-apple-system" pitchFamily="34" charset="-120"/>
              </a:rPr>
              <a:t>2.992</a:t>
            </a:r>
            <a:endParaRPr lang="en-US" sz="1200" dirty="0"/>
          </a:p>
        </p:txBody>
      </p:sp>
      <p:sp>
        <p:nvSpPr>
          <p:cNvPr id="115" name="Shape 112"/>
          <p:cNvSpPr/>
          <p:nvPr/>
        </p:nvSpPr>
        <p:spPr>
          <a:xfrm>
            <a:off x="13226504" y="5970836"/>
            <a:ext cx="4013746" cy="9525"/>
          </a:xfrm>
          <a:prstGeom prst="rect">
            <a:avLst/>
          </a:prstGeom>
          <a:solidFill>
            <a:srgbClr val="C9C6BD"/>
          </a:solidFill>
          <a:ln/>
        </p:spPr>
        <p:txBody>
          <a:bodyPr/>
          <a:lstStyle/>
          <a:p>
            <a:endParaRPr lang="es-EC"/>
          </a:p>
        </p:txBody>
      </p:sp>
      <p:sp>
        <p:nvSpPr>
          <p:cNvPr id="116" name="Shape 113"/>
          <p:cNvSpPr/>
          <p:nvPr/>
        </p:nvSpPr>
        <p:spPr>
          <a:xfrm>
            <a:off x="13226504" y="5746105"/>
            <a:ext cx="95250" cy="95250"/>
          </a:xfrm>
          <a:prstGeom prst="rect">
            <a:avLst/>
          </a:prstGeom>
          <a:solidFill>
            <a:srgbClr val="D72631"/>
          </a:solidFill>
          <a:ln/>
        </p:spPr>
        <p:txBody>
          <a:bodyPr/>
          <a:lstStyle/>
          <a:p>
            <a:endParaRPr lang="es-EC"/>
          </a:p>
        </p:txBody>
      </p:sp>
      <p:sp>
        <p:nvSpPr>
          <p:cNvPr id="117" name="Text 114"/>
          <p:cNvSpPr/>
          <p:nvPr/>
        </p:nvSpPr>
        <p:spPr>
          <a:xfrm>
            <a:off x="13417004" y="5710238"/>
            <a:ext cx="1125141"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b="1" kern="0" spc="137" dirty="0">
                <a:solidFill>
                  <a:srgbClr val="1A1A1A"/>
                </a:solidFill>
                <a:latin typeface="-apple-system" pitchFamily="34" charset="0"/>
                <a:ea typeface="-apple-system" pitchFamily="34" charset="-122"/>
                <a:cs typeface="-apple-system" pitchFamily="34" charset="-120"/>
              </a:rPr>
              <a:t>INDIGNACIÓN</a:t>
            </a:r>
            <a:endParaRPr lang="en-US" sz="975" dirty="0"/>
          </a:p>
        </p:txBody>
      </p:sp>
      <p:sp>
        <p:nvSpPr>
          <p:cNvPr id="118" name="Shape 115"/>
          <p:cNvSpPr/>
          <p:nvPr/>
        </p:nvSpPr>
        <p:spPr>
          <a:xfrm>
            <a:off x="14580245" y="5765155"/>
            <a:ext cx="1878955" cy="76200"/>
          </a:xfrm>
          <a:prstGeom prst="rect">
            <a:avLst/>
          </a:prstGeom>
          <a:solidFill>
            <a:srgbClr val="E8E6E0"/>
          </a:solidFill>
          <a:ln/>
        </p:spPr>
        <p:txBody>
          <a:bodyPr/>
          <a:lstStyle/>
          <a:p>
            <a:endParaRPr lang="es-EC"/>
          </a:p>
        </p:txBody>
      </p:sp>
      <p:sp>
        <p:nvSpPr>
          <p:cNvPr id="119" name="Shape 116"/>
          <p:cNvSpPr/>
          <p:nvPr/>
        </p:nvSpPr>
        <p:spPr>
          <a:xfrm>
            <a:off x="14580245" y="5765155"/>
            <a:ext cx="195411" cy="76200"/>
          </a:xfrm>
          <a:prstGeom prst="rect">
            <a:avLst/>
          </a:prstGeom>
          <a:solidFill>
            <a:srgbClr val="D72631"/>
          </a:solidFill>
          <a:ln/>
        </p:spPr>
        <p:txBody>
          <a:bodyPr/>
          <a:lstStyle/>
          <a:p>
            <a:endParaRPr lang="es-EC"/>
          </a:p>
        </p:txBody>
      </p:sp>
      <p:sp>
        <p:nvSpPr>
          <p:cNvPr id="120" name="Text 117"/>
          <p:cNvSpPr/>
          <p:nvPr/>
        </p:nvSpPr>
        <p:spPr>
          <a:xfrm>
            <a:off x="16497300" y="5688955"/>
            <a:ext cx="742950" cy="243780"/>
          </a:xfrm>
          <a:prstGeom prst="rect">
            <a:avLst/>
          </a:prstGeom>
          <a:noFill/>
          <a:ln/>
        </p:spPr>
        <p:txBody>
          <a:bodyPr wrap="square" lIns="25400" tIns="25400" rIns="25400" bIns="25400" rtlCol="0" anchor="t">
            <a:normAutofit fontScale="92500" lnSpcReduction="20000"/>
          </a:bodyPr>
          <a:lstStyle/>
          <a:p>
            <a:pPr marL="0" indent="0" algn="r">
              <a:lnSpc>
                <a:spcPct val="135000"/>
              </a:lnSpc>
              <a:buNone/>
            </a:pPr>
            <a:r>
              <a:rPr lang="en-US" sz="1200" b="1" dirty="0">
                <a:solidFill>
                  <a:srgbClr val="1A1A1A"/>
                </a:solidFill>
                <a:latin typeface="-apple-system" pitchFamily="34" charset="0"/>
                <a:ea typeface="-apple-system" pitchFamily="34" charset="-122"/>
                <a:cs typeface="-apple-system" pitchFamily="34" charset="-120"/>
              </a:rPr>
              <a:t>2.136</a:t>
            </a:r>
            <a:endParaRPr lang="en-US" sz="1200" dirty="0"/>
          </a:p>
        </p:txBody>
      </p:sp>
      <p:sp>
        <p:nvSpPr>
          <p:cNvPr id="121" name="Shape 118"/>
          <p:cNvSpPr/>
          <p:nvPr/>
        </p:nvSpPr>
        <p:spPr>
          <a:xfrm>
            <a:off x="13226504" y="6338441"/>
            <a:ext cx="4013746" cy="9525"/>
          </a:xfrm>
          <a:prstGeom prst="rect">
            <a:avLst/>
          </a:prstGeom>
          <a:solidFill>
            <a:srgbClr val="C9C6BD"/>
          </a:solidFill>
          <a:ln/>
        </p:spPr>
        <p:txBody>
          <a:bodyPr/>
          <a:lstStyle/>
          <a:p>
            <a:endParaRPr lang="es-EC"/>
          </a:p>
        </p:txBody>
      </p:sp>
      <p:sp>
        <p:nvSpPr>
          <p:cNvPr id="122" name="Shape 119"/>
          <p:cNvSpPr/>
          <p:nvPr/>
        </p:nvSpPr>
        <p:spPr>
          <a:xfrm>
            <a:off x="13226504" y="6113711"/>
            <a:ext cx="95250" cy="95250"/>
          </a:xfrm>
          <a:prstGeom prst="rect">
            <a:avLst/>
          </a:prstGeom>
          <a:solidFill>
            <a:srgbClr val="F5B400"/>
          </a:solidFill>
          <a:ln/>
        </p:spPr>
        <p:txBody>
          <a:bodyPr/>
          <a:lstStyle/>
          <a:p>
            <a:endParaRPr lang="es-EC"/>
          </a:p>
        </p:txBody>
      </p:sp>
      <p:sp>
        <p:nvSpPr>
          <p:cNvPr id="123" name="Text 120"/>
          <p:cNvSpPr/>
          <p:nvPr/>
        </p:nvSpPr>
        <p:spPr>
          <a:xfrm>
            <a:off x="13417004" y="6077843"/>
            <a:ext cx="960388"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b="1" kern="0" spc="137" dirty="0">
                <a:solidFill>
                  <a:srgbClr val="1A1A1A"/>
                </a:solidFill>
                <a:latin typeface="-apple-system" pitchFamily="34" charset="0"/>
                <a:ea typeface="-apple-system" pitchFamily="34" charset="-122"/>
                <a:cs typeface="-apple-system" pitchFamily="34" charset="-120"/>
              </a:rPr>
              <a:t>NOSTALGIA</a:t>
            </a:r>
            <a:endParaRPr lang="en-US" sz="975" dirty="0"/>
          </a:p>
        </p:txBody>
      </p:sp>
      <p:sp>
        <p:nvSpPr>
          <p:cNvPr id="124" name="Shape 121"/>
          <p:cNvSpPr/>
          <p:nvPr/>
        </p:nvSpPr>
        <p:spPr>
          <a:xfrm>
            <a:off x="14579054" y="6132761"/>
            <a:ext cx="1880146" cy="76200"/>
          </a:xfrm>
          <a:prstGeom prst="rect">
            <a:avLst/>
          </a:prstGeom>
          <a:solidFill>
            <a:srgbClr val="E8E6E0"/>
          </a:solidFill>
          <a:ln/>
        </p:spPr>
        <p:txBody>
          <a:bodyPr/>
          <a:lstStyle/>
          <a:p>
            <a:endParaRPr lang="es-EC"/>
          </a:p>
        </p:txBody>
      </p:sp>
      <p:sp>
        <p:nvSpPr>
          <p:cNvPr id="125" name="Shape 122"/>
          <p:cNvSpPr/>
          <p:nvPr/>
        </p:nvSpPr>
        <p:spPr>
          <a:xfrm>
            <a:off x="14579054" y="6132761"/>
            <a:ext cx="77837" cy="76200"/>
          </a:xfrm>
          <a:prstGeom prst="rect">
            <a:avLst/>
          </a:prstGeom>
          <a:solidFill>
            <a:srgbClr val="F5B400"/>
          </a:solidFill>
          <a:ln/>
        </p:spPr>
        <p:txBody>
          <a:bodyPr/>
          <a:lstStyle/>
          <a:p>
            <a:endParaRPr lang="es-EC"/>
          </a:p>
        </p:txBody>
      </p:sp>
      <p:sp>
        <p:nvSpPr>
          <p:cNvPr id="126" name="Text 123"/>
          <p:cNvSpPr/>
          <p:nvPr/>
        </p:nvSpPr>
        <p:spPr>
          <a:xfrm>
            <a:off x="16497300" y="6056561"/>
            <a:ext cx="742950" cy="243780"/>
          </a:xfrm>
          <a:prstGeom prst="rect">
            <a:avLst/>
          </a:prstGeom>
          <a:noFill/>
          <a:ln/>
        </p:spPr>
        <p:txBody>
          <a:bodyPr wrap="square" lIns="25400" tIns="25400" rIns="25400" bIns="25400" rtlCol="0" anchor="t">
            <a:normAutofit fontScale="92500" lnSpcReduction="20000"/>
          </a:bodyPr>
          <a:lstStyle/>
          <a:p>
            <a:pPr marL="0" indent="0" algn="r">
              <a:lnSpc>
                <a:spcPct val="135000"/>
              </a:lnSpc>
              <a:buNone/>
            </a:pPr>
            <a:r>
              <a:rPr lang="en-US" sz="1200" b="1" dirty="0">
                <a:solidFill>
                  <a:srgbClr val="1A1A1A"/>
                </a:solidFill>
                <a:latin typeface="-apple-system" pitchFamily="34" charset="0"/>
                <a:ea typeface="-apple-system" pitchFamily="34" charset="-122"/>
                <a:cs typeface="-apple-system" pitchFamily="34" charset="-120"/>
              </a:rPr>
              <a:t>850</a:t>
            </a:r>
            <a:endParaRPr lang="en-US" sz="1200" dirty="0"/>
          </a:p>
        </p:txBody>
      </p:sp>
      <p:sp>
        <p:nvSpPr>
          <p:cNvPr id="127" name="Shape 124"/>
          <p:cNvSpPr/>
          <p:nvPr/>
        </p:nvSpPr>
        <p:spPr>
          <a:xfrm>
            <a:off x="13226504" y="6706046"/>
            <a:ext cx="4013746" cy="9525"/>
          </a:xfrm>
          <a:prstGeom prst="rect">
            <a:avLst/>
          </a:prstGeom>
          <a:solidFill>
            <a:srgbClr val="C9C6BD"/>
          </a:solidFill>
          <a:ln/>
        </p:spPr>
        <p:txBody>
          <a:bodyPr/>
          <a:lstStyle/>
          <a:p>
            <a:endParaRPr lang="es-EC"/>
          </a:p>
        </p:txBody>
      </p:sp>
      <p:sp>
        <p:nvSpPr>
          <p:cNvPr id="128" name="Shape 125"/>
          <p:cNvSpPr/>
          <p:nvPr/>
        </p:nvSpPr>
        <p:spPr>
          <a:xfrm>
            <a:off x="13226504" y="6481316"/>
            <a:ext cx="95250" cy="95250"/>
          </a:xfrm>
          <a:prstGeom prst="rect">
            <a:avLst/>
          </a:prstGeom>
          <a:solidFill>
            <a:srgbClr val="2E9D5C"/>
          </a:solidFill>
          <a:ln/>
        </p:spPr>
        <p:txBody>
          <a:bodyPr/>
          <a:lstStyle/>
          <a:p>
            <a:endParaRPr lang="es-EC"/>
          </a:p>
        </p:txBody>
      </p:sp>
      <p:sp>
        <p:nvSpPr>
          <p:cNvPr id="129" name="Text 126"/>
          <p:cNvSpPr/>
          <p:nvPr/>
        </p:nvSpPr>
        <p:spPr>
          <a:xfrm>
            <a:off x="13417004" y="6445448"/>
            <a:ext cx="713780"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b="1" kern="0" spc="137" dirty="0">
                <a:solidFill>
                  <a:srgbClr val="1A1A1A"/>
                </a:solidFill>
                <a:latin typeface="-apple-system" pitchFamily="34" charset="0"/>
                <a:ea typeface="-apple-system" pitchFamily="34" charset="-122"/>
                <a:cs typeface="-apple-system" pitchFamily="34" charset="-120"/>
              </a:rPr>
              <a:t>ILUSIÓN</a:t>
            </a:r>
            <a:endParaRPr lang="en-US" sz="975" dirty="0"/>
          </a:p>
        </p:txBody>
      </p:sp>
      <p:sp>
        <p:nvSpPr>
          <p:cNvPr id="130" name="Shape 127"/>
          <p:cNvSpPr/>
          <p:nvPr/>
        </p:nvSpPr>
        <p:spPr>
          <a:xfrm>
            <a:off x="14579054" y="6500366"/>
            <a:ext cx="1880146" cy="76200"/>
          </a:xfrm>
          <a:prstGeom prst="rect">
            <a:avLst/>
          </a:prstGeom>
          <a:solidFill>
            <a:srgbClr val="E8E6E0"/>
          </a:solidFill>
          <a:ln/>
        </p:spPr>
        <p:txBody>
          <a:bodyPr/>
          <a:lstStyle/>
          <a:p>
            <a:endParaRPr lang="es-EC"/>
          </a:p>
        </p:txBody>
      </p:sp>
      <p:sp>
        <p:nvSpPr>
          <p:cNvPr id="131" name="Shape 128"/>
          <p:cNvSpPr/>
          <p:nvPr/>
        </p:nvSpPr>
        <p:spPr>
          <a:xfrm>
            <a:off x="14579054" y="6500366"/>
            <a:ext cx="52983" cy="76200"/>
          </a:xfrm>
          <a:prstGeom prst="rect">
            <a:avLst/>
          </a:prstGeom>
          <a:solidFill>
            <a:srgbClr val="2E9D5C"/>
          </a:solidFill>
          <a:ln/>
        </p:spPr>
        <p:txBody>
          <a:bodyPr/>
          <a:lstStyle/>
          <a:p>
            <a:endParaRPr lang="es-EC"/>
          </a:p>
        </p:txBody>
      </p:sp>
      <p:sp>
        <p:nvSpPr>
          <p:cNvPr id="132" name="Text 129"/>
          <p:cNvSpPr/>
          <p:nvPr/>
        </p:nvSpPr>
        <p:spPr>
          <a:xfrm>
            <a:off x="16497300" y="6424166"/>
            <a:ext cx="742950" cy="243780"/>
          </a:xfrm>
          <a:prstGeom prst="rect">
            <a:avLst/>
          </a:prstGeom>
          <a:noFill/>
          <a:ln/>
        </p:spPr>
        <p:txBody>
          <a:bodyPr wrap="square" lIns="25400" tIns="25400" rIns="25400" bIns="25400" rtlCol="0" anchor="t">
            <a:normAutofit fontScale="92500" lnSpcReduction="20000"/>
          </a:bodyPr>
          <a:lstStyle/>
          <a:p>
            <a:pPr marL="0" indent="0" algn="r">
              <a:lnSpc>
                <a:spcPct val="135000"/>
              </a:lnSpc>
              <a:buNone/>
            </a:pPr>
            <a:r>
              <a:rPr lang="en-US" sz="1200" b="1" dirty="0">
                <a:solidFill>
                  <a:srgbClr val="1A1A1A"/>
                </a:solidFill>
                <a:latin typeface="-apple-system" pitchFamily="34" charset="0"/>
                <a:ea typeface="-apple-system" pitchFamily="34" charset="-122"/>
                <a:cs typeface="-apple-system" pitchFamily="34" charset="-120"/>
              </a:rPr>
              <a:t>580</a:t>
            </a:r>
            <a:endParaRPr lang="en-US" sz="1200" dirty="0"/>
          </a:p>
        </p:txBody>
      </p:sp>
      <p:sp>
        <p:nvSpPr>
          <p:cNvPr id="133" name="Shape 130"/>
          <p:cNvSpPr/>
          <p:nvPr/>
        </p:nvSpPr>
        <p:spPr>
          <a:xfrm>
            <a:off x="13226504" y="7073652"/>
            <a:ext cx="4013746" cy="9525"/>
          </a:xfrm>
          <a:prstGeom prst="rect">
            <a:avLst/>
          </a:prstGeom>
          <a:solidFill>
            <a:srgbClr val="C9C6BD"/>
          </a:solidFill>
          <a:ln/>
        </p:spPr>
        <p:txBody>
          <a:bodyPr/>
          <a:lstStyle/>
          <a:p>
            <a:endParaRPr lang="es-EC"/>
          </a:p>
        </p:txBody>
      </p:sp>
      <p:sp>
        <p:nvSpPr>
          <p:cNvPr id="134" name="Shape 131"/>
          <p:cNvSpPr/>
          <p:nvPr/>
        </p:nvSpPr>
        <p:spPr>
          <a:xfrm>
            <a:off x="13226504" y="6848921"/>
            <a:ext cx="95250" cy="95250"/>
          </a:xfrm>
          <a:prstGeom prst="rect">
            <a:avLst/>
          </a:prstGeom>
          <a:solidFill>
            <a:srgbClr val="2E9D5C"/>
          </a:solidFill>
          <a:ln/>
        </p:spPr>
        <p:txBody>
          <a:bodyPr/>
          <a:lstStyle/>
          <a:p>
            <a:endParaRPr lang="es-EC"/>
          </a:p>
        </p:txBody>
      </p:sp>
      <p:sp>
        <p:nvSpPr>
          <p:cNvPr id="135" name="Text 132"/>
          <p:cNvSpPr/>
          <p:nvPr/>
        </p:nvSpPr>
        <p:spPr>
          <a:xfrm>
            <a:off x="13417004" y="6813054"/>
            <a:ext cx="860227"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b="1" kern="0" spc="137" dirty="0">
                <a:solidFill>
                  <a:srgbClr val="1A1A1A"/>
                </a:solidFill>
                <a:latin typeface="-apple-system" pitchFamily="34" charset="0"/>
                <a:ea typeface="-apple-system" pitchFamily="34" charset="-122"/>
                <a:cs typeface="-apple-system" pitchFamily="34" charset="-120"/>
              </a:rPr>
              <a:t>GRATITUD</a:t>
            </a:r>
            <a:endParaRPr lang="en-US" sz="975" dirty="0"/>
          </a:p>
        </p:txBody>
      </p:sp>
      <p:sp>
        <p:nvSpPr>
          <p:cNvPr id="136" name="Shape 133"/>
          <p:cNvSpPr/>
          <p:nvPr/>
        </p:nvSpPr>
        <p:spPr>
          <a:xfrm>
            <a:off x="14579054" y="6867971"/>
            <a:ext cx="1880146" cy="76200"/>
          </a:xfrm>
          <a:prstGeom prst="rect">
            <a:avLst/>
          </a:prstGeom>
          <a:solidFill>
            <a:srgbClr val="E8E6E0"/>
          </a:solidFill>
          <a:ln/>
        </p:spPr>
        <p:txBody>
          <a:bodyPr/>
          <a:lstStyle/>
          <a:p>
            <a:endParaRPr lang="es-EC"/>
          </a:p>
        </p:txBody>
      </p:sp>
      <p:sp>
        <p:nvSpPr>
          <p:cNvPr id="137" name="Shape 134"/>
          <p:cNvSpPr/>
          <p:nvPr/>
        </p:nvSpPr>
        <p:spPr>
          <a:xfrm>
            <a:off x="14579054" y="6867971"/>
            <a:ext cx="11311" cy="76200"/>
          </a:xfrm>
          <a:prstGeom prst="rect">
            <a:avLst/>
          </a:prstGeom>
          <a:solidFill>
            <a:srgbClr val="2E9D5C"/>
          </a:solidFill>
          <a:ln/>
        </p:spPr>
        <p:txBody>
          <a:bodyPr/>
          <a:lstStyle/>
          <a:p>
            <a:endParaRPr lang="es-EC"/>
          </a:p>
        </p:txBody>
      </p:sp>
      <p:sp>
        <p:nvSpPr>
          <p:cNvPr id="138" name="Text 135"/>
          <p:cNvSpPr/>
          <p:nvPr/>
        </p:nvSpPr>
        <p:spPr>
          <a:xfrm>
            <a:off x="16497300" y="6791771"/>
            <a:ext cx="742950" cy="243780"/>
          </a:xfrm>
          <a:prstGeom prst="rect">
            <a:avLst/>
          </a:prstGeom>
          <a:noFill/>
          <a:ln/>
        </p:spPr>
        <p:txBody>
          <a:bodyPr wrap="square" lIns="25400" tIns="25400" rIns="25400" bIns="25400" rtlCol="0" anchor="t">
            <a:normAutofit fontScale="92500" lnSpcReduction="20000"/>
          </a:bodyPr>
          <a:lstStyle/>
          <a:p>
            <a:pPr marL="0" indent="0" algn="r">
              <a:lnSpc>
                <a:spcPct val="135000"/>
              </a:lnSpc>
              <a:buNone/>
            </a:pPr>
            <a:r>
              <a:rPr lang="en-US" sz="1200" b="1" dirty="0">
                <a:solidFill>
                  <a:srgbClr val="1A1A1A"/>
                </a:solidFill>
                <a:latin typeface="-apple-system" pitchFamily="34" charset="0"/>
                <a:ea typeface="-apple-system" pitchFamily="34" charset="-122"/>
                <a:cs typeface="-apple-system" pitchFamily="34" charset="-120"/>
              </a:rPr>
              <a:t>124</a:t>
            </a:r>
            <a:endParaRPr lang="en-US" sz="1200" dirty="0"/>
          </a:p>
        </p:txBody>
      </p:sp>
      <p:sp>
        <p:nvSpPr>
          <p:cNvPr id="139" name="Shape 136"/>
          <p:cNvSpPr/>
          <p:nvPr/>
        </p:nvSpPr>
        <p:spPr>
          <a:xfrm>
            <a:off x="13226504" y="7216527"/>
            <a:ext cx="95250" cy="95250"/>
          </a:xfrm>
          <a:prstGeom prst="rect">
            <a:avLst/>
          </a:prstGeom>
          <a:solidFill>
            <a:srgbClr val="2E9D5C"/>
          </a:solidFill>
          <a:ln/>
        </p:spPr>
        <p:txBody>
          <a:bodyPr/>
          <a:lstStyle/>
          <a:p>
            <a:endParaRPr lang="es-EC"/>
          </a:p>
        </p:txBody>
      </p:sp>
      <p:sp>
        <p:nvSpPr>
          <p:cNvPr id="140" name="Text 137"/>
          <p:cNvSpPr/>
          <p:nvPr/>
        </p:nvSpPr>
        <p:spPr>
          <a:xfrm>
            <a:off x="13417004" y="7180659"/>
            <a:ext cx="744141"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b="1" kern="0" spc="137" dirty="0">
                <a:solidFill>
                  <a:srgbClr val="1A1A1A"/>
                </a:solidFill>
                <a:latin typeface="-apple-system" pitchFamily="34" charset="0"/>
                <a:ea typeface="-apple-system" pitchFamily="34" charset="-122"/>
                <a:cs typeface="-apple-system" pitchFamily="34" charset="-120"/>
              </a:rPr>
              <a:t>ALEGRÍA</a:t>
            </a:r>
            <a:endParaRPr lang="en-US" sz="975" dirty="0"/>
          </a:p>
        </p:txBody>
      </p:sp>
      <p:sp>
        <p:nvSpPr>
          <p:cNvPr id="141" name="Shape 138"/>
          <p:cNvSpPr/>
          <p:nvPr/>
        </p:nvSpPr>
        <p:spPr>
          <a:xfrm>
            <a:off x="14579054" y="7235577"/>
            <a:ext cx="1880146" cy="76200"/>
          </a:xfrm>
          <a:prstGeom prst="rect">
            <a:avLst/>
          </a:prstGeom>
          <a:solidFill>
            <a:srgbClr val="E8E6E0"/>
          </a:solidFill>
          <a:ln/>
        </p:spPr>
        <p:txBody>
          <a:bodyPr/>
          <a:lstStyle/>
          <a:p>
            <a:endParaRPr lang="es-EC"/>
          </a:p>
        </p:txBody>
      </p:sp>
      <p:sp>
        <p:nvSpPr>
          <p:cNvPr id="142" name="Text 139"/>
          <p:cNvSpPr/>
          <p:nvPr/>
        </p:nvSpPr>
        <p:spPr>
          <a:xfrm>
            <a:off x="16497300" y="7159377"/>
            <a:ext cx="742950" cy="243780"/>
          </a:xfrm>
          <a:prstGeom prst="rect">
            <a:avLst/>
          </a:prstGeom>
          <a:noFill/>
          <a:ln/>
        </p:spPr>
        <p:txBody>
          <a:bodyPr wrap="square" lIns="25400" tIns="25400" rIns="25400" bIns="25400" rtlCol="0" anchor="t">
            <a:normAutofit fontScale="92500" lnSpcReduction="20000"/>
          </a:bodyPr>
          <a:lstStyle/>
          <a:p>
            <a:pPr marL="0" indent="0" algn="r">
              <a:lnSpc>
                <a:spcPct val="135000"/>
              </a:lnSpc>
              <a:buNone/>
            </a:pPr>
            <a:r>
              <a:rPr lang="en-US" sz="1200" b="1" dirty="0">
                <a:solidFill>
                  <a:srgbClr val="1A1A1A"/>
                </a:solidFill>
                <a:latin typeface="-apple-system" pitchFamily="34" charset="0"/>
                <a:ea typeface="-apple-system" pitchFamily="34" charset="-122"/>
                <a:cs typeface="-apple-system" pitchFamily="34" charset="-120"/>
              </a:rPr>
              <a:t>48</a:t>
            </a:r>
            <a:endParaRPr lang="en-US" sz="1200" dirty="0"/>
          </a:p>
        </p:txBody>
      </p:sp>
      <p:sp>
        <p:nvSpPr>
          <p:cNvPr id="143" name="Text 140"/>
          <p:cNvSpPr/>
          <p:nvPr/>
        </p:nvSpPr>
        <p:spPr>
          <a:xfrm>
            <a:off x="1047750" y="9275564"/>
            <a:ext cx="4680648" cy="19228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900" kern="0" spc="252" dirty="0">
                <a:solidFill>
                  <a:srgbClr val="6B6B6B"/>
                </a:solidFill>
                <a:latin typeface="-apple-system" pitchFamily="34" charset="0"/>
                <a:ea typeface="-apple-system" pitchFamily="34" charset="-122"/>
                <a:cs typeface="-apple-system" pitchFamily="34" charset="-120"/>
              </a:rPr>
              <a:t>VERDE · ORGULLO / ESPERANZA / ILUSIÓN / GRATITUD</a:t>
            </a:r>
            <a:endParaRPr lang="en-US" sz="900" dirty="0"/>
          </a:p>
        </p:txBody>
      </p:sp>
      <p:sp>
        <p:nvSpPr>
          <p:cNvPr id="144" name="Text 141"/>
          <p:cNvSpPr/>
          <p:nvPr/>
        </p:nvSpPr>
        <p:spPr>
          <a:xfrm>
            <a:off x="8892629" y="9275564"/>
            <a:ext cx="3401571" cy="19228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900" kern="0" spc="252" dirty="0">
                <a:solidFill>
                  <a:srgbClr val="6B6B6B"/>
                </a:solidFill>
                <a:latin typeface="-apple-system" pitchFamily="34" charset="0"/>
                <a:ea typeface="-apple-system" pitchFamily="34" charset="-122"/>
                <a:cs typeface="-apple-system" pitchFamily="34" charset="-120"/>
              </a:rPr>
              <a:t>AMARILLO · FRUSTRACIÓN / NOSTALGIA</a:t>
            </a:r>
            <a:endParaRPr lang="en-US" sz="900" dirty="0"/>
          </a:p>
        </p:txBody>
      </p:sp>
      <p:sp>
        <p:nvSpPr>
          <p:cNvPr id="145" name="Text 142"/>
          <p:cNvSpPr/>
          <p:nvPr/>
        </p:nvSpPr>
        <p:spPr>
          <a:xfrm>
            <a:off x="15495538" y="9275564"/>
            <a:ext cx="1820912" cy="19228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900" kern="0" spc="252" dirty="0">
                <a:solidFill>
                  <a:srgbClr val="6B6B6B"/>
                </a:solidFill>
                <a:latin typeface="-apple-system" pitchFamily="34" charset="0"/>
                <a:ea typeface="-apple-system" pitchFamily="34" charset="-122"/>
                <a:cs typeface="-apple-system" pitchFamily="34" charset="-120"/>
              </a:rPr>
              <a:t>ROJO · INDIGNACIÓN</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9305181"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3267730" y="666750"/>
            <a:ext cx="4091696"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09 · LOS 3 HALLAZGOS DEL ÁRBOL</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84947" y="9547920"/>
            <a:ext cx="831503"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17 / 32</a:t>
            </a:r>
            <a:endParaRPr lang="en-US" sz="1200" dirty="0"/>
          </a:p>
        </p:txBody>
      </p:sp>
      <p:sp>
        <p:nvSpPr>
          <p:cNvPr id="7" name="Text 4"/>
          <p:cNvSpPr/>
          <p:nvPr/>
        </p:nvSpPr>
        <p:spPr>
          <a:xfrm>
            <a:off x="1047750" y="1905000"/>
            <a:ext cx="16678275"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480" dirty="0">
                <a:solidFill>
                  <a:srgbClr val="D72631"/>
                </a:solidFill>
                <a:latin typeface="-apple-system" pitchFamily="34" charset="0"/>
                <a:ea typeface="-apple-system" pitchFamily="34" charset="-122"/>
                <a:cs typeface="-apple-system" pitchFamily="34" charset="-120"/>
              </a:rPr>
              <a:t>LO QUE SECOM PROBABLEMENTE NO HA VISTO</a:t>
            </a:r>
            <a:endParaRPr lang="en-US" sz="1200" dirty="0"/>
          </a:p>
        </p:txBody>
      </p:sp>
      <p:sp>
        <p:nvSpPr>
          <p:cNvPr id="8" name="Text 5"/>
          <p:cNvSpPr/>
          <p:nvPr/>
        </p:nvSpPr>
        <p:spPr>
          <a:xfrm>
            <a:off x="1047750" y="2339280"/>
            <a:ext cx="16678275" cy="1409700"/>
          </a:xfrm>
          <a:prstGeom prst="rect">
            <a:avLst/>
          </a:prstGeom>
          <a:noFill/>
          <a:ln/>
        </p:spPr>
        <p:txBody>
          <a:bodyPr wrap="square" lIns="25400" tIns="25400" rIns="25400" bIns="25400" rtlCol="0" anchor="t">
            <a:normAutofit/>
          </a:bodyPr>
          <a:lstStyle/>
          <a:p>
            <a:pPr marL="0" indent="0" algn="l">
              <a:lnSpc>
                <a:spcPct val="100000"/>
              </a:lnSpc>
              <a:buNone/>
            </a:pPr>
            <a:r>
              <a:rPr lang="en-US" sz="5400" b="1" kern="0" spc="-108" dirty="0">
                <a:solidFill>
                  <a:srgbClr val="1A1A1A"/>
                </a:solidFill>
                <a:latin typeface="-apple-system" pitchFamily="34" charset="0"/>
                <a:ea typeface="-apple-system" pitchFamily="34" charset="-122"/>
                <a:cs typeface="-apple-system" pitchFamily="34" charset="-120"/>
              </a:rPr>
              <a:t>Tres lecturas que </a:t>
            </a:r>
            <a:r>
              <a:rPr lang="en-US" sz="5400" b="1" kern="0" spc="-108" dirty="0">
                <a:solidFill>
                  <a:srgbClr val="D72631"/>
                </a:solidFill>
                <a:latin typeface="-apple-system" pitchFamily="34" charset="0"/>
                <a:ea typeface="-apple-system" pitchFamily="34" charset="-122"/>
                <a:cs typeface="-apple-system" pitchFamily="34" charset="-120"/>
              </a:rPr>
              <a:t>cambian la conversación.</a:t>
            </a:r>
            <a:endParaRPr lang="en-US" sz="5400" dirty="0"/>
          </a:p>
        </p:txBody>
      </p:sp>
      <p:sp>
        <p:nvSpPr>
          <p:cNvPr id="9" name="Shape 6"/>
          <p:cNvSpPr/>
          <p:nvPr/>
        </p:nvSpPr>
        <p:spPr>
          <a:xfrm>
            <a:off x="1047750" y="4539555"/>
            <a:ext cx="2188369" cy="383828"/>
          </a:xfrm>
          <a:prstGeom prst="rect">
            <a:avLst/>
          </a:prstGeom>
          <a:solidFill>
            <a:srgbClr val="D72631"/>
          </a:solidFill>
          <a:ln/>
        </p:spPr>
        <p:txBody>
          <a:bodyPr/>
          <a:lstStyle/>
          <a:p>
            <a:endParaRPr lang="es-EC"/>
          </a:p>
        </p:txBody>
      </p:sp>
      <p:sp>
        <p:nvSpPr>
          <p:cNvPr id="10" name="Text 7"/>
          <p:cNvSpPr/>
          <p:nvPr/>
        </p:nvSpPr>
        <p:spPr>
          <a:xfrm>
            <a:off x="1257300" y="4615755"/>
            <a:ext cx="1845469" cy="26952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b="1" kern="0" spc="432" dirty="0">
                <a:solidFill>
                  <a:srgbClr val="FFFFFF"/>
                </a:solidFill>
                <a:latin typeface="-apple-system" pitchFamily="34" charset="0"/>
                <a:ea typeface="-apple-system" pitchFamily="34" charset="-122"/>
                <a:cs typeface="-apple-system" pitchFamily="34" charset="-120"/>
              </a:rPr>
              <a:t>HALLAZGO 01</a:t>
            </a:r>
            <a:endParaRPr lang="en-US" sz="1350" dirty="0"/>
          </a:p>
        </p:txBody>
      </p:sp>
      <p:sp>
        <p:nvSpPr>
          <p:cNvPr id="11" name="Text 8"/>
          <p:cNvSpPr/>
          <p:nvPr/>
        </p:nvSpPr>
        <p:spPr>
          <a:xfrm>
            <a:off x="1047750" y="5190083"/>
            <a:ext cx="7706344" cy="2476500"/>
          </a:xfrm>
          <a:prstGeom prst="rect">
            <a:avLst/>
          </a:prstGeom>
          <a:noFill/>
          <a:ln/>
        </p:spPr>
        <p:txBody>
          <a:bodyPr wrap="square" lIns="25400" tIns="25400" rIns="25400" bIns="25400" rtlCol="0" anchor="t">
            <a:normAutofit/>
          </a:bodyPr>
          <a:lstStyle/>
          <a:p>
            <a:pPr marL="0" indent="0" algn="l">
              <a:lnSpc>
                <a:spcPct val="100000"/>
              </a:lnSpc>
              <a:buNone/>
            </a:pPr>
            <a:r>
              <a:rPr lang="en-US" sz="4800" b="1" kern="0" spc="-96" dirty="0">
                <a:solidFill>
                  <a:srgbClr val="1A1A1A"/>
                </a:solidFill>
                <a:latin typeface="-apple-system" pitchFamily="34" charset="0"/>
                <a:ea typeface="-apple-system" pitchFamily="34" charset="-122"/>
                <a:cs typeface="-apple-system" pitchFamily="34" charset="-120"/>
              </a:rPr>
              <a:t>El país </a:t>
            </a:r>
            <a:r>
              <a:rPr lang="en-US" sz="4800" b="1" kern="0" spc="-96" dirty="0">
                <a:solidFill>
                  <a:srgbClr val="C9C6BD"/>
                </a:solidFill>
                <a:latin typeface="-apple-system" pitchFamily="34" charset="0"/>
                <a:ea typeface="-apple-system" pitchFamily="34" charset="-122"/>
                <a:cs typeface="-apple-system" pitchFamily="34" charset="-120"/>
              </a:rPr>
              <a:t>NO </a:t>
            </a:r>
            <a:r>
              <a:rPr lang="en-US" sz="4800" b="1" kern="0" spc="-96" dirty="0">
                <a:solidFill>
                  <a:srgbClr val="1A1A1A"/>
                </a:solidFill>
                <a:latin typeface="-apple-system" pitchFamily="34" charset="0"/>
                <a:ea typeface="-apple-system" pitchFamily="34" charset="-122"/>
                <a:cs typeface="-apple-system" pitchFamily="34" charset="-120"/>
              </a:rPr>
              <a:t>está en crisis emocional. </a:t>
            </a:r>
            <a:r>
              <a:rPr lang="en-US" sz="4800" b="1" kern="0" spc="-96" dirty="0">
                <a:solidFill>
                  <a:srgbClr val="D72631"/>
                </a:solidFill>
                <a:latin typeface="-apple-system" pitchFamily="34" charset="0"/>
                <a:ea typeface="-apple-system" pitchFamily="34" charset="-122"/>
                <a:cs typeface="-apple-system" pitchFamily="34" charset="-120"/>
              </a:rPr>
              <a:t>Está en gap de comunicación.</a:t>
            </a:r>
            <a:endParaRPr lang="en-US" sz="4800" dirty="0"/>
          </a:p>
        </p:txBody>
      </p:sp>
      <p:sp>
        <p:nvSpPr>
          <p:cNvPr id="12" name="Shape 9"/>
          <p:cNvSpPr/>
          <p:nvPr/>
        </p:nvSpPr>
        <p:spPr>
          <a:xfrm>
            <a:off x="9139238" y="4472880"/>
            <a:ext cx="9525" cy="3229719"/>
          </a:xfrm>
          <a:prstGeom prst="rect">
            <a:avLst/>
          </a:prstGeom>
          <a:solidFill>
            <a:srgbClr val="C9C6BD"/>
          </a:solidFill>
          <a:ln/>
        </p:spPr>
        <p:txBody>
          <a:bodyPr/>
          <a:lstStyle/>
          <a:p>
            <a:endParaRPr lang="es-EC"/>
          </a:p>
        </p:txBody>
      </p:sp>
      <p:sp>
        <p:nvSpPr>
          <p:cNvPr id="13" name="Text 10"/>
          <p:cNvSpPr/>
          <p:nvPr/>
        </p:nvSpPr>
        <p:spPr>
          <a:xfrm>
            <a:off x="9758363" y="4472880"/>
            <a:ext cx="7706344" cy="19240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6500" b="1" kern="0" spc="-660" dirty="0">
                <a:solidFill>
                  <a:srgbClr val="2E9D5C"/>
                </a:solidFill>
                <a:latin typeface="-apple-system" pitchFamily="34" charset="0"/>
                <a:ea typeface="-apple-system" pitchFamily="34" charset="-122"/>
                <a:cs typeface="-apple-system" pitchFamily="34" charset="-120"/>
              </a:rPr>
              <a:t>9.977</a:t>
            </a:r>
            <a:endParaRPr lang="en-US" sz="16500" dirty="0"/>
          </a:p>
        </p:txBody>
      </p:sp>
      <p:sp>
        <p:nvSpPr>
          <p:cNvPr id="14" name="Text 11"/>
          <p:cNvSpPr/>
          <p:nvPr/>
        </p:nvSpPr>
        <p:spPr>
          <a:xfrm>
            <a:off x="9758363" y="6511230"/>
            <a:ext cx="7706344" cy="26952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b="1" kern="0" spc="243" dirty="0">
                <a:solidFill>
                  <a:srgbClr val="6B6B6B"/>
                </a:solidFill>
                <a:latin typeface="-apple-system" pitchFamily="34" charset="0"/>
                <a:ea typeface="-apple-system" pitchFamily="34" charset="-122"/>
                <a:cs typeface="-apple-system" pitchFamily="34" charset="-120"/>
              </a:rPr>
              <a:t>MENCIONES DE ORGULLO</a:t>
            </a:r>
            <a:endParaRPr lang="en-US" sz="1350" dirty="0"/>
          </a:p>
        </p:txBody>
      </p:sp>
      <p:sp>
        <p:nvSpPr>
          <p:cNvPr id="15" name="Text 12"/>
          <p:cNvSpPr/>
          <p:nvPr/>
        </p:nvSpPr>
        <p:spPr>
          <a:xfrm>
            <a:off x="9758363" y="7009358"/>
            <a:ext cx="7706344" cy="731341"/>
          </a:xfrm>
          <a:prstGeom prst="rect">
            <a:avLst/>
          </a:prstGeom>
          <a:noFill/>
          <a:ln/>
        </p:spPr>
        <p:txBody>
          <a:bodyPr wrap="square" lIns="25400" tIns="25400" rIns="25400" bIns="25400" rtlCol="0" anchor="t">
            <a:normAutofit/>
          </a:bodyPr>
          <a:lstStyle/>
          <a:p>
            <a:pPr marL="0" indent="0" algn="l">
              <a:lnSpc>
                <a:spcPct val="140000"/>
              </a:lnSpc>
              <a:buNone/>
            </a:pPr>
            <a:r>
              <a:rPr lang="en-US" sz="1950" i="1" dirty="0">
                <a:solidFill>
                  <a:srgbClr val="3A3A3A"/>
                </a:solidFill>
                <a:latin typeface="Georgia" pitchFamily="34" charset="0"/>
                <a:ea typeface="Georgia" pitchFamily="34" charset="-122"/>
                <a:cs typeface="Georgia" pitchFamily="34" charset="-120"/>
              </a:rPr>
              <a:t>Más del doble que la frustración </a:t>
            </a:r>
            <a:r>
              <a:rPr lang="en-US" sz="1950" b="1" dirty="0">
                <a:solidFill>
                  <a:srgbClr val="F5B400"/>
                </a:solidFill>
                <a:latin typeface="Georgia" pitchFamily="34" charset="0"/>
                <a:ea typeface="Georgia" pitchFamily="34" charset="-122"/>
                <a:cs typeface="Georgia" pitchFamily="34" charset="-120"/>
              </a:rPr>
              <a:t>(3.820)</a:t>
            </a:r>
            <a:r>
              <a:rPr lang="en-US" sz="1950" i="1" dirty="0">
                <a:solidFill>
                  <a:srgbClr val="3A3A3A"/>
                </a:solidFill>
                <a:latin typeface="Georgia" pitchFamily="34" charset="0"/>
                <a:ea typeface="Georgia" pitchFamily="34" charset="-122"/>
                <a:cs typeface="Georgia" pitchFamily="34" charset="-120"/>
              </a:rPr>
              <a:t>.</a:t>
            </a:r>
            <a:endParaRPr lang="en-US" sz="1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8250882"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2213431" y="666750"/>
            <a:ext cx="5177623"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09 · LOS 3 HALLAZGOS DEL ÁRBOL — CONT.</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74380" y="9547920"/>
            <a:ext cx="84207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18 / 32</a:t>
            </a:r>
            <a:endParaRPr lang="en-US" sz="1200" dirty="0"/>
          </a:p>
        </p:txBody>
      </p:sp>
      <p:sp>
        <p:nvSpPr>
          <p:cNvPr id="7" name="Text 4"/>
          <p:cNvSpPr/>
          <p:nvPr/>
        </p:nvSpPr>
        <p:spPr>
          <a:xfrm>
            <a:off x="1047750" y="1905000"/>
            <a:ext cx="16678275"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480" dirty="0">
                <a:solidFill>
                  <a:srgbClr val="D72631"/>
                </a:solidFill>
                <a:latin typeface="-apple-system" pitchFamily="34" charset="0"/>
                <a:ea typeface="-apple-system" pitchFamily="34" charset="-122"/>
                <a:cs typeface="-apple-system" pitchFamily="34" charset="-120"/>
              </a:rPr>
              <a:t>CONTINUACIÓN</a:t>
            </a:r>
            <a:endParaRPr lang="en-US" sz="1200" dirty="0"/>
          </a:p>
        </p:txBody>
      </p:sp>
      <p:sp>
        <p:nvSpPr>
          <p:cNvPr id="8" name="Shape 5"/>
          <p:cNvSpPr/>
          <p:nvPr/>
        </p:nvSpPr>
        <p:spPr>
          <a:xfrm>
            <a:off x="1047750" y="2748855"/>
            <a:ext cx="2210842" cy="383828"/>
          </a:xfrm>
          <a:prstGeom prst="rect">
            <a:avLst/>
          </a:prstGeom>
          <a:solidFill>
            <a:srgbClr val="F5B400"/>
          </a:solidFill>
          <a:ln/>
        </p:spPr>
        <p:txBody>
          <a:bodyPr/>
          <a:lstStyle/>
          <a:p>
            <a:endParaRPr lang="es-EC"/>
          </a:p>
        </p:txBody>
      </p:sp>
      <p:sp>
        <p:nvSpPr>
          <p:cNvPr id="9" name="Text 6"/>
          <p:cNvSpPr/>
          <p:nvPr/>
        </p:nvSpPr>
        <p:spPr>
          <a:xfrm>
            <a:off x="1257300" y="2825055"/>
            <a:ext cx="1867942" cy="26952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b="1" kern="0" spc="432" dirty="0">
                <a:solidFill>
                  <a:srgbClr val="1A1A1A"/>
                </a:solidFill>
                <a:latin typeface="-apple-system" pitchFamily="34" charset="0"/>
                <a:ea typeface="-apple-system" pitchFamily="34" charset="-122"/>
                <a:cs typeface="-apple-system" pitchFamily="34" charset="-120"/>
              </a:rPr>
              <a:t>HALLAZGO 02</a:t>
            </a:r>
            <a:endParaRPr lang="en-US" sz="1350" dirty="0"/>
          </a:p>
        </p:txBody>
      </p:sp>
      <p:sp>
        <p:nvSpPr>
          <p:cNvPr id="10" name="Text 7"/>
          <p:cNvSpPr/>
          <p:nvPr/>
        </p:nvSpPr>
        <p:spPr>
          <a:xfrm>
            <a:off x="1047750" y="3361283"/>
            <a:ext cx="7745587" cy="1104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kern="0" spc="-84" dirty="0">
                <a:solidFill>
                  <a:srgbClr val="1A1A1A"/>
                </a:solidFill>
                <a:latin typeface="-apple-system" pitchFamily="34" charset="0"/>
                <a:ea typeface="-apple-system" pitchFamily="34" charset="-122"/>
                <a:cs typeface="-apple-system" pitchFamily="34" charset="-120"/>
              </a:rPr>
              <a:t>Hay </a:t>
            </a:r>
            <a:r>
              <a:rPr lang="en-US" sz="4200" b="1" kern="0" spc="-84" dirty="0">
                <a:solidFill>
                  <a:srgbClr val="F5B400"/>
                </a:solidFill>
                <a:latin typeface="-apple-system" pitchFamily="34" charset="0"/>
                <a:ea typeface="-apple-system" pitchFamily="34" charset="-122"/>
                <a:cs typeface="-apple-system" pitchFamily="34" charset="-120"/>
              </a:rPr>
              <a:t>4.094 </a:t>
            </a:r>
            <a:r>
              <a:rPr lang="en-US" sz="4200" b="1" kern="0" spc="-84" dirty="0">
                <a:solidFill>
                  <a:srgbClr val="1A1A1A"/>
                </a:solidFill>
                <a:latin typeface="-apple-system" pitchFamily="34" charset="0"/>
                <a:ea typeface="-apple-system" pitchFamily="34" charset="-122"/>
                <a:cs typeface="-apple-system" pitchFamily="34" charset="-120"/>
              </a:rPr>
              <a:t>dolores con solución existente </a:t>
            </a:r>
            <a:r>
              <a:rPr lang="en-US" sz="4200" b="1" i="1" kern="0" spc="-84" dirty="0">
                <a:solidFill>
                  <a:srgbClr val="1A1A1A"/>
                </a:solidFill>
                <a:latin typeface="-apple-system" pitchFamily="34" charset="0"/>
                <a:ea typeface="-apple-system" pitchFamily="34" charset="-122"/>
                <a:cs typeface="-apple-system" pitchFamily="34" charset="-120"/>
              </a:rPr>
              <a:t>sin contar.</a:t>
            </a:r>
            <a:endParaRPr lang="en-US" sz="4200" dirty="0"/>
          </a:p>
        </p:txBody>
      </p:sp>
      <p:sp>
        <p:nvSpPr>
          <p:cNvPr id="11" name="Shape 8"/>
          <p:cNvSpPr/>
          <p:nvPr/>
        </p:nvSpPr>
        <p:spPr>
          <a:xfrm>
            <a:off x="9177338" y="2682180"/>
            <a:ext cx="9525" cy="742950"/>
          </a:xfrm>
          <a:prstGeom prst="rect">
            <a:avLst/>
          </a:prstGeom>
          <a:solidFill>
            <a:srgbClr val="C9C6BD"/>
          </a:solidFill>
          <a:ln/>
        </p:spPr>
        <p:txBody>
          <a:bodyPr/>
          <a:lstStyle/>
          <a:p>
            <a:endParaRPr lang="es-EC"/>
          </a:p>
        </p:txBody>
      </p:sp>
      <p:sp>
        <p:nvSpPr>
          <p:cNvPr id="12" name="Text 9"/>
          <p:cNvSpPr/>
          <p:nvPr/>
        </p:nvSpPr>
        <p:spPr>
          <a:xfrm>
            <a:off x="9720263" y="2682180"/>
            <a:ext cx="7745587" cy="7810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i="1" dirty="0">
                <a:solidFill>
                  <a:srgbClr val="3A3A3A"/>
                </a:solidFill>
                <a:latin typeface="Georgia" pitchFamily="34" charset="0"/>
                <a:ea typeface="Georgia" pitchFamily="34" charset="-122"/>
                <a:cs typeface="Georgia" pitchFamily="34" charset="-120"/>
              </a:rPr>
              <a:t>4.094 menciones tipo </a:t>
            </a:r>
            <a:r>
              <a:rPr lang="en-US" sz="1950" b="1" dirty="0">
                <a:solidFill>
                  <a:srgbClr val="3A3A3A"/>
                </a:solidFill>
                <a:latin typeface="Georgia" pitchFamily="34" charset="0"/>
                <a:ea typeface="Georgia" pitchFamily="34" charset="-122"/>
                <a:cs typeface="Georgia" pitchFamily="34" charset="-120"/>
              </a:rPr>
              <a:t>gap </a:t>
            </a:r>
            <a:r>
              <a:rPr lang="en-US" sz="1950" i="1" dirty="0">
                <a:solidFill>
                  <a:srgbClr val="3A3A3A"/>
                </a:solidFill>
                <a:latin typeface="Georgia" pitchFamily="34" charset="0"/>
                <a:ea typeface="Georgia" pitchFamily="34" charset="-122"/>
                <a:cs typeface="Georgia" pitchFamily="34" charset="-120"/>
              </a:rPr>
              <a:t>= quejas concretas donde el gobierno YA tiene una respuesta — pero la respuesta no llega.</a:t>
            </a:r>
            <a:endParaRPr lang="en-US" sz="1950" dirty="0"/>
          </a:p>
        </p:txBody>
      </p:sp>
      <p:sp>
        <p:nvSpPr>
          <p:cNvPr id="13" name="Shape 10"/>
          <p:cNvSpPr/>
          <p:nvPr/>
        </p:nvSpPr>
        <p:spPr>
          <a:xfrm>
            <a:off x="1047750" y="5342483"/>
            <a:ext cx="16192500" cy="9525"/>
          </a:xfrm>
          <a:prstGeom prst="rect">
            <a:avLst/>
          </a:prstGeom>
          <a:solidFill>
            <a:srgbClr val="C9C6BD"/>
          </a:solidFill>
          <a:ln/>
        </p:spPr>
        <p:txBody>
          <a:bodyPr/>
          <a:lstStyle/>
          <a:p>
            <a:endParaRPr lang="es-EC"/>
          </a:p>
        </p:txBody>
      </p:sp>
      <p:sp>
        <p:nvSpPr>
          <p:cNvPr id="14" name="Shape 11"/>
          <p:cNvSpPr/>
          <p:nvPr/>
        </p:nvSpPr>
        <p:spPr>
          <a:xfrm>
            <a:off x="1047750" y="5799683"/>
            <a:ext cx="2214116" cy="383828"/>
          </a:xfrm>
          <a:prstGeom prst="rect">
            <a:avLst/>
          </a:prstGeom>
          <a:solidFill>
            <a:srgbClr val="0B3D7E"/>
          </a:solidFill>
          <a:ln/>
        </p:spPr>
        <p:txBody>
          <a:bodyPr/>
          <a:lstStyle/>
          <a:p>
            <a:endParaRPr lang="es-EC"/>
          </a:p>
        </p:txBody>
      </p:sp>
      <p:sp>
        <p:nvSpPr>
          <p:cNvPr id="15" name="Text 12"/>
          <p:cNvSpPr/>
          <p:nvPr/>
        </p:nvSpPr>
        <p:spPr>
          <a:xfrm>
            <a:off x="1257300" y="5875883"/>
            <a:ext cx="1871216" cy="26952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b="1" kern="0" spc="432" dirty="0">
                <a:solidFill>
                  <a:srgbClr val="FFFFFF"/>
                </a:solidFill>
                <a:latin typeface="-apple-system" pitchFamily="34" charset="0"/>
                <a:ea typeface="-apple-system" pitchFamily="34" charset="-122"/>
                <a:cs typeface="-apple-system" pitchFamily="34" charset="-120"/>
              </a:rPr>
              <a:t>HALLAZGO 03</a:t>
            </a:r>
            <a:endParaRPr lang="en-US" sz="1350" dirty="0"/>
          </a:p>
        </p:txBody>
      </p:sp>
      <p:sp>
        <p:nvSpPr>
          <p:cNvPr id="16" name="Text 13"/>
          <p:cNvSpPr/>
          <p:nvPr/>
        </p:nvSpPr>
        <p:spPr>
          <a:xfrm>
            <a:off x="1047750" y="6412111"/>
            <a:ext cx="7745587" cy="2171700"/>
          </a:xfrm>
          <a:prstGeom prst="rect">
            <a:avLst/>
          </a:prstGeom>
          <a:noFill/>
          <a:ln/>
        </p:spPr>
        <p:txBody>
          <a:bodyPr wrap="square" lIns="25400" tIns="25400" rIns="25400" bIns="25400" rtlCol="0" anchor="t">
            <a:normAutofit/>
          </a:bodyPr>
          <a:lstStyle/>
          <a:p>
            <a:pPr marL="0" indent="0" algn="l">
              <a:lnSpc>
                <a:spcPct val="100000"/>
              </a:lnSpc>
              <a:buNone/>
            </a:pPr>
            <a:r>
              <a:rPr lang="en-US" sz="4200" b="1" kern="0" spc="-84" dirty="0">
                <a:solidFill>
                  <a:srgbClr val="D72631"/>
                </a:solidFill>
                <a:latin typeface="-apple-system" pitchFamily="34" charset="0"/>
                <a:ea typeface="-apple-system" pitchFamily="34" charset="-122"/>
                <a:cs typeface="-apple-system" pitchFamily="34" charset="-120"/>
              </a:rPr>
              <a:t>40% </a:t>
            </a:r>
            <a:r>
              <a:rPr lang="en-US" sz="4200" b="1" kern="0" spc="-84" dirty="0">
                <a:solidFill>
                  <a:srgbClr val="1A1A1A"/>
                </a:solidFill>
                <a:latin typeface="-apple-system" pitchFamily="34" charset="0"/>
                <a:ea typeface="-apple-system" pitchFamily="34" charset="-122"/>
                <a:cs typeface="-apple-system" pitchFamily="34" charset="-120"/>
              </a:rPr>
              <a:t>indignación · </a:t>
            </a:r>
            <a:r>
              <a:rPr lang="en-US" sz="4200" b="1" kern="0" spc="-84" dirty="0">
                <a:solidFill>
                  <a:srgbClr val="2E9D5C"/>
                </a:solidFill>
                <a:latin typeface="-apple-system" pitchFamily="34" charset="0"/>
                <a:ea typeface="-apple-system" pitchFamily="34" charset="-122"/>
                <a:cs typeface="-apple-system" pitchFamily="34" charset="-120"/>
              </a:rPr>
              <a:t>40% </a:t>
            </a:r>
            <a:r>
              <a:rPr lang="en-US" sz="4200" b="1" kern="0" spc="-84" dirty="0">
                <a:solidFill>
                  <a:srgbClr val="1A1A1A"/>
                </a:solidFill>
                <a:latin typeface="-apple-system" pitchFamily="34" charset="0"/>
                <a:ea typeface="-apple-system" pitchFamily="34" charset="-122"/>
                <a:cs typeface="-apple-system" pitchFamily="34" charset="-120"/>
              </a:rPr>
              <a:t>mirada positiva. Hay una mayoría posible que </a:t>
            </a:r>
            <a:r>
              <a:rPr lang="en-US" sz="4200" b="1" i="1" kern="0" spc="-84" dirty="0">
                <a:solidFill>
                  <a:srgbClr val="1A1A1A"/>
                </a:solidFill>
                <a:latin typeface="-apple-system" pitchFamily="34" charset="0"/>
                <a:ea typeface="-apple-system" pitchFamily="34" charset="-122"/>
                <a:cs typeface="-apple-system" pitchFamily="34" charset="-120"/>
              </a:rPr>
              <a:t>no está activada.</a:t>
            </a:r>
            <a:endParaRPr lang="en-US" sz="4200" dirty="0"/>
          </a:p>
        </p:txBody>
      </p:sp>
      <p:sp>
        <p:nvSpPr>
          <p:cNvPr id="17" name="Shape 14"/>
          <p:cNvSpPr/>
          <p:nvPr/>
        </p:nvSpPr>
        <p:spPr>
          <a:xfrm>
            <a:off x="9177338" y="5733008"/>
            <a:ext cx="9525" cy="1525786"/>
          </a:xfrm>
          <a:prstGeom prst="rect">
            <a:avLst/>
          </a:prstGeom>
          <a:solidFill>
            <a:srgbClr val="C9C6BD"/>
          </a:solidFill>
          <a:ln/>
        </p:spPr>
        <p:txBody>
          <a:bodyPr/>
          <a:lstStyle/>
          <a:p>
            <a:endParaRPr lang="es-EC"/>
          </a:p>
        </p:txBody>
      </p:sp>
      <p:sp>
        <p:nvSpPr>
          <p:cNvPr id="18" name="Text 15"/>
          <p:cNvSpPr/>
          <p:nvPr/>
        </p:nvSpPr>
        <p:spPr>
          <a:xfrm>
            <a:off x="9720263" y="5733008"/>
            <a:ext cx="7745587" cy="7810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i="1" dirty="0">
                <a:solidFill>
                  <a:srgbClr val="3A3A3A"/>
                </a:solidFill>
                <a:latin typeface="Georgia" pitchFamily="34" charset="0"/>
                <a:ea typeface="Georgia" pitchFamily="34" charset="-122"/>
                <a:cs typeface="Georgia" pitchFamily="34" charset="-120"/>
              </a:rPr>
              <a:t>La mitad del país sin lado tomado. Ese es el segmento que THE ROOM activa — sin entrar en la guerra del 40% indignado.</a:t>
            </a:r>
            <a:endParaRPr lang="en-US" sz="1950" dirty="0"/>
          </a:p>
        </p:txBody>
      </p:sp>
      <p:sp>
        <p:nvSpPr>
          <p:cNvPr id="19" name="Shape 16"/>
          <p:cNvSpPr/>
          <p:nvPr/>
        </p:nvSpPr>
        <p:spPr>
          <a:xfrm>
            <a:off x="9720263" y="6818858"/>
            <a:ext cx="7519988" cy="209550"/>
          </a:xfrm>
          <a:prstGeom prst="rect">
            <a:avLst/>
          </a:prstGeom>
          <a:ln w="9525">
            <a:solidFill>
              <a:srgbClr val="1A1A1A"/>
            </a:solidFill>
            <a:prstDash val="solid"/>
          </a:ln>
        </p:spPr>
        <p:txBody>
          <a:bodyPr/>
          <a:lstStyle/>
          <a:p>
            <a:endParaRPr lang="es-EC"/>
          </a:p>
        </p:txBody>
      </p:sp>
      <p:sp>
        <p:nvSpPr>
          <p:cNvPr id="20" name="Shape 17"/>
          <p:cNvSpPr/>
          <p:nvPr/>
        </p:nvSpPr>
        <p:spPr>
          <a:xfrm>
            <a:off x="9729788" y="6828383"/>
            <a:ext cx="3000375" cy="190500"/>
          </a:xfrm>
          <a:prstGeom prst="rect">
            <a:avLst/>
          </a:prstGeom>
          <a:solidFill>
            <a:srgbClr val="D72631"/>
          </a:solidFill>
          <a:ln/>
        </p:spPr>
        <p:txBody>
          <a:bodyPr/>
          <a:lstStyle/>
          <a:p>
            <a:endParaRPr lang="es-EC"/>
          </a:p>
        </p:txBody>
      </p:sp>
      <p:sp>
        <p:nvSpPr>
          <p:cNvPr id="21" name="Shape 18"/>
          <p:cNvSpPr/>
          <p:nvPr/>
        </p:nvSpPr>
        <p:spPr>
          <a:xfrm>
            <a:off x="12730163" y="6828383"/>
            <a:ext cx="1500188" cy="190500"/>
          </a:xfrm>
          <a:prstGeom prst="rect">
            <a:avLst/>
          </a:prstGeom>
          <a:solidFill>
            <a:srgbClr val="E8E6E0"/>
          </a:solidFill>
          <a:ln/>
        </p:spPr>
        <p:txBody>
          <a:bodyPr/>
          <a:lstStyle/>
          <a:p>
            <a:endParaRPr lang="es-EC"/>
          </a:p>
        </p:txBody>
      </p:sp>
      <p:sp>
        <p:nvSpPr>
          <p:cNvPr id="22" name="Shape 19"/>
          <p:cNvSpPr/>
          <p:nvPr/>
        </p:nvSpPr>
        <p:spPr>
          <a:xfrm>
            <a:off x="14230350" y="6828383"/>
            <a:ext cx="3000375" cy="190500"/>
          </a:xfrm>
          <a:prstGeom prst="rect">
            <a:avLst/>
          </a:prstGeom>
          <a:solidFill>
            <a:srgbClr val="2E9D5C"/>
          </a:solidFill>
          <a:ln/>
        </p:spPr>
        <p:txBody>
          <a:bodyPr/>
          <a:lstStyle/>
          <a:p>
            <a:endParaRPr lang="es-EC"/>
          </a:p>
        </p:txBody>
      </p:sp>
      <p:sp>
        <p:nvSpPr>
          <p:cNvPr id="23" name="Text 20"/>
          <p:cNvSpPr/>
          <p:nvPr/>
        </p:nvSpPr>
        <p:spPr>
          <a:xfrm>
            <a:off x="9720263" y="7104608"/>
            <a:ext cx="1460302" cy="19228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900" kern="0" spc="180" dirty="0">
                <a:solidFill>
                  <a:srgbClr val="6B6B6B"/>
                </a:solidFill>
                <a:latin typeface="-apple-system" pitchFamily="34" charset="0"/>
                <a:ea typeface="-apple-system" pitchFamily="34" charset="-122"/>
                <a:cs typeface="-apple-system" pitchFamily="34" charset="-120"/>
              </a:rPr>
              <a:t>40% INDIGNACIÓN</a:t>
            </a:r>
            <a:endParaRPr lang="en-US" sz="900" dirty="0"/>
          </a:p>
        </p:txBody>
      </p:sp>
      <p:sp>
        <p:nvSpPr>
          <p:cNvPr id="24" name="Text 21"/>
          <p:cNvSpPr/>
          <p:nvPr/>
        </p:nvSpPr>
        <p:spPr>
          <a:xfrm>
            <a:off x="13089731" y="7104608"/>
            <a:ext cx="1169491" cy="19228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900" kern="0" spc="180" dirty="0">
                <a:solidFill>
                  <a:srgbClr val="6B6B6B"/>
                </a:solidFill>
                <a:latin typeface="-apple-system" pitchFamily="34" charset="0"/>
                <a:ea typeface="-apple-system" pitchFamily="34" charset="-122"/>
                <a:cs typeface="-apple-system" pitchFamily="34" charset="-120"/>
              </a:rPr>
              <a:t>20% INDECISO</a:t>
            </a:r>
            <a:endParaRPr lang="en-US" sz="900" dirty="0"/>
          </a:p>
        </p:txBody>
      </p:sp>
      <p:sp>
        <p:nvSpPr>
          <p:cNvPr id="25" name="Text 22"/>
          <p:cNvSpPr/>
          <p:nvPr/>
        </p:nvSpPr>
        <p:spPr>
          <a:xfrm>
            <a:off x="16168390" y="7104608"/>
            <a:ext cx="1148060" cy="19228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900" kern="0" spc="180" dirty="0">
                <a:solidFill>
                  <a:srgbClr val="6B6B6B"/>
                </a:solidFill>
                <a:latin typeface="-apple-system" pitchFamily="34" charset="0"/>
                <a:ea typeface="-apple-system" pitchFamily="34" charset="-122"/>
                <a:cs typeface="-apple-system" pitchFamily="34" charset="-120"/>
              </a:rPr>
              <a:t>40% POSITIVA</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9151739"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3114288" y="666750"/>
            <a:ext cx="424974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10 · LAS 3 MISIONES ESTRATÉGICAS</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74678" y="9547920"/>
            <a:ext cx="841772"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19 / 32</a:t>
            </a:r>
            <a:endParaRPr lang="en-US" sz="1200" dirty="0"/>
          </a:p>
        </p:txBody>
      </p:sp>
      <p:sp>
        <p:nvSpPr>
          <p:cNvPr id="7" name="Text 4"/>
          <p:cNvSpPr/>
          <p:nvPr/>
        </p:nvSpPr>
        <p:spPr>
          <a:xfrm>
            <a:off x="1047750" y="1905000"/>
            <a:ext cx="16678275"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480" dirty="0">
                <a:solidFill>
                  <a:srgbClr val="D72631"/>
                </a:solidFill>
                <a:latin typeface="-apple-system" pitchFamily="34" charset="0"/>
                <a:ea typeface="-apple-system" pitchFamily="34" charset="-122"/>
                <a:cs typeface="-apple-system" pitchFamily="34" charset="-120"/>
              </a:rPr>
              <a:t>DEL ÁRBOL AL ACTION BOARD</a:t>
            </a:r>
            <a:endParaRPr lang="en-US" sz="1200" dirty="0"/>
          </a:p>
        </p:txBody>
      </p:sp>
      <p:sp>
        <p:nvSpPr>
          <p:cNvPr id="8" name="Text 5"/>
          <p:cNvSpPr/>
          <p:nvPr/>
        </p:nvSpPr>
        <p:spPr>
          <a:xfrm>
            <a:off x="1047750" y="2339280"/>
            <a:ext cx="16678275" cy="1866900"/>
          </a:xfrm>
          <a:prstGeom prst="rect">
            <a:avLst/>
          </a:prstGeom>
          <a:noFill/>
          <a:ln/>
        </p:spPr>
        <p:txBody>
          <a:bodyPr wrap="square" lIns="25400" tIns="25400" rIns="25400" bIns="25400" rtlCol="0" anchor="t">
            <a:normAutofit fontScale="92500"/>
          </a:bodyPr>
          <a:lstStyle/>
          <a:p>
            <a:pPr marL="0" indent="0" algn="l">
              <a:lnSpc>
                <a:spcPct val="100000"/>
              </a:lnSpc>
              <a:buNone/>
            </a:pPr>
            <a:r>
              <a:rPr lang="en-US" sz="7200" b="1" kern="0" spc="-180" dirty="0">
                <a:solidFill>
                  <a:srgbClr val="1A1A1A"/>
                </a:solidFill>
                <a:latin typeface="-apple-system" pitchFamily="34" charset="0"/>
                <a:ea typeface="-apple-system" pitchFamily="34" charset="-122"/>
                <a:cs typeface="-apple-system" pitchFamily="34" charset="-120"/>
              </a:rPr>
              <a:t>De </a:t>
            </a:r>
            <a:r>
              <a:rPr lang="en-US" sz="7200" b="1" kern="0" spc="-180" dirty="0">
                <a:solidFill>
                  <a:srgbClr val="D72631"/>
                </a:solidFill>
                <a:latin typeface="-apple-system" pitchFamily="34" charset="0"/>
                <a:ea typeface="-apple-system" pitchFamily="34" charset="-122"/>
                <a:cs typeface="-apple-system" pitchFamily="34" charset="-120"/>
              </a:rPr>
              <a:t>20.527 señales </a:t>
            </a:r>
            <a:r>
              <a:rPr lang="en-US" sz="7200" b="1" kern="0" spc="-180" dirty="0">
                <a:solidFill>
                  <a:srgbClr val="1A1A1A"/>
                </a:solidFill>
                <a:latin typeface="-apple-system" pitchFamily="34" charset="0"/>
                <a:ea typeface="-apple-system" pitchFamily="34" charset="-122"/>
                <a:cs typeface="-apple-system" pitchFamily="34" charset="-120"/>
              </a:rPr>
              <a:t>a 3 misiones que mueven país.</a:t>
            </a:r>
            <a:endParaRPr lang="en-US" sz="7200" dirty="0"/>
          </a:p>
        </p:txBody>
      </p:sp>
      <p:sp>
        <p:nvSpPr>
          <p:cNvPr id="9" name="Shape 6"/>
          <p:cNvSpPr/>
          <p:nvPr/>
        </p:nvSpPr>
        <p:spPr>
          <a:xfrm>
            <a:off x="1047750" y="4739580"/>
            <a:ext cx="16192500" cy="9525"/>
          </a:xfrm>
          <a:prstGeom prst="rect">
            <a:avLst/>
          </a:prstGeom>
          <a:solidFill>
            <a:srgbClr val="1A1A1A"/>
          </a:solidFill>
          <a:ln/>
        </p:spPr>
        <p:txBody>
          <a:bodyPr/>
          <a:lstStyle/>
          <a:p>
            <a:endParaRPr lang="es-EC"/>
          </a:p>
        </p:txBody>
      </p:sp>
      <p:sp>
        <p:nvSpPr>
          <p:cNvPr id="10" name="Shape 7"/>
          <p:cNvSpPr/>
          <p:nvPr/>
        </p:nvSpPr>
        <p:spPr>
          <a:xfrm>
            <a:off x="1047750" y="6038701"/>
            <a:ext cx="16192500" cy="9525"/>
          </a:xfrm>
          <a:prstGeom prst="rect">
            <a:avLst/>
          </a:prstGeom>
          <a:solidFill>
            <a:srgbClr val="1A1A1A"/>
          </a:solidFill>
          <a:ln/>
        </p:spPr>
        <p:txBody>
          <a:bodyPr/>
          <a:lstStyle/>
          <a:p>
            <a:endParaRPr lang="es-EC"/>
          </a:p>
        </p:txBody>
      </p:sp>
      <p:sp>
        <p:nvSpPr>
          <p:cNvPr id="11" name="Text 8"/>
          <p:cNvSpPr/>
          <p:nvPr/>
        </p:nvSpPr>
        <p:spPr>
          <a:xfrm>
            <a:off x="1047750" y="5015805"/>
            <a:ext cx="1219200" cy="72390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6000" b="1" dirty="0">
                <a:solidFill>
                  <a:srgbClr val="D72631"/>
                </a:solidFill>
                <a:latin typeface="-apple-system" pitchFamily="34" charset="0"/>
                <a:ea typeface="-apple-system" pitchFamily="34" charset="-122"/>
                <a:cs typeface="-apple-system" pitchFamily="34" charset="-120"/>
              </a:rPr>
              <a:t>01</a:t>
            </a:r>
            <a:endParaRPr lang="en-US" sz="6000" dirty="0"/>
          </a:p>
        </p:txBody>
      </p:sp>
      <p:sp>
        <p:nvSpPr>
          <p:cNvPr id="12" name="Text 9"/>
          <p:cNvSpPr/>
          <p:nvPr/>
        </p:nvSpPr>
        <p:spPr>
          <a:xfrm>
            <a:off x="2724150" y="5206305"/>
            <a:ext cx="5400818" cy="60379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3300" b="1" kern="0" spc="-33" dirty="0">
                <a:solidFill>
                  <a:srgbClr val="1A1A1A"/>
                </a:solidFill>
                <a:latin typeface="-apple-system" pitchFamily="34" charset="0"/>
                <a:ea typeface="-apple-system" pitchFamily="34" charset="-122"/>
                <a:cs typeface="-apple-system" pitchFamily="34" charset="-120"/>
              </a:rPr>
              <a:t>MUNDIAL 2026</a:t>
            </a:r>
            <a:endParaRPr lang="en-US" sz="3300" dirty="0"/>
          </a:p>
        </p:txBody>
      </p:sp>
      <p:sp>
        <p:nvSpPr>
          <p:cNvPr id="13" name="Text 10"/>
          <p:cNvSpPr/>
          <p:nvPr/>
        </p:nvSpPr>
        <p:spPr>
          <a:xfrm>
            <a:off x="8501063" y="5425380"/>
            <a:ext cx="9001363" cy="34185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650" dirty="0">
                <a:solidFill>
                  <a:srgbClr val="3A3A3A"/>
                </a:solidFill>
                <a:latin typeface="-apple-system" pitchFamily="34" charset="0"/>
                <a:ea typeface="-apple-system" pitchFamily="34" charset="-122"/>
                <a:cs typeface="-apple-system" pitchFamily="34" charset="-120"/>
              </a:rPr>
              <a:t>El pico de orgullo del año. Ventana caliente: 14, 20, 25 de junio.</a:t>
            </a:r>
            <a:endParaRPr lang="en-US" sz="1650" dirty="0"/>
          </a:p>
        </p:txBody>
      </p:sp>
      <p:sp>
        <p:nvSpPr>
          <p:cNvPr id="14" name="Shape 11"/>
          <p:cNvSpPr/>
          <p:nvPr/>
        </p:nvSpPr>
        <p:spPr>
          <a:xfrm>
            <a:off x="1047750" y="7337822"/>
            <a:ext cx="16192500" cy="9525"/>
          </a:xfrm>
          <a:prstGeom prst="rect">
            <a:avLst/>
          </a:prstGeom>
          <a:solidFill>
            <a:srgbClr val="1A1A1A"/>
          </a:solidFill>
          <a:ln/>
        </p:spPr>
        <p:txBody>
          <a:bodyPr/>
          <a:lstStyle/>
          <a:p>
            <a:endParaRPr lang="es-EC"/>
          </a:p>
        </p:txBody>
      </p:sp>
      <p:sp>
        <p:nvSpPr>
          <p:cNvPr id="15" name="Text 12"/>
          <p:cNvSpPr/>
          <p:nvPr/>
        </p:nvSpPr>
        <p:spPr>
          <a:xfrm>
            <a:off x="1047750" y="6314926"/>
            <a:ext cx="1219200" cy="72390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6000" b="1" dirty="0">
                <a:solidFill>
                  <a:srgbClr val="D72631"/>
                </a:solidFill>
                <a:latin typeface="-apple-system" pitchFamily="34" charset="0"/>
                <a:ea typeface="-apple-system" pitchFamily="34" charset="-122"/>
                <a:cs typeface="-apple-system" pitchFamily="34" charset="-120"/>
              </a:rPr>
              <a:t>02</a:t>
            </a:r>
            <a:endParaRPr lang="en-US" sz="6000" dirty="0"/>
          </a:p>
        </p:txBody>
      </p:sp>
      <p:sp>
        <p:nvSpPr>
          <p:cNvPr id="16" name="Text 13"/>
          <p:cNvSpPr/>
          <p:nvPr/>
        </p:nvSpPr>
        <p:spPr>
          <a:xfrm>
            <a:off x="2724150" y="6505426"/>
            <a:ext cx="5400818" cy="60379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3300" b="1" kern="0" spc="-33" dirty="0">
                <a:solidFill>
                  <a:srgbClr val="1A1A1A"/>
                </a:solidFill>
                <a:latin typeface="-apple-system" pitchFamily="34" charset="0"/>
                <a:ea typeface="-apple-system" pitchFamily="34" charset="-122"/>
                <a:cs typeface="-apple-system" pitchFamily="34" charset="-120"/>
              </a:rPr>
              <a:t>ECUAYAPA + #6 GEM</a:t>
            </a:r>
            <a:endParaRPr lang="en-US" sz="3300" dirty="0"/>
          </a:p>
        </p:txBody>
      </p:sp>
      <p:sp>
        <p:nvSpPr>
          <p:cNvPr id="17" name="Text 14"/>
          <p:cNvSpPr/>
          <p:nvPr/>
        </p:nvSpPr>
        <p:spPr>
          <a:xfrm>
            <a:off x="8501063" y="6724501"/>
            <a:ext cx="9001363" cy="34185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650" dirty="0">
                <a:solidFill>
                  <a:srgbClr val="3A3A3A"/>
                </a:solidFill>
                <a:latin typeface="-apple-system" pitchFamily="34" charset="0"/>
                <a:ea typeface="-apple-system" pitchFamily="34" charset="-122"/>
                <a:cs typeface="-apple-system" pitchFamily="34" charset="-120"/>
              </a:rPr>
              <a:t>El logro real con la narrativa ausente. 12.000 emprendedores sin rostro presidencial.</a:t>
            </a:r>
            <a:endParaRPr lang="en-US" sz="1650" dirty="0"/>
          </a:p>
        </p:txBody>
      </p:sp>
      <p:sp>
        <p:nvSpPr>
          <p:cNvPr id="18" name="Shape 15"/>
          <p:cNvSpPr/>
          <p:nvPr/>
        </p:nvSpPr>
        <p:spPr>
          <a:xfrm>
            <a:off x="1047750" y="8636943"/>
            <a:ext cx="16192500" cy="9525"/>
          </a:xfrm>
          <a:prstGeom prst="rect">
            <a:avLst/>
          </a:prstGeom>
          <a:solidFill>
            <a:srgbClr val="1A1A1A"/>
          </a:solidFill>
          <a:ln/>
        </p:spPr>
        <p:txBody>
          <a:bodyPr/>
          <a:lstStyle/>
          <a:p>
            <a:endParaRPr lang="es-EC"/>
          </a:p>
        </p:txBody>
      </p:sp>
      <p:sp>
        <p:nvSpPr>
          <p:cNvPr id="19" name="Text 16"/>
          <p:cNvSpPr/>
          <p:nvPr/>
        </p:nvSpPr>
        <p:spPr>
          <a:xfrm>
            <a:off x="1047750" y="7614047"/>
            <a:ext cx="1219200" cy="72390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6000" b="1" dirty="0">
                <a:solidFill>
                  <a:srgbClr val="D72631"/>
                </a:solidFill>
                <a:latin typeface="-apple-system" pitchFamily="34" charset="0"/>
                <a:ea typeface="-apple-system" pitchFamily="34" charset="-122"/>
                <a:cs typeface="-apple-system" pitchFamily="34" charset="-120"/>
              </a:rPr>
              <a:t>03</a:t>
            </a:r>
            <a:endParaRPr lang="en-US" sz="6000" dirty="0"/>
          </a:p>
        </p:txBody>
      </p:sp>
      <p:sp>
        <p:nvSpPr>
          <p:cNvPr id="20" name="Text 17"/>
          <p:cNvSpPr/>
          <p:nvPr/>
        </p:nvSpPr>
        <p:spPr>
          <a:xfrm>
            <a:off x="2724150" y="7646343"/>
            <a:ext cx="5400818" cy="60379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3300" b="1" kern="0" spc="-33" dirty="0">
                <a:solidFill>
                  <a:srgbClr val="1A1A1A"/>
                </a:solidFill>
                <a:latin typeface="-apple-system" pitchFamily="34" charset="0"/>
                <a:ea typeface="-apple-system" pitchFamily="34" charset="-122"/>
                <a:cs typeface="-apple-system" pitchFamily="34" charset="-120"/>
              </a:rPr>
              <a:t>BARRIOS MIDUVI</a:t>
            </a:r>
            <a:endParaRPr lang="en-US" sz="3300" dirty="0"/>
          </a:p>
        </p:txBody>
      </p:sp>
      <p:sp>
        <p:nvSpPr>
          <p:cNvPr id="21" name="Text 18"/>
          <p:cNvSpPr/>
          <p:nvPr/>
        </p:nvSpPr>
        <p:spPr>
          <a:xfrm>
            <a:off x="8501063" y="7867007"/>
            <a:ext cx="9001363" cy="34185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650" dirty="0">
                <a:solidFill>
                  <a:srgbClr val="3A3A3A"/>
                </a:solidFill>
                <a:latin typeface="-apple-system" pitchFamily="34" charset="0"/>
                <a:ea typeface="-apple-system" pitchFamily="34" charset="-122"/>
                <a:cs typeface="-apple-system" pitchFamily="34" charset="-120"/>
              </a:rPr>
              <a:t>Transformación física, narrativa silenciosa. $100M Banco Mundial en marcha.</a:t>
            </a:r>
            <a:endParaRPr lang="en-US" sz="16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8760916"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2723465" y="666750"/>
            <a:ext cx="4652288"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11 · MISIÓN 01 — MUNDIAL · CONTEXTO</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54438" y="9547920"/>
            <a:ext cx="862013"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20 / 32</a:t>
            </a:r>
            <a:endParaRPr lang="en-US" sz="1200" dirty="0"/>
          </a:p>
        </p:txBody>
      </p:sp>
      <p:sp>
        <p:nvSpPr>
          <p:cNvPr id="7" name="Shape 4"/>
          <p:cNvSpPr/>
          <p:nvPr/>
        </p:nvSpPr>
        <p:spPr>
          <a:xfrm>
            <a:off x="1047750" y="1619250"/>
            <a:ext cx="16192500" cy="383828"/>
          </a:xfrm>
          <a:prstGeom prst="rect">
            <a:avLst/>
          </a:prstGeom>
          <a:solidFill>
            <a:srgbClr val="F5B400"/>
          </a:solidFill>
          <a:ln/>
        </p:spPr>
        <p:txBody>
          <a:bodyPr/>
          <a:lstStyle/>
          <a:p>
            <a:endParaRPr lang="es-EC"/>
          </a:p>
        </p:txBody>
      </p:sp>
      <p:sp>
        <p:nvSpPr>
          <p:cNvPr id="8" name="Text 5"/>
          <p:cNvSpPr/>
          <p:nvPr/>
        </p:nvSpPr>
        <p:spPr>
          <a:xfrm>
            <a:off x="1257300" y="1695450"/>
            <a:ext cx="16259175" cy="26952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b="1" kern="0" spc="432" dirty="0">
                <a:solidFill>
                  <a:srgbClr val="1A1A1A"/>
                </a:solidFill>
                <a:latin typeface="-apple-system" pitchFamily="34" charset="0"/>
                <a:ea typeface="-apple-system" pitchFamily="34" charset="-122"/>
                <a:cs typeface="-apple-system" pitchFamily="34" charset="-120"/>
              </a:rPr>
              <a:t>MISIÓN 01</a:t>
            </a:r>
            <a:endParaRPr lang="en-US" sz="1350" dirty="0"/>
          </a:p>
        </p:txBody>
      </p:sp>
      <p:sp>
        <p:nvSpPr>
          <p:cNvPr id="9" name="Text 6"/>
          <p:cNvSpPr/>
          <p:nvPr/>
        </p:nvSpPr>
        <p:spPr>
          <a:xfrm>
            <a:off x="1047750" y="2231678"/>
            <a:ext cx="16678275" cy="1775222"/>
          </a:xfrm>
          <a:prstGeom prst="rect">
            <a:avLst/>
          </a:prstGeom>
          <a:noFill/>
          <a:ln/>
        </p:spPr>
        <p:txBody>
          <a:bodyPr wrap="square" lIns="25400" tIns="25400" rIns="25400" bIns="25400" rtlCol="0" anchor="t">
            <a:normAutofit fontScale="92500"/>
          </a:bodyPr>
          <a:lstStyle/>
          <a:p>
            <a:pPr marL="0" indent="0" algn="l">
              <a:lnSpc>
                <a:spcPct val="95000"/>
              </a:lnSpc>
              <a:buNone/>
            </a:pPr>
            <a:r>
              <a:rPr lang="en-US" sz="7200" b="1" kern="0" spc="-216" dirty="0">
                <a:solidFill>
                  <a:srgbClr val="1A1A1A"/>
                </a:solidFill>
                <a:latin typeface="-apple-system" pitchFamily="34" charset="0"/>
                <a:ea typeface="-apple-system" pitchFamily="34" charset="-122"/>
                <a:cs typeface="-apple-system" pitchFamily="34" charset="-120"/>
              </a:rPr>
              <a:t>MUNDIAL 2026 </a:t>
            </a:r>
            <a:r>
              <a:rPr lang="en-US" sz="7200" b="1" kern="0" spc="-216" dirty="0">
                <a:solidFill>
                  <a:srgbClr val="D72631"/>
                </a:solidFill>
                <a:latin typeface="-apple-system" pitchFamily="34" charset="0"/>
                <a:ea typeface="-apple-system" pitchFamily="34" charset="-122"/>
                <a:cs typeface="-apple-system" pitchFamily="34" charset="-120"/>
              </a:rPr>
              <a:t>El mayor pico de orgullo </a:t>
            </a:r>
            <a:r>
              <a:rPr lang="en-US" sz="7200" b="1" kern="0" spc="-216" dirty="0">
                <a:solidFill>
                  <a:srgbClr val="1A1A1A"/>
                </a:solidFill>
                <a:latin typeface="-apple-system" pitchFamily="34" charset="0"/>
                <a:ea typeface="-apple-system" pitchFamily="34" charset="-122"/>
                <a:cs typeface="-apple-system" pitchFamily="34" charset="-120"/>
              </a:rPr>
              <a:t>del año.</a:t>
            </a:r>
            <a:endParaRPr lang="en-US" sz="7200" dirty="0"/>
          </a:p>
        </p:txBody>
      </p:sp>
      <p:sp>
        <p:nvSpPr>
          <p:cNvPr id="10" name="Shape 7"/>
          <p:cNvSpPr/>
          <p:nvPr/>
        </p:nvSpPr>
        <p:spPr>
          <a:xfrm>
            <a:off x="1047750" y="4387900"/>
            <a:ext cx="5245001" cy="1736229"/>
          </a:xfrm>
          <a:prstGeom prst="rect">
            <a:avLst/>
          </a:prstGeom>
          <a:solidFill>
            <a:srgbClr val="F5F4F1"/>
          </a:solidFill>
          <a:ln/>
        </p:spPr>
        <p:txBody>
          <a:bodyPr/>
          <a:lstStyle/>
          <a:p>
            <a:endParaRPr lang="es-EC"/>
          </a:p>
        </p:txBody>
      </p:sp>
      <p:sp>
        <p:nvSpPr>
          <p:cNvPr id="11" name="Shape 8"/>
          <p:cNvSpPr/>
          <p:nvPr/>
        </p:nvSpPr>
        <p:spPr>
          <a:xfrm>
            <a:off x="1047750" y="4387900"/>
            <a:ext cx="5245001" cy="57150"/>
          </a:xfrm>
          <a:prstGeom prst="rect">
            <a:avLst/>
          </a:prstGeom>
          <a:solidFill>
            <a:srgbClr val="F5B400"/>
          </a:solidFill>
          <a:ln/>
        </p:spPr>
        <p:txBody>
          <a:bodyPr/>
          <a:lstStyle/>
          <a:p>
            <a:endParaRPr lang="es-EC"/>
          </a:p>
        </p:txBody>
      </p:sp>
      <p:sp>
        <p:nvSpPr>
          <p:cNvPr id="12" name="Text 9"/>
          <p:cNvSpPr/>
          <p:nvPr/>
        </p:nvSpPr>
        <p:spPr>
          <a:xfrm>
            <a:off x="1295400" y="4654600"/>
            <a:ext cx="4892192" cy="60379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3300" b="1" kern="0" spc="-33" dirty="0">
                <a:solidFill>
                  <a:srgbClr val="1A1A1A"/>
                </a:solidFill>
                <a:latin typeface="-apple-system" pitchFamily="34" charset="0"/>
                <a:ea typeface="-apple-system" pitchFamily="34" charset="-122"/>
                <a:cs typeface="-apple-system" pitchFamily="34" charset="-120"/>
              </a:rPr>
              <a:t>14 JUN</a:t>
            </a:r>
            <a:endParaRPr lang="en-US" sz="3300" dirty="0"/>
          </a:p>
        </p:txBody>
      </p:sp>
      <p:sp>
        <p:nvSpPr>
          <p:cNvPr id="13" name="Shape 10"/>
          <p:cNvSpPr/>
          <p:nvPr/>
        </p:nvSpPr>
        <p:spPr>
          <a:xfrm>
            <a:off x="1295400" y="5315545"/>
            <a:ext cx="4749701" cy="9525"/>
          </a:xfrm>
          <a:prstGeom prst="rect">
            <a:avLst/>
          </a:prstGeom>
          <a:solidFill>
            <a:srgbClr val="C9C6BD"/>
          </a:solidFill>
          <a:ln/>
        </p:spPr>
        <p:txBody>
          <a:bodyPr/>
          <a:lstStyle/>
          <a:p>
            <a:endParaRPr lang="es-EC"/>
          </a:p>
        </p:txBody>
      </p:sp>
      <p:sp>
        <p:nvSpPr>
          <p:cNvPr id="14" name="Text 11"/>
          <p:cNvSpPr/>
          <p:nvPr/>
        </p:nvSpPr>
        <p:spPr>
          <a:xfrm>
            <a:off x="1295400" y="5420320"/>
            <a:ext cx="4892192" cy="295275"/>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500" b="1" dirty="0">
                <a:solidFill>
                  <a:srgbClr val="1A1A1A"/>
                </a:solidFill>
                <a:latin typeface="-apple-system" pitchFamily="34" charset="0"/>
                <a:ea typeface="-apple-system" pitchFamily="34" charset="-122"/>
                <a:cs typeface="-apple-system" pitchFamily="34" charset="-120"/>
              </a:rPr>
              <a:t>Ecuador vs Costa de Marfil</a:t>
            </a:r>
            <a:endParaRPr lang="en-US" sz="1500" dirty="0"/>
          </a:p>
        </p:txBody>
      </p:sp>
      <p:sp>
        <p:nvSpPr>
          <p:cNvPr id="15" name="Text 12"/>
          <p:cNvSpPr/>
          <p:nvPr/>
        </p:nvSpPr>
        <p:spPr>
          <a:xfrm>
            <a:off x="1295400" y="5734645"/>
            <a:ext cx="4892192"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189" dirty="0">
                <a:solidFill>
                  <a:srgbClr val="6B6B6B"/>
                </a:solidFill>
                <a:latin typeface="-apple-system" pitchFamily="34" charset="0"/>
                <a:ea typeface="-apple-system" pitchFamily="34" charset="-122"/>
                <a:cs typeface="-apple-system" pitchFamily="34" charset="-120"/>
              </a:rPr>
              <a:t>FILADELFIA · 18:00 EC</a:t>
            </a:r>
            <a:endParaRPr lang="en-US" sz="1050" dirty="0"/>
          </a:p>
        </p:txBody>
      </p:sp>
      <p:sp>
        <p:nvSpPr>
          <p:cNvPr id="16" name="Shape 13"/>
          <p:cNvSpPr/>
          <p:nvPr/>
        </p:nvSpPr>
        <p:spPr>
          <a:xfrm>
            <a:off x="6521351" y="4387900"/>
            <a:ext cx="5245150" cy="1736229"/>
          </a:xfrm>
          <a:prstGeom prst="rect">
            <a:avLst/>
          </a:prstGeom>
          <a:solidFill>
            <a:srgbClr val="F5F4F1"/>
          </a:solidFill>
          <a:ln/>
        </p:spPr>
        <p:txBody>
          <a:bodyPr/>
          <a:lstStyle/>
          <a:p>
            <a:endParaRPr lang="es-EC"/>
          </a:p>
        </p:txBody>
      </p:sp>
      <p:sp>
        <p:nvSpPr>
          <p:cNvPr id="17" name="Shape 14"/>
          <p:cNvSpPr/>
          <p:nvPr/>
        </p:nvSpPr>
        <p:spPr>
          <a:xfrm>
            <a:off x="6521351" y="4387900"/>
            <a:ext cx="5245150" cy="57150"/>
          </a:xfrm>
          <a:prstGeom prst="rect">
            <a:avLst/>
          </a:prstGeom>
          <a:solidFill>
            <a:srgbClr val="F5B400"/>
          </a:solidFill>
          <a:ln/>
        </p:spPr>
        <p:txBody>
          <a:bodyPr/>
          <a:lstStyle/>
          <a:p>
            <a:endParaRPr lang="es-EC"/>
          </a:p>
        </p:txBody>
      </p:sp>
      <p:sp>
        <p:nvSpPr>
          <p:cNvPr id="18" name="Text 15"/>
          <p:cNvSpPr/>
          <p:nvPr/>
        </p:nvSpPr>
        <p:spPr>
          <a:xfrm>
            <a:off x="6769001" y="4654600"/>
            <a:ext cx="4892345" cy="60379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3300" b="1" kern="0" spc="-33" dirty="0">
                <a:solidFill>
                  <a:srgbClr val="1A1A1A"/>
                </a:solidFill>
                <a:latin typeface="-apple-system" pitchFamily="34" charset="0"/>
                <a:ea typeface="-apple-system" pitchFamily="34" charset="-122"/>
                <a:cs typeface="-apple-system" pitchFamily="34" charset="-120"/>
              </a:rPr>
              <a:t>20 JUN</a:t>
            </a:r>
            <a:endParaRPr lang="en-US" sz="3300" dirty="0"/>
          </a:p>
        </p:txBody>
      </p:sp>
      <p:sp>
        <p:nvSpPr>
          <p:cNvPr id="19" name="Shape 16"/>
          <p:cNvSpPr/>
          <p:nvPr/>
        </p:nvSpPr>
        <p:spPr>
          <a:xfrm>
            <a:off x="6769001" y="5315545"/>
            <a:ext cx="4749850" cy="9525"/>
          </a:xfrm>
          <a:prstGeom prst="rect">
            <a:avLst/>
          </a:prstGeom>
          <a:solidFill>
            <a:srgbClr val="C9C6BD"/>
          </a:solidFill>
          <a:ln/>
        </p:spPr>
        <p:txBody>
          <a:bodyPr/>
          <a:lstStyle/>
          <a:p>
            <a:endParaRPr lang="es-EC"/>
          </a:p>
        </p:txBody>
      </p:sp>
      <p:sp>
        <p:nvSpPr>
          <p:cNvPr id="20" name="Text 17"/>
          <p:cNvSpPr/>
          <p:nvPr/>
        </p:nvSpPr>
        <p:spPr>
          <a:xfrm>
            <a:off x="6769001" y="5420320"/>
            <a:ext cx="4892345" cy="295275"/>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500" b="1" dirty="0">
                <a:solidFill>
                  <a:srgbClr val="1A1A1A"/>
                </a:solidFill>
                <a:latin typeface="-apple-system" pitchFamily="34" charset="0"/>
                <a:ea typeface="-apple-system" pitchFamily="34" charset="-122"/>
                <a:cs typeface="-apple-system" pitchFamily="34" charset="-120"/>
              </a:rPr>
              <a:t>Ecuador vs Curazao</a:t>
            </a:r>
            <a:endParaRPr lang="en-US" sz="1500" dirty="0"/>
          </a:p>
        </p:txBody>
      </p:sp>
      <p:sp>
        <p:nvSpPr>
          <p:cNvPr id="21" name="Text 18"/>
          <p:cNvSpPr/>
          <p:nvPr/>
        </p:nvSpPr>
        <p:spPr>
          <a:xfrm>
            <a:off x="6769001" y="5734645"/>
            <a:ext cx="4892345"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189" dirty="0">
                <a:solidFill>
                  <a:srgbClr val="6B6B6B"/>
                </a:solidFill>
                <a:latin typeface="-apple-system" pitchFamily="34" charset="0"/>
                <a:ea typeface="-apple-system" pitchFamily="34" charset="-122"/>
                <a:cs typeface="-apple-system" pitchFamily="34" charset="-120"/>
              </a:rPr>
              <a:t>KANSAS CITY · 19:00 EC</a:t>
            </a:r>
            <a:endParaRPr lang="en-US" sz="1050" dirty="0"/>
          </a:p>
        </p:txBody>
      </p:sp>
      <p:sp>
        <p:nvSpPr>
          <p:cNvPr id="22" name="Shape 19"/>
          <p:cNvSpPr/>
          <p:nvPr/>
        </p:nvSpPr>
        <p:spPr>
          <a:xfrm>
            <a:off x="11995100" y="4387900"/>
            <a:ext cx="5245150" cy="1736229"/>
          </a:xfrm>
          <a:prstGeom prst="rect">
            <a:avLst/>
          </a:prstGeom>
          <a:solidFill>
            <a:srgbClr val="F5F4F1"/>
          </a:solidFill>
          <a:ln/>
        </p:spPr>
        <p:txBody>
          <a:bodyPr/>
          <a:lstStyle/>
          <a:p>
            <a:endParaRPr lang="es-EC"/>
          </a:p>
        </p:txBody>
      </p:sp>
      <p:sp>
        <p:nvSpPr>
          <p:cNvPr id="23" name="Shape 20"/>
          <p:cNvSpPr/>
          <p:nvPr/>
        </p:nvSpPr>
        <p:spPr>
          <a:xfrm>
            <a:off x="11995100" y="4387900"/>
            <a:ext cx="5245150" cy="57150"/>
          </a:xfrm>
          <a:prstGeom prst="rect">
            <a:avLst/>
          </a:prstGeom>
          <a:solidFill>
            <a:srgbClr val="F5B400"/>
          </a:solidFill>
          <a:ln/>
        </p:spPr>
        <p:txBody>
          <a:bodyPr/>
          <a:lstStyle/>
          <a:p>
            <a:endParaRPr lang="es-EC"/>
          </a:p>
        </p:txBody>
      </p:sp>
      <p:sp>
        <p:nvSpPr>
          <p:cNvPr id="24" name="Text 21"/>
          <p:cNvSpPr/>
          <p:nvPr/>
        </p:nvSpPr>
        <p:spPr>
          <a:xfrm>
            <a:off x="12242750" y="4654600"/>
            <a:ext cx="4892345" cy="603796"/>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3300" b="1" kern="0" spc="-33" dirty="0">
                <a:solidFill>
                  <a:srgbClr val="1A1A1A"/>
                </a:solidFill>
                <a:latin typeface="-apple-system" pitchFamily="34" charset="0"/>
                <a:ea typeface="-apple-system" pitchFamily="34" charset="-122"/>
                <a:cs typeface="-apple-system" pitchFamily="34" charset="-120"/>
              </a:rPr>
              <a:t>25 JUN</a:t>
            </a:r>
            <a:endParaRPr lang="en-US" sz="3300" dirty="0"/>
          </a:p>
        </p:txBody>
      </p:sp>
      <p:sp>
        <p:nvSpPr>
          <p:cNvPr id="25" name="Shape 22"/>
          <p:cNvSpPr/>
          <p:nvPr/>
        </p:nvSpPr>
        <p:spPr>
          <a:xfrm>
            <a:off x="12242750" y="5315545"/>
            <a:ext cx="4749850" cy="9525"/>
          </a:xfrm>
          <a:prstGeom prst="rect">
            <a:avLst/>
          </a:prstGeom>
          <a:solidFill>
            <a:srgbClr val="C9C6BD"/>
          </a:solidFill>
          <a:ln/>
        </p:spPr>
        <p:txBody>
          <a:bodyPr/>
          <a:lstStyle/>
          <a:p>
            <a:endParaRPr lang="es-EC"/>
          </a:p>
        </p:txBody>
      </p:sp>
      <p:sp>
        <p:nvSpPr>
          <p:cNvPr id="26" name="Text 23"/>
          <p:cNvSpPr/>
          <p:nvPr/>
        </p:nvSpPr>
        <p:spPr>
          <a:xfrm>
            <a:off x="12242750" y="5420320"/>
            <a:ext cx="4892345" cy="295275"/>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500" b="1" dirty="0">
                <a:solidFill>
                  <a:srgbClr val="1A1A1A"/>
                </a:solidFill>
                <a:latin typeface="-apple-system" pitchFamily="34" charset="0"/>
                <a:ea typeface="-apple-system" pitchFamily="34" charset="-122"/>
                <a:cs typeface="-apple-system" pitchFamily="34" charset="-120"/>
              </a:rPr>
              <a:t>Ecuador vs Alemania</a:t>
            </a:r>
            <a:endParaRPr lang="en-US" sz="1500" dirty="0"/>
          </a:p>
        </p:txBody>
      </p:sp>
      <p:sp>
        <p:nvSpPr>
          <p:cNvPr id="27" name="Text 24"/>
          <p:cNvSpPr/>
          <p:nvPr/>
        </p:nvSpPr>
        <p:spPr>
          <a:xfrm>
            <a:off x="12242750" y="5734645"/>
            <a:ext cx="4892345"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189" dirty="0">
                <a:solidFill>
                  <a:srgbClr val="6B6B6B"/>
                </a:solidFill>
                <a:latin typeface="-apple-system" pitchFamily="34" charset="0"/>
                <a:ea typeface="-apple-system" pitchFamily="34" charset="-122"/>
                <a:cs typeface="-apple-system" pitchFamily="34" charset="-120"/>
              </a:rPr>
              <a:t>NUEVA JERSEY · 15:00 EC</a:t>
            </a:r>
            <a:endParaRPr lang="en-US" sz="1050" dirty="0"/>
          </a:p>
        </p:txBody>
      </p:sp>
      <p:sp>
        <p:nvSpPr>
          <p:cNvPr id="28" name="Text 25"/>
          <p:cNvSpPr/>
          <p:nvPr/>
        </p:nvSpPr>
        <p:spPr>
          <a:xfrm>
            <a:off x="1047750" y="6505129"/>
            <a:ext cx="7868221"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189" dirty="0">
                <a:solidFill>
                  <a:srgbClr val="D72631"/>
                </a:solidFill>
                <a:latin typeface="-apple-system" pitchFamily="34" charset="0"/>
                <a:ea typeface="-apple-system" pitchFamily="34" charset="-122"/>
                <a:cs typeface="-apple-system" pitchFamily="34" charset="-120"/>
              </a:rPr>
              <a:t>INSIGHT DEL RADAR</a:t>
            </a:r>
            <a:endParaRPr lang="en-US" sz="1050" dirty="0"/>
          </a:p>
        </p:txBody>
      </p:sp>
      <p:sp>
        <p:nvSpPr>
          <p:cNvPr id="29" name="Shape 26"/>
          <p:cNvSpPr/>
          <p:nvPr/>
        </p:nvSpPr>
        <p:spPr>
          <a:xfrm>
            <a:off x="1047750" y="6799362"/>
            <a:ext cx="38100" cy="1032421"/>
          </a:xfrm>
          <a:prstGeom prst="rect">
            <a:avLst/>
          </a:prstGeom>
          <a:solidFill>
            <a:srgbClr val="D72631"/>
          </a:solidFill>
          <a:ln/>
        </p:spPr>
        <p:txBody>
          <a:bodyPr/>
          <a:lstStyle/>
          <a:p>
            <a:endParaRPr lang="es-EC"/>
          </a:p>
        </p:txBody>
      </p:sp>
      <p:sp>
        <p:nvSpPr>
          <p:cNvPr id="30" name="Text 27"/>
          <p:cNvSpPr/>
          <p:nvPr/>
        </p:nvSpPr>
        <p:spPr>
          <a:xfrm>
            <a:off x="1428750" y="6875562"/>
            <a:ext cx="7487221" cy="918121"/>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650" i="1" dirty="0">
                <a:solidFill>
                  <a:srgbClr val="3A3A3A"/>
                </a:solidFill>
                <a:latin typeface="Georgia" pitchFamily="34" charset="0"/>
                <a:ea typeface="Georgia" pitchFamily="34" charset="-122"/>
                <a:cs typeface="Georgia" pitchFamily="34" charset="-120"/>
              </a:rPr>
              <a:t>El orgullo ecuatoriano </a:t>
            </a:r>
            <a:r>
              <a:rPr lang="en-US" sz="1650" b="1" dirty="0">
                <a:solidFill>
                  <a:srgbClr val="1A1A1A"/>
                </a:solidFill>
                <a:latin typeface="Georgia" pitchFamily="34" charset="0"/>
                <a:ea typeface="Georgia" pitchFamily="34" charset="-122"/>
                <a:cs typeface="Georgia" pitchFamily="34" charset="-120"/>
              </a:rPr>
              <a:t>(9.977 menciones) </a:t>
            </a:r>
            <a:r>
              <a:rPr lang="en-US" sz="1650" i="1" dirty="0">
                <a:solidFill>
                  <a:srgbClr val="3A3A3A"/>
                </a:solidFill>
                <a:latin typeface="Georgia" pitchFamily="34" charset="0"/>
                <a:ea typeface="Georgia" pitchFamily="34" charset="-122"/>
                <a:cs typeface="Georgia" pitchFamily="34" charset="-120"/>
              </a:rPr>
              <a:t>ya está activo. La gente NO necesita que el gobierno le diga que esté orgulloso. Necesita que el gobierno se sume sin apropiarse.</a:t>
            </a:r>
            <a:endParaRPr lang="en-US" sz="1650" dirty="0"/>
          </a:p>
        </p:txBody>
      </p:sp>
      <p:sp>
        <p:nvSpPr>
          <p:cNvPr id="31" name="Shape 28"/>
          <p:cNvSpPr/>
          <p:nvPr/>
        </p:nvSpPr>
        <p:spPr>
          <a:xfrm>
            <a:off x="9296400" y="6505129"/>
            <a:ext cx="38100" cy="1328886"/>
          </a:xfrm>
          <a:prstGeom prst="rect">
            <a:avLst/>
          </a:prstGeom>
          <a:solidFill>
            <a:srgbClr val="D72631"/>
          </a:solidFill>
          <a:ln/>
        </p:spPr>
        <p:txBody>
          <a:bodyPr/>
          <a:lstStyle/>
          <a:p>
            <a:endParaRPr lang="es-EC"/>
          </a:p>
        </p:txBody>
      </p:sp>
      <p:sp>
        <p:nvSpPr>
          <p:cNvPr id="32" name="Text 29"/>
          <p:cNvSpPr/>
          <p:nvPr/>
        </p:nvSpPr>
        <p:spPr>
          <a:xfrm>
            <a:off x="9601200" y="6695629"/>
            <a:ext cx="7868221"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189" dirty="0">
                <a:solidFill>
                  <a:srgbClr val="D72631"/>
                </a:solidFill>
                <a:latin typeface="-apple-system" pitchFamily="34" charset="0"/>
                <a:ea typeface="-apple-system" pitchFamily="34" charset="-122"/>
                <a:cs typeface="-apple-system" pitchFamily="34" charset="-120"/>
              </a:rPr>
              <a:t>LA PREGUNTA · R.O.O.M.</a:t>
            </a:r>
            <a:endParaRPr lang="en-US" sz="1050" dirty="0"/>
          </a:p>
        </p:txBody>
      </p:sp>
      <p:sp>
        <p:nvSpPr>
          <p:cNvPr id="33" name="Text 30"/>
          <p:cNvSpPr/>
          <p:nvPr/>
        </p:nvSpPr>
        <p:spPr>
          <a:xfrm>
            <a:off x="9601200" y="6989862"/>
            <a:ext cx="7868221" cy="69175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950" i="1" dirty="0">
                <a:solidFill>
                  <a:srgbClr val="1A1A1A"/>
                </a:solidFill>
                <a:latin typeface="Georgia" pitchFamily="34" charset="0"/>
                <a:ea typeface="Georgia" pitchFamily="34" charset="-122"/>
                <a:cs typeface="Georgia" pitchFamily="34" charset="-120"/>
              </a:rPr>
              <a:t>¿Cómo podríamos convertir cada partido en un acto de país, </a:t>
            </a:r>
            <a:r>
              <a:rPr lang="en-US" sz="1950" i="1" dirty="0">
                <a:solidFill>
                  <a:srgbClr val="D72631"/>
                </a:solidFill>
                <a:latin typeface="Georgia" pitchFamily="34" charset="0"/>
                <a:ea typeface="Georgia" pitchFamily="34" charset="-122"/>
                <a:cs typeface="Georgia" pitchFamily="34" charset="-120"/>
              </a:rPr>
              <a:t>sin que parezca campaña?</a:t>
            </a:r>
            <a:endParaRPr lang="en-US" sz="1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10101411"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4063960" y="666750"/>
            <a:ext cx="3271579"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12 · MISIÓN 01 · IDEA HERO</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79738" y="9547920"/>
            <a:ext cx="836712"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21 / 32</a:t>
            </a:r>
            <a:endParaRPr lang="en-US" sz="1200" dirty="0"/>
          </a:p>
        </p:txBody>
      </p:sp>
      <p:sp>
        <p:nvSpPr>
          <p:cNvPr id="7" name="Text 4"/>
          <p:cNvSpPr/>
          <p:nvPr/>
        </p:nvSpPr>
        <p:spPr>
          <a:xfrm>
            <a:off x="1047750" y="1714500"/>
            <a:ext cx="16678275"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189" dirty="0">
                <a:solidFill>
                  <a:srgbClr val="D72631"/>
                </a:solidFill>
                <a:latin typeface="-apple-system" pitchFamily="34" charset="0"/>
                <a:ea typeface="-apple-system" pitchFamily="34" charset="-122"/>
                <a:cs typeface="-apple-system" pitchFamily="34" charset="-120"/>
              </a:rPr>
              <a:t>MISIÓN 01 · IDEA QUE ABRE LA MISIÓN</a:t>
            </a:r>
            <a:endParaRPr lang="en-US" sz="1050" dirty="0"/>
          </a:p>
        </p:txBody>
      </p:sp>
      <p:sp>
        <p:nvSpPr>
          <p:cNvPr id="8" name="Text 5"/>
          <p:cNvSpPr/>
          <p:nvPr/>
        </p:nvSpPr>
        <p:spPr>
          <a:xfrm>
            <a:off x="1047750" y="2027783"/>
            <a:ext cx="16678275" cy="2918222"/>
          </a:xfrm>
          <a:prstGeom prst="rect">
            <a:avLst/>
          </a:prstGeom>
          <a:noFill/>
          <a:ln/>
        </p:spPr>
        <p:txBody>
          <a:bodyPr wrap="square" lIns="25400" tIns="25400" rIns="25400" bIns="25400" rtlCol="0" anchor="t">
            <a:normAutofit/>
          </a:bodyPr>
          <a:lstStyle/>
          <a:p>
            <a:pPr marL="0" indent="0" algn="l">
              <a:lnSpc>
                <a:spcPct val="90000"/>
              </a:lnSpc>
              <a:buNone/>
            </a:pPr>
            <a:r>
              <a:rPr lang="en-US" sz="12600" b="1" kern="0" spc="-504" dirty="0">
                <a:solidFill>
                  <a:srgbClr val="1A1A1A"/>
                </a:solidFill>
                <a:latin typeface="-apple-system" pitchFamily="34" charset="0"/>
                <a:ea typeface="-apple-system" pitchFamily="34" charset="-122"/>
                <a:cs typeface="-apple-system" pitchFamily="34" charset="-120"/>
              </a:rPr>
              <a:t>FAN FEST </a:t>
            </a:r>
            <a:r>
              <a:rPr lang="en-US" sz="12600" b="1" kern="0" spc="-504" dirty="0">
                <a:solidFill>
                  <a:srgbClr val="D72631"/>
                </a:solidFill>
                <a:latin typeface="-apple-system" pitchFamily="34" charset="0"/>
                <a:ea typeface="-apple-system" pitchFamily="34" charset="-122"/>
                <a:cs typeface="-apple-system" pitchFamily="34" charset="-120"/>
              </a:rPr>
              <a:t>PRESIDENCIAL</a:t>
            </a:r>
            <a:endParaRPr lang="en-US" sz="12600" dirty="0"/>
          </a:p>
        </p:txBody>
      </p:sp>
      <p:sp>
        <p:nvSpPr>
          <p:cNvPr id="9" name="Text 6"/>
          <p:cNvSpPr/>
          <p:nvPr/>
        </p:nvSpPr>
        <p:spPr>
          <a:xfrm>
            <a:off x="1047750" y="5212705"/>
            <a:ext cx="16678275" cy="44946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400" i="1" dirty="0">
                <a:solidFill>
                  <a:srgbClr val="3A3A3A"/>
                </a:solidFill>
                <a:latin typeface="Georgia" pitchFamily="34" charset="0"/>
                <a:ea typeface="Georgia" pitchFamily="34" charset="-122"/>
                <a:cs typeface="Georgia" pitchFamily="34" charset="-120"/>
              </a:rPr>
              <a:t>"El Ecuador que alienta junto."</a:t>
            </a:r>
            <a:endParaRPr lang="en-US" sz="2400" dirty="0"/>
          </a:p>
        </p:txBody>
      </p:sp>
      <p:sp>
        <p:nvSpPr>
          <p:cNvPr id="10" name="Shape 7"/>
          <p:cNvSpPr/>
          <p:nvPr/>
        </p:nvSpPr>
        <p:spPr>
          <a:xfrm>
            <a:off x="1047750" y="6157466"/>
            <a:ext cx="7275612" cy="3620095"/>
          </a:xfrm>
          <a:prstGeom prst="rect">
            <a:avLst/>
          </a:prstGeom>
          <a:solidFill>
            <a:srgbClr val="F5F4F1"/>
          </a:solidFill>
          <a:ln w="9525">
            <a:solidFill>
              <a:srgbClr val="C9C6BD"/>
            </a:solidFill>
            <a:prstDash val="solid"/>
          </a:ln>
        </p:spPr>
        <p:txBody>
          <a:bodyPr/>
          <a:lstStyle/>
          <a:p>
            <a:endParaRPr lang="es-EC"/>
          </a:p>
        </p:txBody>
      </p:sp>
      <p:sp>
        <p:nvSpPr>
          <p:cNvPr id="11" name="Text 8"/>
          <p:cNvSpPr/>
          <p:nvPr/>
        </p:nvSpPr>
        <p:spPr>
          <a:xfrm>
            <a:off x="1362075" y="6433691"/>
            <a:ext cx="6846371"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336" dirty="0">
                <a:solidFill>
                  <a:srgbClr val="6B6B6B"/>
                </a:solidFill>
                <a:latin typeface="-apple-system" pitchFamily="34" charset="0"/>
                <a:ea typeface="-apple-system" pitchFamily="34" charset="-122"/>
                <a:cs typeface="-apple-system" pitchFamily="34" charset="-120"/>
              </a:rPr>
              <a:t>IMAGEN · ASPIRACIONAL</a:t>
            </a:r>
            <a:endParaRPr lang="en-US" sz="1050" dirty="0"/>
          </a:p>
        </p:txBody>
      </p:sp>
      <p:sp>
        <p:nvSpPr>
          <p:cNvPr id="12" name="Text 9"/>
          <p:cNvSpPr/>
          <p:nvPr/>
        </p:nvSpPr>
        <p:spPr>
          <a:xfrm>
            <a:off x="1362075" y="8653016"/>
            <a:ext cx="5477004" cy="88642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i="1" dirty="0">
                <a:solidFill>
                  <a:srgbClr val="3A3A3A"/>
                </a:solidFill>
                <a:latin typeface="Georgia" pitchFamily="34" charset="0"/>
                <a:ea typeface="Georgia" pitchFamily="34" charset="-122"/>
                <a:cs typeface="Georgia" pitchFamily="34" charset="-120"/>
              </a:rPr>
              <a:t>Plaza pública llena. Pantalla gigante. Banderas tricolor. FIFA Fan Fest con identidad ecuatoriana — comida típica, escenarios locales.</a:t>
            </a:r>
            <a:endParaRPr lang="en-US" sz="1650" dirty="0"/>
          </a:p>
        </p:txBody>
      </p:sp>
      <p:sp>
        <p:nvSpPr>
          <p:cNvPr id="13" name="Text 10"/>
          <p:cNvSpPr/>
          <p:nvPr/>
        </p:nvSpPr>
        <p:spPr>
          <a:xfrm>
            <a:off x="8780562" y="6157466"/>
            <a:ext cx="8713479"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189" dirty="0">
                <a:solidFill>
                  <a:srgbClr val="6B6B6B"/>
                </a:solidFill>
                <a:latin typeface="-apple-system" pitchFamily="34" charset="0"/>
                <a:ea typeface="-apple-system" pitchFamily="34" charset="-122"/>
                <a:cs typeface="-apple-system" pitchFamily="34" charset="-120"/>
              </a:rPr>
              <a:t>LA EJECUCIÓN</a:t>
            </a:r>
            <a:endParaRPr lang="en-US" sz="1050" dirty="0"/>
          </a:p>
        </p:txBody>
      </p:sp>
      <p:sp>
        <p:nvSpPr>
          <p:cNvPr id="14" name="Text 11"/>
          <p:cNvSpPr/>
          <p:nvPr/>
        </p:nvSpPr>
        <p:spPr>
          <a:xfrm>
            <a:off x="8780562" y="6451699"/>
            <a:ext cx="8713479" cy="1666875"/>
          </a:xfrm>
          <a:prstGeom prst="rect">
            <a:avLst/>
          </a:prstGeom>
          <a:noFill/>
          <a:ln/>
        </p:spPr>
        <p:txBody>
          <a:bodyPr wrap="square" lIns="25400" tIns="25400" rIns="25400" bIns="25400" rtlCol="0" anchor="t">
            <a:normAutofit/>
          </a:bodyPr>
          <a:lstStyle/>
          <a:p>
            <a:pPr marL="0" indent="0" algn="l">
              <a:lnSpc>
                <a:spcPct val="150000"/>
              </a:lnSpc>
              <a:buNone/>
            </a:pPr>
            <a:r>
              <a:rPr lang="en-US" sz="1425" b="1" dirty="0">
                <a:solidFill>
                  <a:srgbClr val="1A1A1A"/>
                </a:solidFill>
                <a:latin typeface="-apple-system" pitchFamily="34" charset="0"/>
                <a:ea typeface="-apple-system" pitchFamily="34" charset="-122"/>
                <a:cs typeface="-apple-system" pitchFamily="34" charset="-120"/>
              </a:rPr>
              <a:t>8 ciudades simultáneas </a:t>
            </a:r>
            <a:r>
              <a:rPr lang="en-US" sz="1425" dirty="0">
                <a:solidFill>
                  <a:srgbClr val="3A3A3A"/>
                </a:solidFill>
                <a:latin typeface="-apple-system" pitchFamily="34" charset="0"/>
                <a:ea typeface="-apple-system" pitchFamily="34" charset="-122"/>
                <a:cs typeface="-apple-system" pitchFamily="34" charset="-120"/>
              </a:rPr>
              <a:t>con Fan Fests gratuitos: Quito (Plaza Grande), Guayaquil (Malecón), Cuenca (San Francisco), Manta, Portoviejo, Loja, Ambato, Esmeraldas. Producción nivel FIFA con identidad ecuatoriana — la previa la hacen artistas locales, los himnos los cantan coros de escuelas públicas. El presidente </a:t>
            </a:r>
            <a:r>
              <a:rPr lang="en-US" sz="1425" i="1" dirty="0">
                <a:solidFill>
                  <a:srgbClr val="D72631"/>
                </a:solidFill>
                <a:latin typeface="-apple-system" pitchFamily="34" charset="0"/>
                <a:ea typeface="-apple-system" pitchFamily="34" charset="-122"/>
                <a:cs typeface="-apple-system" pitchFamily="34" charset="-120"/>
              </a:rPr>
              <a:t>NO está en palco. </a:t>
            </a:r>
            <a:r>
              <a:rPr lang="en-US" sz="1425" dirty="0">
                <a:solidFill>
                  <a:srgbClr val="3A3A3A"/>
                </a:solidFill>
                <a:latin typeface="-apple-system" pitchFamily="34" charset="0"/>
                <a:ea typeface="-apple-system" pitchFamily="34" charset="-122"/>
                <a:cs typeface="-apple-system" pitchFamily="34" charset="-120"/>
              </a:rPr>
              <a:t>Ve un partido distinto en cada ciudad, mezclado con la gente. Cámara en mano, no protocolo. El partido contra Alemania (25 jun) lo ve en un barrio Miduvi en transformación.</a:t>
            </a:r>
            <a:endParaRPr lang="en-US" sz="1425" dirty="0"/>
          </a:p>
        </p:txBody>
      </p:sp>
      <p:sp>
        <p:nvSpPr>
          <p:cNvPr id="15" name="Shape 12"/>
          <p:cNvSpPr/>
          <p:nvPr/>
        </p:nvSpPr>
        <p:spPr>
          <a:xfrm>
            <a:off x="8780562" y="8309074"/>
            <a:ext cx="8459688" cy="9525"/>
          </a:xfrm>
          <a:prstGeom prst="rect">
            <a:avLst/>
          </a:prstGeom>
          <a:solidFill>
            <a:srgbClr val="C9C6BD"/>
          </a:solidFill>
          <a:ln/>
        </p:spPr>
        <p:txBody>
          <a:bodyPr/>
          <a:lstStyle/>
          <a:p>
            <a:endParaRPr lang="es-EC"/>
          </a:p>
        </p:txBody>
      </p:sp>
      <p:sp>
        <p:nvSpPr>
          <p:cNvPr id="16" name="Text 13"/>
          <p:cNvSpPr/>
          <p:nvPr/>
        </p:nvSpPr>
        <p:spPr>
          <a:xfrm>
            <a:off x="8780562" y="8547199"/>
            <a:ext cx="8713479"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189" dirty="0">
                <a:solidFill>
                  <a:srgbClr val="D72631"/>
                </a:solidFill>
                <a:latin typeface="-apple-system" pitchFamily="34" charset="0"/>
                <a:ea typeface="-apple-system" pitchFamily="34" charset="-122"/>
                <a:cs typeface="-apple-system" pitchFamily="34" charset="-120"/>
              </a:rPr>
              <a:t>POR QUÉ FUNCIONA</a:t>
            </a:r>
            <a:endParaRPr lang="en-US" sz="1050" dirty="0"/>
          </a:p>
        </p:txBody>
      </p:sp>
      <p:sp>
        <p:nvSpPr>
          <p:cNvPr id="17" name="Text 14"/>
          <p:cNvSpPr/>
          <p:nvPr/>
        </p:nvSpPr>
        <p:spPr>
          <a:xfrm>
            <a:off x="8780562" y="8841432"/>
            <a:ext cx="8713479" cy="28664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350" b="1" dirty="0">
                <a:solidFill>
                  <a:srgbClr val="D72631"/>
                </a:solidFill>
                <a:latin typeface="-apple-system" pitchFamily="34" charset="0"/>
                <a:ea typeface="-apple-system" pitchFamily="34" charset="-122"/>
                <a:cs typeface="-apple-system" pitchFamily="34" charset="-120"/>
              </a:rPr>
              <a:t>→ </a:t>
            </a:r>
            <a:r>
              <a:rPr lang="en-US" sz="1350" dirty="0">
                <a:solidFill>
                  <a:srgbClr val="3A3A3A"/>
                </a:solidFill>
                <a:latin typeface="-apple-system" pitchFamily="34" charset="0"/>
                <a:ea typeface="-apple-system" pitchFamily="34" charset="-122"/>
                <a:cs typeface="-apple-system" pitchFamily="34" charset="-120"/>
              </a:rPr>
              <a:t>El gobierno se vuelve anfitrión, no protagonista. Difícil de atacar.</a:t>
            </a:r>
            <a:endParaRPr lang="en-US" sz="1350" dirty="0"/>
          </a:p>
        </p:txBody>
      </p:sp>
      <p:sp>
        <p:nvSpPr>
          <p:cNvPr id="18" name="Text 15"/>
          <p:cNvSpPr/>
          <p:nvPr/>
        </p:nvSpPr>
        <p:spPr>
          <a:xfrm>
            <a:off x="8780562" y="9185225"/>
            <a:ext cx="8713479" cy="28664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350" b="1" dirty="0">
                <a:solidFill>
                  <a:srgbClr val="D72631"/>
                </a:solidFill>
                <a:latin typeface="-apple-system" pitchFamily="34" charset="0"/>
                <a:ea typeface="-apple-system" pitchFamily="34" charset="-122"/>
                <a:cs typeface="-apple-system" pitchFamily="34" charset="-120"/>
              </a:rPr>
              <a:t>→ </a:t>
            </a:r>
            <a:r>
              <a:rPr lang="en-US" sz="1350" dirty="0">
                <a:solidFill>
                  <a:srgbClr val="3A3A3A"/>
                </a:solidFill>
                <a:latin typeface="-apple-system" pitchFamily="34" charset="0"/>
                <a:ea typeface="-apple-system" pitchFamily="34" charset="-122"/>
                <a:cs typeface="-apple-system" pitchFamily="34" charset="-120"/>
              </a:rPr>
              <a:t>La imagen del presidente entre gente real es la más rentable en política.</a:t>
            </a:r>
            <a:endParaRPr lang="en-US" sz="1350" dirty="0"/>
          </a:p>
        </p:txBody>
      </p:sp>
      <p:sp>
        <p:nvSpPr>
          <p:cNvPr id="19" name="Text 16"/>
          <p:cNvSpPr/>
          <p:nvPr/>
        </p:nvSpPr>
        <p:spPr>
          <a:xfrm>
            <a:off x="8780562" y="9529018"/>
            <a:ext cx="8713479" cy="28664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350" b="1" dirty="0">
                <a:solidFill>
                  <a:srgbClr val="D72631"/>
                </a:solidFill>
                <a:latin typeface="-apple-system" pitchFamily="34" charset="0"/>
                <a:ea typeface="-apple-system" pitchFamily="34" charset="-122"/>
                <a:cs typeface="-apple-system" pitchFamily="34" charset="-120"/>
              </a:rPr>
              <a:t>→ </a:t>
            </a:r>
            <a:r>
              <a:rPr lang="en-US" sz="1350" dirty="0">
                <a:solidFill>
                  <a:srgbClr val="3A3A3A"/>
                </a:solidFill>
                <a:latin typeface="-apple-system" pitchFamily="34" charset="0"/>
                <a:ea typeface="-apple-system" pitchFamily="34" charset="-122"/>
                <a:cs typeface="-apple-system" pitchFamily="34" charset="-120"/>
              </a:rPr>
              <a:t>Cruza con Misión 03 (Barrios) — un solo gesto, dos misiones activadas.</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9024789"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2987338" y="666750"/>
            <a:ext cx="438050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13 · MISIÓN 01 · CARTERA COMPLETA</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58456" y="9547920"/>
            <a:ext cx="857994"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22 / 32</a:t>
            </a:r>
            <a:endParaRPr lang="en-US" sz="1200" dirty="0"/>
          </a:p>
        </p:txBody>
      </p:sp>
      <p:sp>
        <p:nvSpPr>
          <p:cNvPr id="7" name="Text 4"/>
          <p:cNvSpPr/>
          <p:nvPr/>
        </p:nvSpPr>
        <p:spPr>
          <a:xfrm>
            <a:off x="1047750" y="1714500"/>
            <a:ext cx="16678275"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189" dirty="0">
                <a:solidFill>
                  <a:srgbClr val="D72631"/>
                </a:solidFill>
                <a:latin typeface="-apple-system" pitchFamily="34" charset="0"/>
                <a:ea typeface="-apple-system" pitchFamily="34" charset="-122"/>
                <a:cs typeface="-apple-system" pitchFamily="34" charset="-120"/>
              </a:rPr>
              <a:t>MISIÓN 01 · CARTERA COMPLETA</a:t>
            </a:r>
            <a:endParaRPr lang="en-US" sz="1050" dirty="0"/>
          </a:p>
        </p:txBody>
      </p:sp>
      <p:sp>
        <p:nvSpPr>
          <p:cNvPr id="8" name="Text 5"/>
          <p:cNvSpPr/>
          <p:nvPr/>
        </p:nvSpPr>
        <p:spPr>
          <a:xfrm>
            <a:off x="1047750" y="2027783"/>
            <a:ext cx="16678275" cy="1562100"/>
          </a:xfrm>
          <a:prstGeom prst="rect">
            <a:avLst/>
          </a:prstGeom>
          <a:noFill/>
          <a:ln/>
        </p:spPr>
        <p:txBody>
          <a:bodyPr wrap="square" lIns="25400" tIns="25400" rIns="25400" bIns="25400" rtlCol="0" anchor="t">
            <a:normAutofit/>
          </a:bodyPr>
          <a:lstStyle/>
          <a:p>
            <a:pPr marL="0" indent="0" algn="l">
              <a:lnSpc>
                <a:spcPct val="100000"/>
              </a:lnSpc>
              <a:buNone/>
            </a:pPr>
            <a:r>
              <a:rPr lang="en-US" sz="6000" b="1" kern="0" spc="-150" dirty="0">
                <a:solidFill>
                  <a:srgbClr val="1A1A1A"/>
                </a:solidFill>
                <a:latin typeface="-apple-system" pitchFamily="34" charset="0"/>
                <a:ea typeface="-apple-system" pitchFamily="34" charset="-122"/>
                <a:cs typeface="-apple-system" pitchFamily="34" charset="-120"/>
              </a:rPr>
              <a:t>Tres ideas más que </a:t>
            </a:r>
            <a:r>
              <a:rPr lang="en-US" sz="6000" b="1" kern="0" spc="-150" dirty="0">
                <a:solidFill>
                  <a:srgbClr val="D72631"/>
                </a:solidFill>
                <a:latin typeface="-apple-system" pitchFamily="34" charset="0"/>
                <a:ea typeface="-apple-system" pitchFamily="34" charset="-122"/>
                <a:cs typeface="-apple-system" pitchFamily="34" charset="-120"/>
              </a:rPr>
              <a:t>el sistema activa.</a:t>
            </a:r>
            <a:endParaRPr lang="en-US" sz="6000" dirty="0"/>
          </a:p>
        </p:txBody>
      </p:sp>
      <p:sp>
        <p:nvSpPr>
          <p:cNvPr id="9" name="Shape 6"/>
          <p:cNvSpPr/>
          <p:nvPr/>
        </p:nvSpPr>
        <p:spPr>
          <a:xfrm>
            <a:off x="1047750" y="4085183"/>
            <a:ext cx="5194250" cy="3343275"/>
          </a:xfrm>
          <a:prstGeom prst="rect">
            <a:avLst/>
          </a:prstGeom>
          <a:solidFill>
            <a:srgbClr val="F5F4F1"/>
          </a:solidFill>
          <a:ln/>
        </p:spPr>
        <p:txBody>
          <a:bodyPr/>
          <a:lstStyle/>
          <a:p>
            <a:endParaRPr lang="es-EC"/>
          </a:p>
        </p:txBody>
      </p:sp>
      <p:sp>
        <p:nvSpPr>
          <p:cNvPr id="10" name="Shape 7"/>
          <p:cNvSpPr/>
          <p:nvPr/>
        </p:nvSpPr>
        <p:spPr>
          <a:xfrm>
            <a:off x="1047750" y="4085183"/>
            <a:ext cx="5194250" cy="57150"/>
          </a:xfrm>
          <a:prstGeom prst="rect">
            <a:avLst/>
          </a:prstGeom>
          <a:solidFill>
            <a:srgbClr val="D72631"/>
          </a:solidFill>
          <a:ln/>
        </p:spPr>
        <p:txBody>
          <a:bodyPr/>
          <a:lstStyle/>
          <a:p>
            <a:endParaRPr lang="es-EC"/>
          </a:p>
        </p:txBody>
      </p:sp>
      <p:sp>
        <p:nvSpPr>
          <p:cNvPr id="11" name="Text 8"/>
          <p:cNvSpPr/>
          <p:nvPr/>
        </p:nvSpPr>
        <p:spPr>
          <a:xfrm>
            <a:off x="1314450" y="4409033"/>
            <a:ext cx="4800676"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D72631"/>
                </a:solidFill>
                <a:latin typeface="-apple-system" pitchFamily="34" charset="0"/>
                <a:ea typeface="-apple-system" pitchFamily="34" charset="-122"/>
                <a:cs typeface="-apple-system" pitchFamily="34" charset="-120"/>
              </a:rPr>
              <a:t>02</a:t>
            </a:r>
            <a:endParaRPr lang="en-US" sz="4200" dirty="0"/>
          </a:p>
        </p:txBody>
      </p:sp>
      <p:sp>
        <p:nvSpPr>
          <p:cNvPr id="12" name="Text 9"/>
          <p:cNvSpPr/>
          <p:nvPr/>
        </p:nvSpPr>
        <p:spPr>
          <a:xfrm>
            <a:off x="1314450" y="5094833"/>
            <a:ext cx="4800676" cy="3524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250" b="1" kern="0" spc="45" dirty="0">
                <a:solidFill>
                  <a:srgbClr val="1A1A1A"/>
                </a:solidFill>
                <a:latin typeface="-apple-system" pitchFamily="34" charset="0"/>
                <a:ea typeface="-apple-system" pitchFamily="34" charset="-122"/>
                <a:cs typeface="-apple-system" pitchFamily="34" charset="-120"/>
              </a:rPr>
              <a:t>RED #ECUADORALIENTA</a:t>
            </a:r>
            <a:endParaRPr lang="en-US" sz="2250" dirty="0"/>
          </a:p>
        </p:txBody>
      </p:sp>
      <p:sp>
        <p:nvSpPr>
          <p:cNvPr id="13" name="Text 10"/>
          <p:cNvSpPr/>
          <p:nvPr/>
        </p:nvSpPr>
        <p:spPr>
          <a:xfrm>
            <a:off x="1314450" y="5580608"/>
            <a:ext cx="4800676" cy="1581150"/>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1350" dirty="0">
                <a:solidFill>
                  <a:srgbClr val="3A3A3A"/>
                </a:solidFill>
                <a:latin typeface="-apple-system" pitchFamily="34" charset="0"/>
                <a:ea typeface="-apple-system" pitchFamily="34" charset="-122"/>
                <a:cs typeface="-apple-system" pitchFamily="34" charset="-120"/>
              </a:rPr>
              <a:t>Plataforma simple (web + WhatsApp + TikTok dueting) donde cualquier ecuatoriano sube un video corto. El gobierno se compromete a subir un video ciudadano por cada minuto jugado (270 por partido) en cuentas oficiales. Migrantes en NY/NJ que vayan al estadio mandan los suyos. El presidente comparte los más potentes en vivo.</a:t>
            </a:r>
            <a:endParaRPr lang="en-US" sz="1350" dirty="0"/>
          </a:p>
        </p:txBody>
      </p:sp>
      <p:sp>
        <p:nvSpPr>
          <p:cNvPr id="14" name="Shape 11"/>
          <p:cNvSpPr/>
          <p:nvPr/>
        </p:nvSpPr>
        <p:spPr>
          <a:xfrm>
            <a:off x="6546800" y="4085183"/>
            <a:ext cx="5194399" cy="3343275"/>
          </a:xfrm>
          <a:prstGeom prst="rect">
            <a:avLst/>
          </a:prstGeom>
          <a:solidFill>
            <a:srgbClr val="F5F4F1"/>
          </a:solidFill>
          <a:ln/>
        </p:spPr>
        <p:txBody>
          <a:bodyPr/>
          <a:lstStyle/>
          <a:p>
            <a:endParaRPr lang="es-EC"/>
          </a:p>
        </p:txBody>
      </p:sp>
      <p:sp>
        <p:nvSpPr>
          <p:cNvPr id="15" name="Shape 12"/>
          <p:cNvSpPr/>
          <p:nvPr/>
        </p:nvSpPr>
        <p:spPr>
          <a:xfrm>
            <a:off x="6546800" y="4085183"/>
            <a:ext cx="5194399" cy="57150"/>
          </a:xfrm>
          <a:prstGeom prst="rect">
            <a:avLst/>
          </a:prstGeom>
          <a:solidFill>
            <a:srgbClr val="D72631"/>
          </a:solidFill>
          <a:ln/>
        </p:spPr>
        <p:txBody>
          <a:bodyPr/>
          <a:lstStyle/>
          <a:p>
            <a:endParaRPr lang="es-EC"/>
          </a:p>
        </p:txBody>
      </p:sp>
      <p:sp>
        <p:nvSpPr>
          <p:cNvPr id="16" name="Text 13"/>
          <p:cNvSpPr/>
          <p:nvPr/>
        </p:nvSpPr>
        <p:spPr>
          <a:xfrm>
            <a:off x="6813500" y="4409033"/>
            <a:ext cx="4800829"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D72631"/>
                </a:solidFill>
                <a:latin typeface="-apple-system" pitchFamily="34" charset="0"/>
                <a:ea typeface="-apple-system" pitchFamily="34" charset="-122"/>
                <a:cs typeface="-apple-system" pitchFamily="34" charset="-120"/>
              </a:rPr>
              <a:t>03</a:t>
            </a:r>
            <a:endParaRPr lang="en-US" sz="4200" dirty="0"/>
          </a:p>
        </p:txBody>
      </p:sp>
      <p:sp>
        <p:nvSpPr>
          <p:cNvPr id="17" name="Text 14"/>
          <p:cNvSpPr/>
          <p:nvPr/>
        </p:nvSpPr>
        <p:spPr>
          <a:xfrm>
            <a:off x="6813500" y="5094833"/>
            <a:ext cx="4800829" cy="3524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250" b="1" kern="0" spc="45" dirty="0">
                <a:solidFill>
                  <a:srgbClr val="1A1A1A"/>
                </a:solidFill>
                <a:latin typeface="-apple-system" pitchFamily="34" charset="0"/>
                <a:ea typeface="-apple-system" pitchFamily="34" charset="-122"/>
                <a:cs typeface="-apple-system" pitchFamily="34" charset="-120"/>
              </a:rPr>
              <a:t>LA TRI EN CADA AULA</a:t>
            </a:r>
            <a:endParaRPr lang="en-US" sz="2250" dirty="0"/>
          </a:p>
        </p:txBody>
      </p:sp>
      <p:sp>
        <p:nvSpPr>
          <p:cNvPr id="18" name="Text 15"/>
          <p:cNvSpPr/>
          <p:nvPr/>
        </p:nvSpPr>
        <p:spPr>
          <a:xfrm>
            <a:off x="6813500" y="5580608"/>
            <a:ext cx="4800829" cy="1323975"/>
          </a:xfrm>
          <a:prstGeom prst="rect">
            <a:avLst/>
          </a:prstGeom>
          <a:noFill/>
          <a:ln/>
        </p:spPr>
        <p:txBody>
          <a:bodyPr wrap="square" lIns="25400" tIns="25400" rIns="25400" bIns="25400" rtlCol="0" anchor="t">
            <a:normAutofit/>
          </a:bodyPr>
          <a:lstStyle/>
          <a:p>
            <a:pPr marL="0" indent="0" algn="l">
              <a:lnSpc>
                <a:spcPct val="150000"/>
              </a:lnSpc>
              <a:buNone/>
            </a:pPr>
            <a:r>
              <a:rPr lang="en-US" sz="1350" dirty="0">
                <a:solidFill>
                  <a:srgbClr val="3A3A3A"/>
                </a:solidFill>
                <a:latin typeface="-apple-system" pitchFamily="34" charset="0"/>
                <a:ea typeface="-apple-system" pitchFamily="34" charset="-122"/>
                <a:cs typeface="-apple-system" pitchFamily="34" charset="-120"/>
              </a:rPr>
              <a:t>El lunes después de cada partido, la primera hora en escuelas públicas se dedica a hablar del partido. Material liviano (1 hoja). El presidente visita una escuela el lunes después del partido contra Alemania. No es publicidad, es ritual.</a:t>
            </a:r>
            <a:endParaRPr lang="en-US" sz="1350" dirty="0"/>
          </a:p>
        </p:txBody>
      </p:sp>
      <p:sp>
        <p:nvSpPr>
          <p:cNvPr id="19" name="Shape 16"/>
          <p:cNvSpPr/>
          <p:nvPr/>
        </p:nvSpPr>
        <p:spPr>
          <a:xfrm>
            <a:off x="12046000" y="4085183"/>
            <a:ext cx="5194250" cy="3343275"/>
          </a:xfrm>
          <a:prstGeom prst="rect">
            <a:avLst/>
          </a:prstGeom>
          <a:solidFill>
            <a:srgbClr val="F5F4F1"/>
          </a:solidFill>
          <a:ln/>
        </p:spPr>
        <p:txBody>
          <a:bodyPr/>
          <a:lstStyle/>
          <a:p>
            <a:endParaRPr lang="es-EC"/>
          </a:p>
        </p:txBody>
      </p:sp>
      <p:sp>
        <p:nvSpPr>
          <p:cNvPr id="20" name="Shape 17"/>
          <p:cNvSpPr/>
          <p:nvPr/>
        </p:nvSpPr>
        <p:spPr>
          <a:xfrm>
            <a:off x="12046000" y="4085183"/>
            <a:ext cx="5194250" cy="57150"/>
          </a:xfrm>
          <a:prstGeom prst="rect">
            <a:avLst/>
          </a:prstGeom>
          <a:solidFill>
            <a:srgbClr val="D72631"/>
          </a:solidFill>
          <a:ln/>
        </p:spPr>
        <p:txBody>
          <a:bodyPr/>
          <a:lstStyle/>
          <a:p>
            <a:endParaRPr lang="es-EC"/>
          </a:p>
        </p:txBody>
      </p:sp>
      <p:sp>
        <p:nvSpPr>
          <p:cNvPr id="21" name="Text 18"/>
          <p:cNvSpPr/>
          <p:nvPr/>
        </p:nvSpPr>
        <p:spPr>
          <a:xfrm>
            <a:off x="12312700" y="4409033"/>
            <a:ext cx="4800676"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D72631"/>
                </a:solidFill>
                <a:latin typeface="-apple-system" pitchFamily="34" charset="0"/>
                <a:ea typeface="-apple-system" pitchFamily="34" charset="-122"/>
                <a:cs typeface="-apple-system" pitchFamily="34" charset="-120"/>
              </a:rPr>
              <a:t>04</a:t>
            </a:r>
            <a:endParaRPr lang="en-US" sz="4200" dirty="0"/>
          </a:p>
        </p:txBody>
      </p:sp>
      <p:sp>
        <p:nvSpPr>
          <p:cNvPr id="22" name="Text 19"/>
          <p:cNvSpPr/>
          <p:nvPr/>
        </p:nvSpPr>
        <p:spPr>
          <a:xfrm>
            <a:off x="12312700" y="5094833"/>
            <a:ext cx="4800676" cy="3524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250" b="1" kern="0" spc="45" dirty="0">
                <a:solidFill>
                  <a:srgbClr val="1A1A1A"/>
                </a:solidFill>
                <a:latin typeface="-apple-system" pitchFamily="34" charset="0"/>
                <a:ea typeface="-apple-system" pitchFamily="34" charset="-122"/>
                <a:cs typeface="-apple-system" pitchFamily="34" charset="-120"/>
              </a:rPr>
              <a:t>PROTOCOLO VIVO</a:t>
            </a:r>
            <a:endParaRPr lang="en-US" sz="2250" dirty="0"/>
          </a:p>
        </p:txBody>
      </p:sp>
      <p:sp>
        <p:nvSpPr>
          <p:cNvPr id="23" name="Text 20"/>
          <p:cNvSpPr/>
          <p:nvPr/>
        </p:nvSpPr>
        <p:spPr>
          <a:xfrm>
            <a:off x="12312700" y="5580608"/>
            <a:ext cx="4800676" cy="1066800"/>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1350" dirty="0">
                <a:solidFill>
                  <a:srgbClr val="3A3A3A"/>
                </a:solidFill>
                <a:latin typeface="-apple-system" pitchFamily="34" charset="0"/>
                <a:ea typeface="-apple-system" pitchFamily="34" charset="-122"/>
                <a:cs typeface="-apple-system" pitchFamily="34" charset="-120"/>
              </a:rPr>
              <a:t>Tres escenarios pre-armados, listos para activar en 4 horas: si Ecuador gana contra Alemania, si es eliminado en grupos, si pasa algo inesperado. THE ROOM se activa en modo SPRINT a las 6am del día siguiente.</a:t>
            </a:r>
            <a:endParaRPr lang="en-US" sz="1350" dirty="0"/>
          </a:p>
        </p:txBody>
      </p:sp>
      <p:sp>
        <p:nvSpPr>
          <p:cNvPr id="24" name="Text 21"/>
          <p:cNvSpPr/>
          <p:nvPr/>
        </p:nvSpPr>
        <p:spPr>
          <a:xfrm>
            <a:off x="1047750" y="7885658"/>
            <a:ext cx="14716125"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i="1" dirty="0">
                <a:solidFill>
                  <a:srgbClr val="3A3A3A"/>
                </a:solidFill>
                <a:latin typeface="Georgia" pitchFamily="34" charset="0"/>
                <a:ea typeface="Georgia" pitchFamily="34" charset="-122"/>
                <a:cs typeface="Georgia" pitchFamily="34" charset="-120"/>
              </a:rPr>
              <a:t>La idea #04 hace al sistema vivo: </a:t>
            </a:r>
            <a:r>
              <a:rPr lang="en-US" sz="1950" b="1" dirty="0">
                <a:solidFill>
                  <a:srgbClr val="1A1A1A"/>
                </a:solidFill>
                <a:latin typeface="Georgia" pitchFamily="34" charset="0"/>
                <a:ea typeface="Georgia" pitchFamily="34" charset="-122"/>
                <a:cs typeface="Georgia" pitchFamily="34" charset="-120"/>
              </a:rPr>
              <a:t>no es un plan que cumplir, es un radar que reacciona.</a:t>
            </a:r>
            <a:endParaRPr lang="en-US" sz="1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8580090"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2542639" y="666750"/>
            <a:ext cx="4838539"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14 · MISIÓN 02 — ECUAYAPA · CONTEXTO</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54884" y="9547920"/>
            <a:ext cx="861566"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23 / 32</a:t>
            </a:r>
            <a:endParaRPr lang="en-US" sz="1200" dirty="0"/>
          </a:p>
        </p:txBody>
      </p:sp>
      <p:sp>
        <p:nvSpPr>
          <p:cNvPr id="7" name="Shape 4"/>
          <p:cNvSpPr/>
          <p:nvPr/>
        </p:nvSpPr>
        <p:spPr>
          <a:xfrm>
            <a:off x="1047750" y="1714500"/>
            <a:ext cx="16192500" cy="383828"/>
          </a:xfrm>
          <a:prstGeom prst="rect">
            <a:avLst/>
          </a:prstGeom>
          <a:solidFill>
            <a:srgbClr val="D72631"/>
          </a:solidFill>
          <a:ln/>
        </p:spPr>
        <p:txBody>
          <a:bodyPr/>
          <a:lstStyle/>
          <a:p>
            <a:endParaRPr lang="es-EC"/>
          </a:p>
        </p:txBody>
      </p:sp>
      <p:sp>
        <p:nvSpPr>
          <p:cNvPr id="8" name="Text 5"/>
          <p:cNvSpPr/>
          <p:nvPr/>
        </p:nvSpPr>
        <p:spPr>
          <a:xfrm>
            <a:off x="1257300" y="1790700"/>
            <a:ext cx="16259175" cy="26952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b="1" kern="0" spc="432" dirty="0">
                <a:solidFill>
                  <a:srgbClr val="FFFFFF"/>
                </a:solidFill>
                <a:latin typeface="-apple-system" pitchFamily="34" charset="0"/>
                <a:ea typeface="-apple-system" pitchFamily="34" charset="-122"/>
                <a:cs typeface="-apple-system" pitchFamily="34" charset="-120"/>
              </a:rPr>
              <a:t>MISIÓN 02</a:t>
            </a:r>
            <a:endParaRPr lang="en-US" sz="1350" dirty="0"/>
          </a:p>
        </p:txBody>
      </p:sp>
      <p:sp>
        <p:nvSpPr>
          <p:cNvPr id="9" name="Text 6"/>
          <p:cNvSpPr/>
          <p:nvPr/>
        </p:nvSpPr>
        <p:spPr>
          <a:xfrm>
            <a:off x="1047750" y="2365028"/>
            <a:ext cx="16678275" cy="2752725"/>
          </a:xfrm>
          <a:prstGeom prst="rect">
            <a:avLst/>
          </a:prstGeom>
          <a:noFill/>
          <a:ln/>
        </p:spPr>
        <p:txBody>
          <a:bodyPr wrap="square" lIns="25400" tIns="25400" rIns="25400" bIns="25400" rtlCol="0" anchor="t">
            <a:normAutofit/>
          </a:bodyPr>
          <a:lstStyle/>
          <a:p>
            <a:pPr marL="0" indent="0" algn="l">
              <a:lnSpc>
                <a:spcPct val="95000"/>
              </a:lnSpc>
              <a:buNone/>
            </a:pPr>
            <a:r>
              <a:rPr lang="en-US" sz="7500" b="1" kern="0" spc="-225" dirty="0">
                <a:solidFill>
                  <a:srgbClr val="1A1A1A"/>
                </a:solidFill>
                <a:latin typeface="-apple-system" pitchFamily="34" charset="0"/>
                <a:ea typeface="-apple-system" pitchFamily="34" charset="-122"/>
                <a:cs typeface="-apple-system" pitchFamily="34" charset="-120"/>
              </a:rPr>
              <a:t>ECUAYAPA + #6 GEM </a:t>
            </a:r>
            <a:r>
              <a:rPr lang="en-US" sz="7500" b="1" kern="0" spc="-225" dirty="0">
                <a:solidFill>
                  <a:srgbClr val="D72631"/>
                </a:solidFill>
                <a:latin typeface="-apple-system" pitchFamily="34" charset="0"/>
                <a:ea typeface="-apple-system" pitchFamily="34" charset="-122"/>
                <a:cs typeface="-apple-system" pitchFamily="34" charset="-120"/>
              </a:rPr>
              <a:t>El logro que el país ya celebra </a:t>
            </a:r>
            <a:r>
              <a:rPr lang="en-US" sz="7500" b="1" kern="0" spc="-225" dirty="0">
                <a:solidFill>
                  <a:srgbClr val="1A1A1A"/>
                </a:solidFill>
                <a:latin typeface="-apple-system" pitchFamily="34" charset="0"/>
                <a:ea typeface="-apple-system" pitchFamily="34" charset="-122"/>
                <a:cs typeface="-apple-system" pitchFamily="34" charset="-120"/>
              </a:rPr>
              <a:t>— sin presidente adentro.</a:t>
            </a:r>
            <a:endParaRPr lang="en-US" sz="7500" dirty="0"/>
          </a:p>
        </p:txBody>
      </p:sp>
      <p:sp>
        <p:nvSpPr>
          <p:cNvPr id="10" name="Shape 7"/>
          <p:cNvSpPr/>
          <p:nvPr/>
        </p:nvSpPr>
        <p:spPr>
          <a:xfrm>
            <a:off x="1047750" y="8181380"/>
            <a:ext cx="16192500" cy="9525"/>
          </a:xfrm>
          <a:prstGeom prst="rect">
            <a:avLst/>
          </a:prstGeom>
          <a:solidFill>
            <a:srgbClr val="C9C6BD"/>
          </a:solidFill>
          <a:ln/>
        </p:spPr>
        <p:txBody>
          <a:bodyPr/>
          <a:lstStyle/>
          <a:p>
            <a:endParaRPr lang="es-EC"/>
          </a:p>
        </p:txBody>
      </p:sp>
      <p:sp>
        <p:nvSpPr>
          <p:cNvPr id="11" name="Shape 8"/>
          <p:cNvSpPr/>
          <p:nvPr/>
        </p:nvSpPr>
        <p:spPr>
          <a:xfrm>
            <a:off x="1047750" y="5651153"/>
            <a:ext cx="16192500" cy="9525"/>
          </a:xfrm>
          <a:prstGeom prst="rect">
            <a:avLst/>
          </a:prstGeom>
          <a:solidFill>
            <a:srgbClr val="1A1A1A"/>
          </a:solidFill>
          <a:ln/>
        </p:spPr>
        <p:txBody>
          <a:bodyPr/>
          <a:lstStyle/>
          <a:p>
            <a:endParaRPr lang="es-EC"/>
          </a:p>
        </p:txBody>
      </p:sp>
      <p:sp>
        <p:nvSpPr>
          <p:cNvPr id="12" name="Text 9"/>
          <p:cNvSpPr/>
          <p:nvPr/>
        </p:nvSpPr>
        <p:spPr>
          <a:xfrm>
            <a:off x="1352550" y="5927378"/>
            <a:ext cx="4924997" cy="10858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8250" b="1" kern="0" spc="-330" dirty="0">
                <a:solidFill>
                  <a:srgbClr val="D72631"/>
                </a:solidFill>
                <a:latin typeface="-apple-system" pitchFamily="34" charset="0"/>
                <a:ea typeface="-apple-system" pitchFamily="34" charset="-122"/>
                <a:cs typeface="-apple-system" pitchFamily="34" charset="-120"/>
              </a:rPr>
              <a:t>12.000</a:t>
            </a:r>
            <a:endParaRPr lang="en-US" sz="8250" dirty="0"/>
          </a:p>
        </p:txBody>
      </p:sp>
      <p:sp>
        <p:nvSpPr>
          <p:cNvPr id="13" name="Text 10"/>
          <p:cNvSpPr/>
          <p:nvPr/>
        </p:nvSpPr>
        <p:spPr>
          <a:xfrm>
            <a:off x="1352550" y="7127528"/>
            <a:ext cx="3139440" cy="56286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425" dirty="0">
                <a:solidFill>
                  <a:srgbClr val="3A3A3A"/>
                </a:solidFill>
                <a:latin typeface="-apple-system" pitchFamily="34" charset="0"/>
                <a:ea typeface="-apple-system" pitchFamily="34" charset="-122"/>
                <a:cs typeface="-apple-system" pitchFamily="34" charset="-120"/>
              </a:rPr>
              <a:t>Emprendedores conectados a la plataforma Ecuayapa.</a:t>
            </a:r>
            <a:endParaRPr lang="en-US" sz="1425" dirty="0"/>
          </a:p>
        </p:txBody>
      </p:sp>
      <p:sp>
        <p:nvSpPr>
          <p:cNvPr id="14" name="Shape 11"/>
          <p:cNvSpPr/>
          <p:nvPr/>
        </p:nvSpPr>
        <p:spPr>
          <a:xfrm>
            <a:off x="6438900" y="5660678"/>
            <a:ext cx="9525" cy="2520702"/>
          </a:xfrm>
          <a:prstGeom prst="rect">
            <a:avLst/>
          </a:prstGeom>
          <a:solidFill>
            <a:srgbClr val="C9C6BD"/>
          </a:solidFill>
          <a:ln/>
        </p:spPr>
        <p:txBody>
          <a:bodyPr/>
          <a:lstStyle/>
          <a:p>
            <a:endParaRPr lang="es-EC"/>
          </a:p>
        </p:txBody>
      </p:sp>
      <p:sp>
        <p:nvSpPr>
          <p:cNvPr id="15" name="Text 12"/>
          <p:cNvSpPr/>
          <p:nvPr/>
        </p:nvSpPr>
        <p:spPr>
          <a:xfrm>
            <a:off x="6753225" y="5927378"/>
            <a:ext cx="4924997" cy="10858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8250" b="1" kern="0" spc="-330" dirty="0">
                <a:solidFill>
                  <a:srgbClr val="D72631"/>
                </a:solidFill>
                <a:latin typeface="-apple-system" pitchFamily="34" charset="0"/>
                <a:ea typeface="-apple-system" pitchFamily="34" charset="-122"/>
                <a:cs typeface="-apple-system" pitchFamily="34" charset="-120"/>
              </a:rPr>
              <a:t>#6</a:t>
            </a:r>
            <a:endParaRPr lang="en-US" sz="8250" dirty="0"/>
          </a:p>
        </p:txBody>
      </p:sp>
      <p:sp>
        <p:nvSpPr>
          <p:cNvPr id="16" name="Text 13"/>
          <p:cNvSpPr/>
          <p:nvPr/>
        </p:nvSpPr>
        <p:spPr>
          <a:xfrm>
            <a:off x="6753225" y="7127528"/>
            <a:ext cx="3139440" cy="825252"/>
          </a:xfrm>
          <a:prstGeom prst="rect">
            <a:avLst/>
          </a:prstGeom>
          <a:noFill/>
          <a:ln/>
        </p:spPr>
        <p:txBody>
          <a:bodyPr wrap="square" lIns="25400" tIns="25400" rIns="25400" bIns="25400" rtlCol="0" anchor="t">
            <a:normAutofit/>
          </a:bodyPr>
          <a:lstStyle/>
          <a:p>
            <a:pPr marL="0" indent="0" algn="l">
              <a:lnSpc>
                <a:spcPct val="145000"/>
              </a:lnSpc>
              <a:buNone/>
            </a:pPr>
            <a:r>
              <a:rPr lang="en-US" sz="1425" dirty="0">
                <a:solidFill>
                  <a:srgbClr val="3A3A3A"/>
                </a:solidFill>
                <a:latin typeface="-apple-system" pitchFamily="34" charset="0"/>
                <a:ea typeface="-apple-system" pitchFamily="34" charset="-122"/>
                <a:cs typeface="-apple-system" pitchFamily="34" charset="-120"/>
              </a:rPr>
              <a:t>Del mundo en actividad emprendedora (GEM 2025/2026). 1 de cada 4 adultos.</a:t>
            </a:r>
            <a:endParaRPr lang="en-US" sz="1425" dirty="0"/>
          </a:p>
        </p:txBody>
      </p:sp>
      <p:sp>
        <p:nvSpPr>
          <p:cNvPr id="17" name="Shape 14"/>
          <p:cNvSpPr/>
          <p:nvPr/>
        </p:nvSpPr>
        <p:spPr>
          <a:xfrm>
            <a:off x="11839575" y="5660678"/>
            <a:ext cx="9525" cy="2520702"/>
          </a:xfrm>
          <a:prstGeom prst="rect">
            <a:avLst/>
          </a:prstGeom>
          <a:solidFill>
            <a:srgbClr val="C9C6BD"/>
          </a:solidFill>
          <a:ln/>
        </p:spPr>
        <p:txBody>
          <a:bodyPr/>
          <a:lstStyle/>
          <a:p>
            <a:endParaRPr lang="es-EC"/>
          </a:p>
        </p:txBody>
      </p:sp>
      <p:sp>
        <p:nvSpPr>
          <p:cNvPr id="18" name="Text 15"/>
          <p:cNvSpPr/>
          <p:nvPr/>
        </p:nvSpPr>
        <p:spPr>
          <a:xfrm>
            <a:off x="12153900" y="5927378"/>
            <a:ext cx="4924997" cy="10858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8250" b="1" kern="0" spc="-330" dirty="0">
                <a:solidFill>
                  <a:srgbClr val="D72631"/>
                </a:solidFill>
                <a:latin typeface="-apple-system" pitchFamily="34" charset="0"/>
                <a:ea typeface="-apple-system" pitchFamily="34" charset="-122"/>
                <a:cs typeface="-apple-system" pitchFamily="34" charset="-120"/>
              </a:rPr>
              <a:t>819</a:t>
            </a:r>
            <a:endParaRPr lang="en-US" sz="8250" dirty="0"/>
          </a:p>
        </p:txBody>
      </p:sp>
      <p:sp>
        <p:nvSpPr>
          <p:cNvPr id="19" name="Text 16"/>
          <p:cNvSpPr/>
          <p:nvPr/>
        </p:nvSpPr>
        <p:spPr>
          <a:xfrm>
            <a:off x="12153900" y="7127528"/>
            <a:ext cx="3139440" cy="56286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425" dirty="0">
                <a:solidFill>
                  <a:srgbClr val="3A3A3A"/>
                </a:solidFill>
                <a:latin typeface="-apple-system" pitchFamily="34" charset="0"/>
                <a:ea typeface="-apple-system" pitchFamily="34" charset="-122"/>
                <a:cs typeface="-apple-system" pitchFamily="34" charset="-120"/>
              </a:rPr>
              <a:t>Menciones celebrando el ranking. Cero rostro presidencial dentro.</a:t>
            </a:r>
            <a:endParaRPr lang="en-US" sz="1425" dirty="0"/>
          </a:p>
        </p:txBody>
      </p:sp>
      <p:sp>
        <p:nvSpPr>
          <p:cNvPr id="20" name="Text 17"/>
          <p:cNvSpPr/>
          <p:nvPr/>
        </p:nvSpPr>
        <p:spPr>
          <a:xfrm>
            <a:off x="1047750" y="8667155"/>
            <a:ext cx="7848600"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189" dirty="0">
                <a:solidFill>
                  <a:srgbClr val="D72631"/>
                </a:solidFill>
                <a:latin typeface="-apple-system" pitchFamily="34" charset="0"/>
                <a:ea typeface="-apple-system" pitchFamily="34" charset="-122"/>
                <a:cs typeface="-apple-system" pitchFamily="34" charset="-120"/>
              </a:rPr>
              <a:t>INSIGHT DEL RADAR</a:t>
            </a:r>
            <a:endParaRPr lang="en-US" sz="1050" dirty="0"/>
          </a:p>
        </p:txBody>
      </p:sp>
      <p:sp>
        <p:nvSpPr>
          <p:cNvPr id="21" name="Shape 18"/>
          <p:cNvSpPr/>
          <p:nvPr/>
        </p:nvSpPr>
        <p:spPr>
          <a:xfrm>
            <a:off x="1047750" y="8961388"/>
            <a:ext cx="38100" cy="1000720"/>
          </a:xfrm>
          <a:prstGeom prst="rect">
            <a:avLst/>
          </a:prstGeom>
          <a:solidFill>
            <a:srgbClr val="D72631"/>
          </a:solidFill>
          <a:ln/>
        </p:spPr>
        <p:txBody>
          <a:bodyPr/>
          <a:lstStyle/>
          <a:p>
            <a:endParaRPr lang="es-EC"/>
          </a:p>
        </p:txBody>
      </p:sp>
      <p:sp>
        <p:nvSpPr>
          <p:cNvPr id="22" name="Text 19"/>
          <p:cNvSpPr/>
          <p:nvPr/>
        </p:nvSpPr>
        <p:spPr>
          <a:xfrm>
            <a:off x="1428750" y="9037588"/>
            <a:ext cx="7467600" cy="88642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i="1" dirty="0">
                <a:solidFill>
                  <a:srgbClr val="3A3A3A"/>
                </a:solidFill>
                <a:latin typeface="Georgia" pitchFamily="34" charset="0"/>
                <a:ea typeface="Georgia" pitchFamily="34" charset="-122"/>
                <a:cs typeface="Georgia" pitchFamily="34" charset="-120"/>
              </a:rPr>
              <a:t>Coexisten dos verdades contradictorias en el árbol: 1.885 menciones celebran el #6 GEM, mientras 67 dicen "emprender es duro, no hay apoyo". El emprendedor celebra el ranking pero no siente al gobierno detrás de él.</a:t>
            </a:r>
            <a:endParaRPr lang="en-US" sz="1650" dirty="0"/>
          </a:p>
        </p:txBody>
      </p:sp>
      <p:sp>
        <p:nvSpPr>
          <p:cNvPr id="23" name="Shape 20"/>
          <p:cNvSpPr/>
          <p:nvPr/>
        </p:nvSpPr>
        <p:spPr>
          <a:xfrm>
            <a:off x="9277350" y="8667155"/>
            <a:ext cx="38100" cy="1395264"/>
          </a:xfrm>
          <a:prstGeom prst="rect">
            <a:avLst/>
          </a:prstGeom>
          <a:solidFill>
            <a:srgbClr val="D72631"/>
          </a:solidFill>
          <a:ln/>
        </p:spPr>
        <p:txBody>
          <a:bodyPr/>
          <a:lstStyle/>
          <a:p>
            <a:endParaRPr lang="es-EC"/>
          </a:p>
        </p:txBody>
      </p:sp>
      <p:sp>
        <p:nvSpPr>
          <p:cNvPr id="24" name="Text 21"/>
          <p:cNvSpPr/>
          <p:nvPr/>
        </p:nvSpPr>
        <p:spPr>
          <a:xfrm>
            <a:off x="9620250" y="8857655"/>
            <a:ext cx="7848600"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189" dirty="0">
                <a:solidFill>
                  <a:srgbClr val="D72631"/>
                </a:solidFill>
                <a:latin typeface="-apple-system" pitchFamily="34" charset="0"/>
                <a:ea typeface="-apple-system" pitchFamily="34" charset="-122"/>
                <a:cs typeface="-apple-system" pitchFamily="34" charset="-120"/>
              </a:rPr>
              <a:t>LA PREGUNTA · R.O.O.M.</a:t>
            </a:r>
            <a:endParaRPr lang="en-US" sz="1050" dirty="0"/>
          </a:p>
        </p:txBody>
      </p:sp>
      <p:sp>
        <p:nvSpPr>
          <p:cNvPr id="25" name="Text 22"/>
          <p:cNvSpPr/>
          <p:nvPr/>
        </p:nvSpPr>
        <p:spPr>
          <a:xfrm>
            <a:off x="9620250" y="9151888"/>
            <a:ext cx="7848600" cy="75813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i="1" dirty="0">
                <a:solidFill>
                  <a:srgbClr val="1A1A1A"/>
                </a:solidFill>
                <a:latin typeface="Georgia" pitchFamily="34" charset="0"/>
                <a:ea typeface="Georgia" pitchFamily="34" charset="-122"/>
                <a:cs typeface="Georgia" pitchFamily="34" charset="-120"/>
              </a:rPr>
              <a:t>¿Cómo podríamos hacer que un emprendedor sienta que el gobierno trabaja PARA él, </a:t>
            </a:r>
            <a:r>
              <a:rPr lang="en-US" sz="2100" i="1" dirty="0">
                <a:solidFill>
                  <a:srgbClr val="D72631"/>
                </a:solidFill>
                <a:latin typeface="Georgia" pitchFamily="34" charset="0"/>
                <a:ea typeface="Georgia" pitchFamily="34" charset="-122"/>
                <a:cs typeface="Georgia" pitchFamily="34" charset="-120"/>
              </a:rPr>
              <a:t>sin que tengamos que decirlo?</a:t>
            </a:r>
            <a:endParaRPr lang="en-US" sz="2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10077896"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4040445" y="666750"/>
            <a:ext cx="3295799"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15 · MISIÓN 02 · IDEA HERO</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54586" y="9547920"/>
            <a:ext cx="861864"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24 / 32</a:t>
            </a:r>
            <a:endParaRPr lang="en-US" sz="1200" dirty="0"/>
          </a:p>
        </p:txBody>
      </p:sp>
      <p:sp>
        <p:nvSpPr>
          <p:cNvPr id="7" name="Text 4"/>
          <p:cNvSpPr/>
          <p:nvPr/>
        </p:nvSpPr>
        <p:spPr>
          <a:xfrm>
            <a:off x="1047750" y="1714500"/>
            <a:ext cx="16678275"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189" dirty="0">
                <a:solidFill>
                  <a:srgbClr val="D72631"/>
                </a:solidFill>
                <a:latin typeface="-apple-system" pitchFamily="34" charset="0"/>
                <a:ea typeface="-apple-system" pitchFamily="34" charset="-122"/>
                <a:cs typeface="-apple-system" pitchFamily="34" charset="-120"/>
              </a:rPr>
              <a:t>MISIÓN 02 · IDEA QUE ABRE LA MISIÓN</a:t>
            </a:r>
            <a:endParaRPr lang="en-US" sz="1050" dirty="0"/>
          </a:p>
        </p:txBody>
      </p:sp>
      <p:sp>
        <p:nvSpPr>
          <p:cNvPr id="8" name="Text 5"/>
          <p:cNvSpPr/>
          <p:nvPr/>
        </p:nvSpPr>
        <p:spPr>
          <a:xfrm>
            <a:off x="1047750" y="2027783"/>
            <a:ext cx="16678275" cy="2918222"/>
          </a:xfrm>
          <a:prstGeom prst="rect">
            <a:avLst/>
          </a:prstGeom>
          <a:noFill/>
          <a:ln/>
        </p:spPr>
        <p:txBody>
          <a:bodyPr wrap="square" lIns="25400" tIns="25400" rIns="25400" bIns="25400" rtlCol="0" anchor="t">
            <a:normAutofit/>
          </a:bodyPr>
          <a:lstStyle/>
          <a:p>
            <a:pPr marL="0" indent="0" algn="l">
              <a:lnSpc>
                <a:spcPct val="90000"/>
              </a:lnSpc>
              <a:buNone/>
            </a:pPr>
            <a:r>
              <a:rPr lang="en-US" sz="12600" b="1" kern="0" spc="-504" dirty="0">
                <a:solidFill>
                  <a:srgbClr val="1A1A1A"/>
                </a:solidFill>
                <a:latin typeface="-apple-system" pitchFamily="34" charset="0"/>
                <a:ea typeface="-apple-system" pitchFamily="34" charset="-122"/>
                <a:cs typeface="-apple-system" pitchFamily="34" charset="-120"/>
              </a:rPr>
              <a:t>100 ROSTROS </a:t>
            </a:r>
            <a:r>
              <a:rPr lang="en-US" sz="12600" b="1" kern="0" spc="-504" dirty="0">
                <a:solidFill>
                  <a:srgbClr val="D72631"/>
                </a:solidFill>
                <a:latin typeface="-apple-system" pitchFamily="34" charset="0"/>
                <a:ea typeface="-apple-system" pitchFamily="34" charset="-122"/>
                <a:cs typeface="-apple-system" pitchFamily="34" charset="-120"/>
              </a:rPr>
              <a:t>DEL #6</a:t>
            </a:r>
            <a:endParaRPr lang="en-US" sz="12600" dirty="0"/>
          </a:p>
        </p:txBody>
      </p:sp>
      <p:sp>
        <p:nvSpPr>
          <p:cNvPr id="9" name="Text 6"/>
          <p:cNvSpPr/>
          <p:nvPr/>
        </p:nvSpPr>
        <p:spPr>
          <a:xfrm>
            <a:off x="1047750" y="5174605"/>
            <a:ext cx="1667827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i="1" dirty="0">
                <a:solidFill>
                  <a:srgbClr val="3A3A3A"/>
                </a:solidFill>
                <a:latin typeface="Georgia" pitchFamily="34" charset="0"/>
                <a:ea typeface="Georgia" pitchFamily="34" charset="-122"/>
                <a:cs typeface="Georgia" pitchFamily="34" charset="-120"/>
              </a:rPr>
              <a:t>La cara del ranking que nadie ha visto.</a:t>
            </a:r>
            <a:endParaRPr lang="en-US" sz="2250" dirty="0"/>
          </a:p>
        </p:txBody>
      </p:sp>
      <p:sp>
        <p:nvSpPr>
          <p:cNvPr id="10" name="Shape 7"/>
          <p:cNvSpPr/>
          <p:nvPr/>
        </p:nvSpPr>
        <p:spPr>
          <a:xfrm>
            <a:off x="1047750" y="6017568"/>
            <a:ext cx="2256979" cy="1246287"/>
          </a:xfrm>
          <a:prstGeom prst="rect">
            <a:avLst/>
          </a:prstGeom>
          <a:solidFill>
            <a:srgbClr val="F5F4F1"/>
          </a:solidFill>
          <a:ln w="9525">
            <a:solidFill>
              <a:srgbClr val="C9C6BD"/>
            </a:solidFill>
            <a:prstDash val="solid"/>
          </a:ln>
        </p:spPr>
        <p:txBody>
          <a:bodyPr/>
          <a:lstStyle/>
          <a:p>
            <a:endParaRPr lang="es-EC"/>
          </a:p>
        </p:txBody>
      </p:sp>
      <p:sp>
        <p:nvSpPr>
          <p:cNvPr id="11" name="Text 8"/>
          <p:cNvSpPr/>
          <p:nvPr/>
        </p:nvSpPr>
        <p:spPr>
          <a:xfrm>
            <a:off x="1171575" y="6141393"/>
            <a:ext cx="2085529" cy="1036737"/>
          </a:xfrm>
          <a:prstGeom prst="rect">
            <a:avLst/>
          </a:prstGeom>
          <a:noFill/>
          <a:ln/>
        </p:spPr>
        <p:txBody>
          <a:bodyPr wrap="square" lIns="25400" tIns="25400" rIns="25400" bIns="25400" rtlCol="0" anchor="b">
            <a:normAutofit/>
          </a:bodyPr>
          <a:lstStyle/>
          <a:p>
            <a:pPr marL="0" indent="0" algn="l">
              <a:lnSpc>
                <a:spcPct val="135000"/>
              </a:lnSpc>
              <a:buNone/>
            </a:pPr>
            <a:r>
              <a:rPr lang="en-US" sz="825" b="1" kern="0" spc="149" dirty="0">
                <a:solidFill>
                  <a:srgbClr val="3A3A3A"/>
                </a:solidFill>
                <a:latin typeface="-apple-system" pitchFamily="34" charset="0"/>
                <a:ea typeface="-apple-system" pitchFamily="34" charset="-122"/>
                <a:cs typeface="-apple-system" pitchFamily="34" charset="-120"/>
              </a:rPr>
              <a:t>TEJEDORA · OTAVALO</a:t>
            </a:r>
            <a:endParaRPr lang="en-US" sz="825" dirty="0"/>
          </a:p>
        </p:txBody>
      </p:sp>
      <p:sp>
        <p:nvSpPr>
          <p:cNvPr id="12" name="Shape 9"/>
          <p:cNvSpPr/>
          <p:nvPr/>
        </p:nvSpPr>
        <p:spPr>
          <a:xfrm>
            <a:off x="3380929" y="6017568"/>
            <a:ext cx="2256979" cy="1246287"/>
          </a:xfrm>
          <a:prstGeom prst="rect">
            <a:avLst/>
          </a:prstGeom>
          <a:solidFill>
            <a:srgbClr val="F5F4F1"/>
          </a:solidFill>
          <a:ln w="9525">
            <a:solidFill>
              <a:srgbClr val="C9C6BD"/>
            </a:solidFill>
            <a:prstDash val="solid"/>
          </a:ln>
        </p:spPr>
        <p:txBody>
          <a:bodyPr/>
          <a:lstStyle/>
          <a:p>
            <a:endParaRPr lang="es-EC"/>
          </a:p>
        </p:txBody>
      </p:sp>
      <p:sp>
        <p:nvSpPr>
          <p:cNvPr id="13" name="Text 10"/>
          <p:cNvSpPr/>
          <p:nvPr/>
        </p:nvSpPr>
        <p:spPr>
          <a:xfrm>
            <a:off x="3504754" y="6141393"/>
            <a:ext cx="2085529" cy="1036737"/>
          </a:xfrm>
          <a:prstGeom prst="rect">
            <a:avLst/>
          </a:prstGeom>
          <a:noFill/>
          <a:ln/>
        </p:spPr>
        <p:txBody>
          <a:bodyPr wrap="square" lIns="25400" tIns="25400" rIns="25400" bIns="25400" rtlCol="0" anchor="b">
            <a:normAutofit/>
          </a:bodyPr>
          <a:lstStyle/>
          <a:p>
            <a:pPr marL="0" indent="0" algn="l">
              <a:lnSpc>
                <a:spcPct val="135000"/>
              </a:lnSpc>
              <a:buNone/>
            </a:pPr>
            <a:r>
              <a:rPr lang="en-US" sz="825" b="1" kern="0" spc="149" dirty="0">
                <a:solidFill>
                  <a:srgbClr val="3A3A3A"/>
                </a:solidFill>
                <a:latin typeface="-apple-system" pitchFamily="34" charset="0"/>
                <a:ea typeface="-apple-system" pitchFamily="34" charset="-122"/>
                <a:cs typeface="-apple-system" pitchFamily="34" charset="-120"/>
              </a:rPr>
              <a:t>PANADERO · LOJA</a:t>
            </a:r>
            <a:endParaRPr lang="en-US" sz="825" dirty="0"/>
          </a:p>
        </p:txBody>
      </p:sp>
      <p:sp>
        <p:nvSpPr>
          <p:cNvPr id="14" name="Shape 11"/>
          <p:cNvSpPr/>
          <p:nvPr/>
        </p:nvSpPr>
        <p:spPr>
          <a:xfrm>
            <a:off x="5714107" y="6017568"/>
            <a:ext cx="2256979" cy="1246287"/>
          </a:xfrm>
          <a:prstGeom prst="rect">
            <a:avLst/>
          </a:prstGeom>
          <a:solidFill>
            <a:srgbClr val="F5F4F1"/>
          </a:solidFill>
          <a:ln w="9525">
            <a:solidFill>
              <a:srgbClr val="C9C6BD"/>
            </a:solidFill>
            <a:prstDash val="solid"/>
          </a:ln>
        </p:spPr>
        <p:txBody>
          <a:bodyPr/>
          <a:lstStyle/>
          <a:p>
            <a:endParaRPr lang="es-EC"/>
          </a:p>
        </p:txBody>
      </p:sp>
      <p:sp>
        <p:nvSpPr>
          <p:cNvPr id="15" name="Text 12"/>
          <p:cNvSpPr/>
          <p:nvPr/>
        </p:nvSpPr>
        <p:spPr>
          <a:xfrm>
            <a:off x="5837932" y="6141393"/>
            <a:ext cx="2085529" cy="1036737"/>
          </a:xfrm>
          <a:prstGeom prst="rect">
            <a:avLst/>
          </a:prstGeom>
          <a:noFill/>
          <a:ln/>
        </p:spPr>
        <p:txBody>
          <a:bodyPr wrap="square" lIns="25400" tIns="25400" rIns="25400" bIns="25400" rtlCol="0" anchor="b">
            <a:normAutofit/>
          </a:bodyPr>
          <a:lstStyle/>
          <a:p>
            <a:pPr marL="0" indent="0" algn="l">
              <a:lnSpc>
                <a:spcPct val="135000"/>
              </a:lnSpc>
              <a:buNone/>
            </a:pPr>
            <a:r>
              <a:rPr lang="en-US" sz="825" b="1" kern="0" spc="149" dirty="0">
                <a:solidFill>
                  <a:srgbClr val="3A3A3A"/>
                </a:solidFill>
                <a:latin typeface="-apple-system" pitchFamily="34" charset="0"/>
                <a:ea typeface="-apple-system" pitchFamily="34" charset="-122"/>
                <a:cs typeface="-apple-system" pitchFamily="34" charset="-120"/>
              </a:rPr>
              <a:t>INGENIERA · CUMBAYÁ</a:t>
            </a:r>
            <a:endParaRPr lang="en-US" sz="825" dirty="0"/>
          </a:p>
        </p:txBody>
      </p:sp>
      <p:sp>
        <p:nvSpPr>
          <p:cNvPr id="16" name="Shape 13"/>
          <p:cNvSpPr/>
          <p:nvPr/>
        </p:nvSpPr>
        <p:spPr>
          <a:xfrm>
            <a:off x="1047750" y="7340054"/>
            <a:ext cx="2256979" cy="1246436"/>
          </a:xfrm>
          <a:prstGeom prst="rect">
            <a:avLst/>
          </a:prstGeom>
          <a:solidFill>
            <a:srgbClr val="F5F4F1"/>
          </a:solidFill>
          <a:ln w="9525">
            <a:solidFill>
              <a:srgbClr val="C9C6BD"/>
            </a:solidFill>
            <a:prstDash val="solid"/>
          </a:ln>
        </p:spPr>
        <p:txBody>
          <a:bodyPr/>
          <a:lstStyle/>
          <a:p>
            <a:endParaRPr lang="es-EC"/>
          </a:p>
        </p:txBody>
      </p:sp>
      <p:sp>
        <p:nvSpPr>
          <p:cNvPr id="17" name="Text 14"/>
          <p:cNvSpPr/>
          <p:nvPr/>
        </p:nvSpPr>
        <p:spPr>
          <a:xfrm>
            <a:off x="1171575" y="7463879"/>
            <a:ext cx="2085529" cy="1036886"/>
          </a:xfrm>
          <a:prstGeom prst="rect">
            <a:avLst/>
          </a:prstGeom>
          <a:noFill/>
          <a:ln/>
        </p:spPr>
        <p:txBody>
          <a:bodyPr wrap="square" lIns="25400" tIns="25400" rIns="25400" bIns="25400" rtlCol="0" anchor="b">
            <a:normAutofit/>
          </a:bodyPr>
          <a:lstStyle/>
          <a:p>
            <a:pPr marL="0" indent="0" algn="l">
              <a:lnSpc>
                <a:spcPct val="135000"/>
              </a:lnSpc>
              <a:buNone/>
            </a:pPr>
            <a:r>
              <a:rPr lang="en-US" sz="825" b="1" kern="0" spc="149" dirty="0">
                <a:solidFill>
                  <a:srgbClr val="3A3A3A"/>
                </a:solidFill>
                <a:latin typeface="-apple-system" pitchFamily="34" charset="0"/>
                <a:ea typeface="-apple-system" pitchFamily="34" charset="-122"/>
                <a:cs typeface="-apple-system" pitchFamily="34" charset="-120"/>
              </a:rPr>
              <a:t>PESCADOR · MANTA</a:t>
            </a:r>
            <a:endParaRPr lang="en-US" sz="825" dirty="0"/>
          </a:p>
        </p:txBody>
      </p:sp>
      <p:sp>
        <p:nvSpPr>
          <p:cNvPr id="18" name="Shape 15"/>
          <p:cNvSpPr/>
          <p:nvPr/>
        </p:nvSpPr>
        <p:spPr>
          <a:xfrm>
            <a:off x="3380929" y="7340054"/>
            <a:ext cx="2256979" cy="1246436"/>
          </a:xfrm>
          <a:prstGeom prst="rect">
            <a:avLst/>
          </a:prstGeom>
          <a:solidFill>
            <a:srgbClr val="1A1A1A"/>
          </a:solidFill>
          <a:ln w="9525">
            <a:solidFill>
              <a:srgbClr val="C9C6BD"/>
            </a:solidFill>
            <a:prstDash val="solid"/>
          </a:ln>
        </p:spPr>
        <p:txBody>
          <a:bodyPr/>
          <a:lstStyle/>
          <a:p>
            <a:endParaRPr lang="es-EC"/>
          </a:p>
        </p:txBody>
      </p:sp>
      <p:sp>
        <p:nvSpPr>
          <p:cNvPr id="19" name="Text 16"/>
          <p:cNvSpPr/>
          <p:nvPr/>
        </p:nvSpPr>
        <p:spPr>
          <a:xfrm>
            <a:off x="3504754" y="7463879"/>
            <a:ext cx="2085529" cy="1036886"/>
          </a:xfrm>
          <a:prstGeom prst="rect">
            <a:avLst/>
          </a:prstGeom>
          <a:noFill/>
          <a:ln/>
        </p:spPr>
        <p:txBody>
          <a:bodyPr wrap="square" lIns="25400" tIns="25400" rIns="25400" bIns="25400" rtlCol="0" anchor="b">
            <a:normAutofit/>
          </a:bodyPr>
          <a:lstStyle/>
          <a:p>
            <a:pPr marL="0" indent="0" algn="l">
              <a:lnSpc>
                <a:spcPct val="135000"/>
              </a:lnSpc>
              <a:buNone/>
            </a:pPr>
            <a:r>
              <a:rPr lang="en-US" sz="825" b="1" kern="0" spc="149" dirty="0">
                <a:solidFill>
                  <a:srgbClr val="FFFFFF"/>
                </a:solidFill>
                <a:latin typeface="-apple-system" pitchFamily="34" charset="0"/>
                <a:ea typeface="-apple-system" pitchFamily="34" charset="-122"/>
                <a:cs typeface="-apple-system" pitchFamily="34" charset="-120"/>
              </a:rPr>
              <a:t>CERAMISTA · CUENCA</a:t>
            </a:r>
            <a:endParaRPr lang="en-US" sz="825" dirty="0"/>
          </a:p>
        </p:txBody>
      </p:sp>
      <p:sp>
        <p:nvSpPr>
          <p:cNvPr id="20" name="Shape 17"/>
          <p:cNvSpPr/>
          <p:nvPr/>
        </p:nvSpPr>
        <p:spPr>
          <a:xfrm>
            <a:off x="5714107" y="7340054"/>
            <a:ext cx="2256979" cy="1246436"/>
          </a:xfrm>
          <a:prstGeom prst="rect">
            <a:avLst/>
          </a:prstGeom>
          <a:solidFill>
            <a:srgbClr val="F5F4F1"/>
          </a:solidFill>
          <a:ln w="9525">
            <a:solidFill>
              <a:srgbClr val="C9C6BD"/>
            </a:solidFill>
            <a:prstDash val="solid"/>
          </a:ln>
        </p:spPr>
        <p:txBody>
          <a:bodyPr/>
          <a:lstStyle/>
          <a:p>
            <a:endParaRPr lang="es-EC"/>
          </a:p>
        </p:txBody>
      </p:sp>
      <p:sp>
        <p:nvSpPr>
          <p:cNvPr id="21" name="Text 18"/>
          <p:cNvSpPr/>
          <p:nvPr/>
        </p:nvSpPr>
        <p:spPr>
          <a:xfrm>
            <a:off x="5837932" y="7463879"/>
            <a:ext cx="2085529" cy="1036886"/>
          </a:xfrm>
          <a:prstGeom prst="rect">
            <a:avLst/>
          </a:prstGeom>
          <a:noFill/>
          <a:ln/>
        </p:spPr>
        <p:txBody>
          <a:bodyPr wrap="square" lIns="25400" tIns="25400" rIns="25400" bIns="25400" rtlCol="0" anchor="b">
            <a:normAutofit/>
          </a:bodyPr>
          <a:lstStyle/>
          <a:p>
            <a:pPr marL="0" indent="0" algn="l">
              <a:lnSpc>
                <a:spcPct val="135000"/>
              </a:lnSpc>
              <a:buNone/>
            </a:pPr>
            <a:r>
              <a:rPr lang="en-US" sz="825" b="1" kern="0" spc="149" dirty="0">
                <a:solidFill>
                  <a:srgbClr val="3A3A3A"/>
                </a:solidFill>
                <a:latin typeface="-apple-system" pitchFamily="34" charset="0"/>
                <a:ea typeface="-apple-system" pitchFamily="34" charset="-122"/>
                <a:cs typeface="-apple-system" pitchFamily="34" charset="-120"/>
              </a:rPr>
              <a:t>CACAOTERO · ESMERALDAS</a:t>
            </a:r>
            <a:endParaRPr lang="en-US" sz="825" dirty="0"/>
          </a:p>
        </p:txBody>
      </p:sp>
      <p:sp>
        <p:nvSpPr>
          <p:cNvPr id="22" name="Shape 19"/>
          <p:cNvSpPr/>
          <p:nvPr/>
        </p:nvSpPr>
        <p:spPr>
          <a:xfrm>
            <a:off x="1047750" y="8662690"/>
            <a:ext cx="2256979" cy="1246436"/>
          </a:xfrm>
          <a:prstGeom prst="rect">
            <a:avLst/>
          </a:prstGeom>
          <a:solidFill>
            <a:srgbClr val="F5F4F1"/>
          </a:solidFill>
          <a:ln w="9525">
            <a:solidFill>
              <a:srgbClr val="C9C6BD"/>
            </a:solidFill>
            <a:prstDash val="solid"/>
          </a:ln>
        </p:spPr>
        <p:txBody>
          <a:bodyPr/>
          <a:lstStyle/>
          <a:p>
            <a:endParaRPr lang="es-EC"/>
          </a:p>
        </p:txBody>
      </p:sp>
      <p:sp>
        <p:nvSpPr>
          <p:cNvPr id="23" name="Text 20"/>
          <p:cNvSpPr/>
          <p:nvPr/>
        </p:nvSpPr>
        <p:spPr>
          <a:xfrm>
            <a:off x="1171575" y="8786515"/>
            <a:ext cx="2085529" cy="1036886"/>
          </a:xfrm>
          <a:prstGeom prst="rect">
            <a:avLst/>
          </a:prstGeom>
          <a:noFill/>
          <a:ln/>
        </p:spPr>
        <p:txBody>
          <a:bodyPr wrap="square" lIns="25400" tIns="25400" rIns="25400" bIns="25400" rtlCol="0" anchor="b">
            <a:normAutofit/>
          </a:bodyPr>
          <a:lstStyle/>
          <a:p>
            <a:pPr marL="0" indent="0" algn="l">
              <a:lnSpc>
                <a:spcPct val="135000"/>
              </a:lnSpc>
              <a:buNone/>
            </a:pPr>
            <a:r>
              <a:rPr lang="en-US" sz="825" b="1" kern="0" spc="149" dirty="0">
                <a:solidFill>
                  <a:srgbClr val="3A3A3A"/>
                </a:solidFill>
                <a:latin typeface="-apple-system" pitchFamily="34" charset="0"/>
                <a:ea typeface="-apple-system" pitchFamily="34" charset="-122"/>
                <a:cs typeface="-apple-system" pitchFamily="34" charset="-120"/>
              </a:rPr>
              <a:t>DISEÑADORA · QUITO</a:t>
            </a:r>
            <a:endParaRPr lang="en-US" sz="825" dirty="0"/>
          </a:p>
        </p:txBody>
      </p:sp>
      <p:sp>
        <p:nvSpPr>
          <p:cNvPr id="24" name="Shape 21"/>
          <p:cNvSpPr/>
          <p:nvPr/>
        </p:nvSpPr>
        <p:spPr>
          <a:xfrm>
            <a:off x="3380929" y="8662690"/>
            <a:ext cx="2256979" cy="1246436"/>
          </a:xfrm>
          <a:prstGeom prst="rect">
            <a:avLst/>
          </a:prstGeom>
          <a:solidFill>
            <a:srgbClr val="F5F4F1"/>
          </a:solidFill>
          <a:ln w="9525">
            <a:solidFill>
              <a:srgbClr val="C9C6BD"/>
            </a:solidFill>
            <a:prstDash val="solid"/>
          </a:ln>
        </p:spPr>
        <p:txBody>
          <a:bodyPr/>
          <a:lstStyle/>
          <a:p>
            <a:endParaRPr lang="es-EC"/>
          </a:p>
        </p:txBody>
      </p:sp>
      <p:sp>
        <p:nvSpPr>
          <p:cNvPr id="25" name="Text 22"/>
          <p:cNvSpPr/>
          <p:nvPr/>
        </p:nvSpPr>
        <p:spPr>
          <a:xfrm>
            <a:off x="3504754" y="8786515"/>
            <a:ext cx="2085529" cy="1036886"/>
          </a:xfrm>
          <a:prstGeom prst="rect">
            <a:avLst/>
          </a:prstGeom>
          <a:noFill/>
          <a:ln/>
        </p:spPr>
        <p:txBody>
          <a:bodyPr wrap="square" lIns="25400" tIns="25400" rIns="25400" bIns="25400" rtlCol="0" anchor="b">
            <a:normAutofit/>
          </a:bodyPr>
          <a:lstStyle/>
          <a:p>
            <a:pPr marL="0" indent="0" algn="l">
              <a:lnSpc>
                <a:spcPct val="135000"/>
              </a:lnSpc>
              <a:buNone/>
            </a:pPr>
            <a:r>
              <a:rPr lang="en-US" sz="825" b="1" kern="0" spc="149" dirty="0">
                <a:solidFill>
                  <a:srgbClr val="3A3A3A"/>
                </a:solidFill>
                <a:latin typeface="-apple-system" pitchFamily="34" charset="0"/>
                <a:ea typeface="-apple-system" pitchFamily="34" charset="-122"/>
                <a:cs typeface="-apple-system" pitchFamily="34" charset="-120"/>
              </a:rPr>
              <a:t>APICULTOR · LOJA</a:t>
            </a:r>
            <a:endParaRPr lang="en-US" sz="825" dirty="0"/>
          </a:p>
        </p:txBody>
      </p:sp>
      <p:sp>
        <p:nvSpPr>
          <p:cNvPr id="26" name="Shape 23"/>
          <p:cNvSpPr/>
          <p:nvPr/>
        </p:nvSpPr>
        <p:spPr>
          <a:xfrm>
            <a:off x="5714107" y="8662690"/>
            <a:ext cx="2256979" cy="1246436"/>
          </a:xfrm>
          <a:prstGeom prst="rect">
            <a:avLst/>
          </a:prstGeom>
          <a:solidFill>
            <a:srgbClr val="F5F4F1"/>
          </a:solidFill>
          <a:ln w="9525">
            <a:solidFill>
              <a:srgbClr val="C9C6BD"/>
            </a:solidFill>
            <a:prstDash val="solid"/>
          </a:ln>
        </p:spPr>
        <p:txBody>
          <a:bodyPr/>
          <a:lstStyle/>
          <a:p>
            <a:endParaRPr lang="es-EC"/>
          </a:p>
        </p:txBody>
      </p:sp>
      <p:sp>
        <p:nvSpPr>
          <p:cNvPr id="27" name="Text 24"/>
          <p:cNvSpPr/>
          <p:nvPr/>
        </p:nvSpPr>
        <p:spPr>
          <a:xfrm>
            <a:off x="5837932" y="8786515"/>
            <a:ext cx="2085529" cy="1036886"/>
          </a:xfrm>
          <a:prstGeom prst="rect">
            <a:avLst/>
          </a:prstGeom>
          <a:noFill/>
          <a:ln/>
        </p:spPr>
        <p:txBody>
          <a:bodyPr wrap="square" lIns="25400" tIns="25400" rIns="25400" bIns="25400" rtlCol="0" anchor="b">
            <a:normAutofit/>
          </a:bodyPr>
          <a:lstStyle/>
          <a:p>
            <a:pPr marL="0" indent="0" algn="l">
              <a:lnSpc>
                <a:spcPct val="135000"/>
              </a:lnSpc>
              <a:buNone/>
            </a:pPr>
            <a:r>
              <a:rPr lang="en-US" sz="825" b="1" kern="0" spc="149" dirty="0">
                <a:solidFill>
                  <a:srgbClr val="3A3A3A"/>
                </a:solidFill>
                <a:latin typeface="-apple-system" pitchFamily="34" charset="0"/>
                <a:ea typeface="-apple-system" pitchFamily="34" charset="-122"/>
                <a:cs typeface="-apple-system" pitchFamily="34" charset="-120"/>
              </a:rPr>
              <a:t>MECÁNICA · AMBATO</a:t>
            </a:r>
            <a:endParaRPr lang="en-US" sz="825" dirty="0"/>
          </a:p>
        </p:txBody>
      </p:sp>
      <p:sp>
        <p:nvSpPr>
          <p:cNvPr id="28" name="Text 25"/>
          <p:cNvSpPr/>
          <p:nvPr/>
        </p:nvSpPr>
        <p:spPr>
          <a:xfrm>
            <a:off x="8428434" y="6017568"/>
            <a:ext cx="9076170"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189" dirty="0">
                <a:solidFill>
                  <a:srgbClr val="6B6B6B"/>
                </a:solidFill>
                <a:latin typeface="-apple-system" pitchFamily="34" charset="0"/>
                <a:ea typeface="-apple-system" pitchFamily="34" charset="-122"/>
                <a:cs typeface="-apple-system" pitchFamily="34" charset="-120"/>
              </a:rPr>
              <a:t>LA EJECUCIÓN</a:t>
            </a:r>
            <a:endParaRPr lang="en-US" sz="1050" dirty="0"/>
          </a:p>
        </p:txBody>
      </p:sp>
      <p:sp>
        <p:nvSpPr>
          <p:cNvPr id="29" name="Text 26"/>
          <p:cNvSpPr/>
          <p:nvPr/>
        </p:nvSpPr>
        <p:spPr>
          <a:xfrm>
            <a:off x="8428434" y="6311801"/>
            <a:ext cx="9076170" cy="1938337"/>
          </a:xfrm>
          <a:prstGeom prst="rect">
            <a:avLst/>
          </a:prstGeom>
          <a:noFill/>
          <a:ln/>
        </p:spPr>
        <p:txBody>
          <a:bodyPr wrap="square" lIns="25400" tIns="25400" rIns="25400" bIns="25400" rtlCol="0" anchor="t">
            <a:normAutofit/>
          </a:bodyPr>
          <a:lstStyle/>
          <a:p>
            <a:pPr marL="0" indent="0" algn="l">
              <a:lnSpc>
                <a:spcPct val="150000"/>
              </a:lnSpc>
              <a:buNone/>
            </a:pPr>
            <a:r>
              <a:rPr lang="en-US" sz="1425" dirty="0">
                <a:solidFill>
                  <a:srgbClr val="3A3A3A"/>
                </a:solidFill>
                <a:latin typeface="-apple-system" pitchFamily="34" charset="0"/>
                <a:ea typeface="-apple-system" pitchFamily="34" charset="-122"/>
                <a:cs typeface="-apple-system" pitchFamily="34" charset="-120"/>
              </a:rPr>
              <a:t>Documental seriado de microcápsulas </a:t>
            </a:r>
            <a:r>
              <a:rPr lang="en-US" sz="1425" b="1" dirty="0">
                <a:solidFill>
                  <a:srgbClr val="1A1A1A"/>
                </a:solidFill>
                <a:latin typeface="-apple-system" pitchFamily="34" charset="0"/>
                <a:ea typeface="-apple-system" pitchFamily="34" charset="-122"/>
                <a:cs typeface="-apple-system" pitchFamily="34" charset="-120"/>
              </a:rPr>
              <a:t>(60 segundos, formato vertical) </a:t>
            </a:r>
            <a:r>
              <a:rPr lang="en-US" sz="1425" dirty="0">
                <a:solidFill>
                  <a:srgbClr val="3A3A3A"/>
                </a:solidFill>
                <a:latin typeface="-apple-system" pitchFamily="34" charset="0"/>
                <a:ea typeface="-apple-system" pitchFamily="34" charset="-122"/>
                <a:cs typeface="-apple-system" pitchFamily="34" charset="-120"/>
              </a:rPr>
              <a:t>. 100 emprendedores reales de Ecuayapa en sus locales: una tejedora en Otavalo, un panadero en Loja, una ingeniera de software en Cumbayá, un pescador con marca propia en Manta. El presidente </a:t>
            </a:r>
            <a:r>
              <a:rPr lang="en-US" sz="1425" i="1" dirty="0">
                <a:solidFill>
                  <a:srgbClr val="D72631"/>
                </a:solidFill>
                <a:latin typeface="-apple-system" pitchFamily="34" charset="0"/>
                <a:ea typeface="-apple-system" pitchFamily="34" charset="-122"/>
                <a:cs typeface="-apple-system" pitchFamily="34" charset="-120"/>
              </a:rPr>
              <a:t>NO aparece en las cápsulas. </a:t>
            </a:r>
            <a:r>
              <a:rPr lang="en-US" sz="1425" dirty="0">
                <a:solidFill>
                  <a:srgbClr val="3A3A3A"/>
                </a:solidFill>
                <a:latin typeface="-apple-system" pitchFamily="34" charset="0"/>
                <a:ea typeface="-apple-system" pitchFamily="34" charset="-122"/>
                <a:cs typeface="-apple-system" pitchFamily="34" charset="-120"/>
              </a:rPr>
              <a:t>Aparece solo en la primera y la #100, dando entrada y cierre. Una cápsula por día durante 100 días — coincide con la ruta hacia el primer aniversario y conecta con seccionales de noviembre.</a:t>
            </a:r>
            <a:endParaRPr lang="en-US" sz="1425" dirty="0"/>
          </a:p>
        </p:txBody>
      </p:sp>
      <p:sp>
        <p:nvSpPr>
          <p:cNvPr id="30" name="Shape 27"/>
          <p:cNvSpPr/>
          <p:nvPr/>
        </p:nvSpPr>
        <p:spPr>
          <a:xfrm>
            <a:off x="8428434" y="8440638"/>
            <a:ext cx="8811816" cy="9525"/>
          </a:xfrm>
          <a:prstGeom prst="rect">
            <a:avLst/>
          </a:prstGeom>
          <a:solidFill>
            <a:srgbClr val="C9C6BD"/>
          </a:solidFill>
          <a:ln/>
        </p:spPr>
        <p:txBody>
          <a:bodyPr/>
          <a:lstStyle/>
          <a:p>
            <a:endParaRPr lang="es-EC"/>
          </a:p>
        </p:txBody>
      </p:sp>
      <p:sp>
        <p:nvSpPr>
          <p:cNvPr id="31" name="Text 28"/>
          <p:cNvSpPr/>
          <p:nvPr/>
        </p:nvSpPr>
        <p:spPr>
          <a:xfrm>
            <a:off x="8428434" y="8678763"/>
            <a:ext cx="9076170"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189" dirty="0">
                <a:solidFill>
                  <a:srgbClr val="D72631"/>
                </a:solidFill>
                <a:latin typeface="-apple-system" pitchFamily="34" charset="0"/>
                <a:ea typeface="-apple-system" pitchFamily="34" charset="-122"/>
                <a:cs typeface="-apple-system" pitchFamily="34" charset="-120"/>
              </a:rPr>
              <a:t>POR QUÉ FUNCIONA</a:t>
            </a:r>
            <a:endParaRPr lang="en-US" sz="1050" dirty="0"/>
          </a:p>
        </p:txBody>
      </p:sp>
      <p:sp>
        <p:nvSpPr>
          <p:cNvPr id="32" name="Text 29"/>
          <p:cNvSpPr/>
          <p:nvPr/>
        </p:nvSpPr>
        <p:spPr>
          <a:xfrm>
            <a:off x="8428434" y="8972996"/>
            <a:ext cx="9076170" cy="28664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350" b="1" dirty="0">
                <a:solidFill>
                  <a:srgbClr val="D72631"/>
                </a:solidFill>
                <a:latin typeface="-apple-system" pitchFamily="34" charset="0"/>
                <a:ea typeface="-apple-system" pitchFamily="34" charset="-122"/>
                <a:cs typeface="-apple-system" pitchFamily="34" charset="-120"/>
              </a:rPr>
              <a:t>→ </a:t>
            </a:r>
            <a:r>
              <a:rPr lang="en-US" sz="1350" dirty="0">
                <a:solidFill>
                  <a:srgbClr val="3A3A3A"/>
                </a:solidFill>
                <a:latin typeface="-apple-system" pitchFamily="34" charset="0"/>
                <a:ea typeface="-apple-system" pitchFamily="34" charset="-122"/>
                <a:cs typeface="-apple-system" pitchFamily="34" charset="-120"/>
              </a:rPr>
              <a:t>La narrativa la cargan los emprendedores. Imposible decir que es propaganda.</a:t>
            </a:r>
            <a:endParaRPr lang="en-US" sz="1350" dirty="0"/>
          </a:p>
        </p:txBody>
      </p:sp>
      <p:sp>
        <p:nvSpPr>
          <p:cNvPr id="33" name="Text 30"/>
          <p:cNvSpPr/>
          <p:nvPr/>
        </p:nvSpPr>
        <p:spPr>
          <a:xfrm>
            <a:off x="8428434" y="9316789"/>
            <a:ext cx="9076170" cy="28664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350" b="1" dirty="0">
                <a:solidFill>
                  <a:srgbClr val="D72631"/>
                </a:solidFill>
                <a:latin typeface="-apple-system" pitchFamily="34" charset="0"/>
                <a:ea typeface="-apple-system" pitchFamily="34" charset="-122"/>
                <a:cs typeface="-apple-system" pitchFamily="34" charset="-120"/>
              </a:rPr>
              <a:t>→ </a:t>
            </a:r>
            <a:r>
              <a:rPr lang="en-US" sz="1350" dirty="0">
                <a:solidFill>
                  <a:srgbClr val="3A3A3A"/>
                </a:solidFill>
                <a:latin typeface="-apple-system" pitchFamily="34" charset="0"/>
                <a:ea typeface="-apple-system" pitchFamily="34" charset="-122"/>
                <a:cs typeface="-apple-system" pitchFamily="34" charset="-120"/>
              </a:rPr>
              <a:t>Mensaje: "Esto es lo que es ser #6 del mundo." El dato existe, las caras lo prueban.</a:t>
            </a:r>
            <a:endParaRPr lang="en-US" sz="1350" dirty="0"/>
          </a:p>
        </p:txBody>
      </p:sp>
      <p:sp>
        <p:nvSpPr>
          <p:cNvPr id="34" name="Text 31"/>
          <p:cNvSpPr/>
          <p:nvPr/>
        </p:nvSpPr>
        <p:spPr>
          <a:xfrm>
            <a:off x="8428434" y="9660582"/>
            <a:ext cx="9076170" cy="28664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350" b="1" dirty="0">
                <a:solidFill>
                  <a:srgbClr val="D72631"/>
                </a:solidFill>
                <a:latin typeface="-apple-system" pitchFamily="34" charset="0"/>
                <a:ea typeface="-apple-system" pitchFamily="34" charset="-122"/>
                <a:cs typeface="-apple-system" pitchFamily="34" charset="-120"/>
              </a:rPr>
              <a:t>→ </a:t>
            </a:r>
            <a:r>
              <a:rPr lang="en-US" sz="1350" dirty="0">
                <a:solidFill>
                  <a:srgbClr val="3A3A3A"/>
                </a:solidFill>
                <a:latin typeface="-apple-system" pitchFamily="34" charset="0"/>
                <a:ea typeface="-apple-system" pitchFamily="34" charset="-122"/>
                <a:cs typeface="-apple-system" pitchFamily="34" charset="-120"/>
              </a:rPr>
              <a:t>100 días de contenido garantizado. Calendario editorial resuelto.</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9002018"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2964567" y="666750"/>
            <a:ext cx="4403954"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16 · MISIÓN 02 · CARTERA COMPLETA</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56223" y="9547920"/>
            <a:ext cx="860227"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25 / 32</a:t>
            </a:r>
            <a:endParaRPr lang="en-US" sz="1200" dirty="0"/>
          </a:p>
        </p:txBody>
      </p:sp>
      <p:sp>
        <p:nvSpPr>
          <p:cNvPr id="7" name="Text 4"/>
          <p:cNvSpPr/>
          <p:nvPr/>
        </p:nvSpPr>
        <p:spPr>
          <a:xfrm>
            <a:off x="1047750" y="1714500"/>
            <a:ext cx="16678275"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189" dirty="0">
                <a:solidFill>
                  <a:srgbClr val="D72631"/>
                </a:solidFill>
                <a:latin typeface="-apple-system" pitchFamily="34" charset="0"/>
                <a:ea typeface="-apple-system" pitchFamily="34" charset="-122"/>
                <a:cs typeface="-apple-system" pitchFamily="34" charset="-120"/>
              </a:rPr>
              <a:t>MISIÓN 02 · CARTERA COMPLETA</a:t>
            </a:r>
            <a:endParaRPr lang="en-US" sz="1050" dirty="0"/>
          </a:p>
        </p:txBody>
      </p:sp>
      <p:sp>
        <p:nvSpPr>
          <p:cNvPr id="8" name="Text 5"/>
          <p:cNvSpPr/>
          <p:nvPr/>
        </p:nvSpPr>
        <p:spPr>
          <a:xfrm>
            <a:off x="1047750" y="2027783"/>
            <a:ext cx="16678275" cy="1562100"/>
          </a:xfrm>
          <a:prstGeom prst="rect">
            <a:avLst/>
          </a:prstGeom>
          <a:noFill/>
          <a:ln/>
        </p:spPr>
        <p:txBody>
          <a:bodyPr wrap="square" lIns="25400" tIns="25400" rIns="25400" bIns="25400" rtlCol="0" anchor="t">
            <a:normAutofit/>
          </a:bodyPr>
          <a:lstStyle/>
          <a:p>
            <a:pPr marL="0" indent="0" algn="l">
              <a:lnSpc>
                <a:spcPct val="100000"/>
              </a:lnSpc>
              <a:buNone/>
            </a:pPr>
            <a:r>
              <a:rPr lang="en-US" sz="6000" b="1" kern="0" spc="-150" dirty="0">
                <a:solidFill>
                  <a:srgbClr val="1A1A1A"/>
                </a:solidFill>
                <a:latin typeface="-apple-system" pitchFamily="34" charset="0"/>
                <a:ea typeface="-apple-system" pitchFamily="34" charset="-122"/>
                <a:cs typeface="-apple-system" pitchFamily="34" charset="-120"/>
              </a:rPr>
              <a:t>Tres ideas más que </a:t>
            </a:r>
            <a:r>
              <a:rPr lang="en-US" sz="6000" b="1" kern="0" spc="-150" dirty="0">
                <a:solidFill>
                  <a:srgbClr val="D72631"/>
                </a:solidFill>
                <a:latin typeface="-apple-system" pitchFamily="34" charset="0"/>
                <a:ea typeface="-apple-system" pitchFamily="34" charset="-122"/>
                <a:cs typeface="-apple-system" pitchFamily="34" charset="-120"/>
              </a:rPr>
              <a:t>activan el ecosistema.</a:t>
            </a:r>
            <a:endParaRPr lang="en-US" sz="6000" dirty="0"/>
          </a:p>
        </p:txBody>
      </p:sp>
      <p:sp>
        <p:nvSpPr>
          <p:cNvPr id="9" name="Shape 6"/>
          <p:cNvSpPr/>
          <p:nvPr/>
        </p:nvSpPr>
        <p:spPr>
          <a:xfrm>
            <a:off x="1047750" y="4085183"/>
            <a:ext cx="5194250" cy="3343275"/>
          </a:xfrm>
          <a:prstGeom prst="rect">
            <a:avLst/>
          </a:prstGeom>
          <a:solidFill>
            <a:srgbClr val="F5F4F1"/>
          </a:solidFill>
          <a:ln/>
        </p:spPr>
        <p:txBody>
          <a:bodyPr/>
          <a:lstStyle/>
          <a:p>
            <a:endParaRPr lang="es-EC"/>
          </a:p>
        </p:txBody>
      </p:sp>
      <p:sp>
        <p:nvSpPr>
          <p:cNvPr id="10" name="Shape 7"/>
          <p:cNvSpPr/>
          <p:nvPr/>
        </p:nvSpPr>
        <p:spPr>
          <a:xfrm>
            <a:off x="1047750" y="4085183"/>
            <a:ext cx="5194250" cy="57150"/>
          </a:xfrm>
          <a:prstGeom prst="rect">
            <a:avLst/>
          </a:prstGeom>
          <a:solidFill>
            <a:srgbClr val="D72631"/>
          </a:solidFill>
          <a:ln/>
        </p:spPr>
        <p:txBody>
          <a:bodyPr/>
          <a:lstStyle/>
          <a:p>
            <a:endParaRPr lang="es-EC"/>
          </a:p>
        </p:txBody>
      </p:sp>
      <p:sp>
        <p:nvSpPr>
          <p:cNvPr id="11" name="Text 8"/>
          <p:cNvSpPr/>
          <p:nvPr/>
        </p:nvSpPr>
        <p:spPr>
          <a:xfrm>
            <a:off x="1314450" y="4409033"/>
            <a:ext cx="4800676"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D72631"/>
                </a:solidFill>
                <a:latin typeface="-apple-system" pitchFamily="34" charset="0"/>
                <a:ea typeface="-apple-system" pitchFamily="34" charset="-122"/>
                <a:cs typeface="-apple-system" pitchFamily="34" charset="-120"/>
              </a:rPr>
              <a:t>02</a:t>
            </a:r>
            <a:endParaRPr lang="en-US" sz="4200" dirty="0"/>
          </a:p>
        </p:txBody>
      </p:sp>
      <p:sp>
        <p:nvSpPr>
          <p:cNvPr id="12" name="Text 9"/>
          <p:cNvSpPr/>
          <p:nvPr/>
        </p:nvSpPr>
        <p:spPr>
          <a:xfrm>
            <a:off x="1314450" y="5094833"/>
            <a:ext cx="4800676" cy="3524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250" b="1" kern="0" spc="45" dirty="0">
                <a:solidFill>
                  <a:srgbClr val="1A1A1A"/>
                </a:solidFill>
                <a:latin typeface="-apple-system" pitchFamily="34" charset="0"/>
                <a:ea typeface="-apple-system" pitchFamily="34" charset="-122"/>
                <a:cs typeface="-apple-system" pitchFamily="34" charset="-120"/>
              </a:rPr>
              <a:t>YAPA TOUR</a:t>
            </a:r>
            <a:endParaRPr lang="en-US" sz="2250" dirty="0"/>
          </a:p>
        </p:txBody>
      </p:sp>
      <p:sp>
        <p:nvSpPr>
          <p:cNvPr id="13" name="Text 10"/>
          <p:cNvSpPr/>
          <p:nvPr/>
        </p:nvSpPr>
        <p:spPr>
          <a:xfrm>
            <a:off x="1314450" y="5580608"/>
            <a:ext cx="4800676" cy="1323975"/>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1350" dirty="0">
                <a:solidFill>
                  <a:srgbClr val="3A3A3A"/>
                </a:solidFill>
                <a:latin typeface="-apple-system" pitchFamily="34" charset="0"/>
                <a:ea typeface="-apple-system" pitchFamily="34" charset="-122"/>
                <a:cs typeface="-apple-system" pitchFamily="34" charset="-120"/>
              </a:rPr>
              <a:t>Una vez al mes durante 6 meses, el presidente visita un emprendedor de Ecuayapa como cliente real. Compra. Paga. Conversa sin guion. NO entrega de cheques, NO corte de cinta, NO banderas. La cámara captura naturalidad. Cada visita se publica como "diario de yapa".</a:t>
            </a:r>
            <a:endParaRPr lang="en-US" sz="1350" dirty="0"/>
          </a:p>
        </p:txBody>
      </p:sp>
      <p:sp>
        <p:nvSpPr>
          <p:cNvPr id="14" name="Shape 11"/>
          <p:cNvSpPr/>
          <p:nvPr/>
        </p:nvSpPr>
        <p:spPr>
          <a:xfrm>
            <a:off x="6546800" y="4085183"/>
            <a:ext cx="5194399" cy="3343275"/>
          </a:xfrm>
          <a:prstGeom prst="rect">
            <a:avLst/>
          </a:prstGeom>
          <a:solidFill>
            <a:srgbClr val="F5F4F1"/>
          </a:solidFill>
          <a:ln/>
        </p:spPr>
        <p:txBody>
          <a:bodyPr/>
          <a:lstStyle/>
          <a:p>
            <a:endParaRPr lang="es-EC"/>
          </a:p>
        </p:txBody>
      </p:sp>
      <p:sp>
        <p:nvSpPr>
          <p:cNvPr id="15" name="Shape 12"/>
          <p:cNvSpPr/>
          <p:nvPr/>
        </p:nvSpPr>
        <p:spPr>
          <a:xfrm>
            <a:off x="6546800" y="4085183"/>
            <a:ext cx="5194399" cy="57150"/>
          </a:xfrm>
          <a:prstGeom prst="rect">
            <a:avLst/>
          </a:prstGeom>
          <a:solidFill>
            <a:srgbClr val="D72631"/>
          </a:solidFill>
          <a:ln/>
        </p:spPr>
        <p:txBody>
          <a:bodyPr/>
          <a:lstStyle/>
          <a:p>
            <a:endParaRPr lang="es-EC"/>
          </a:p>
        </p:txBody>
      </p:sp>
      <p:sp>
        <p:nvSpPr>
          <p:cNvPr id="16" name="Text 13"/>
          <p:cNvSpPr/>
          <p:nvPr/>
        </p:nvSpPr>
        <p:spPr>
          <a:xfrm>
            <a:off x="6813500" y="4409033"/>
            <a:ext cx="4800829"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D72631"/>
                </a:solidFill>
                <a:latin typeface="-apple-system" pitchFamily="34" charset="0"/>
                <a:ea typeface="-apple-system" pitchFamily="34" charset="-122"/>
                <a:cs typeface="-apple-system" pitchFamily="34" charset="-120"/>
              </a:rPr>
              <a:t>03</a:t>
            </a:r>
            <a:endParaRPr lang="en-US" sz="4200" dirty="0"/>
          </a:p>
        </p:txBody>
      </p:sp>
      <p:sp>
        <p:nvSpPr>
          <p:cNvPr id="17" name="Text 14"/>
          <p:cNvSpPr/>
          <p:nvPr/>
        </p:nvSpPr>
        <p:spPr>
          <a:xfrm>
            <a:off x="6813500" y="5094833"/>
            <a:ext cx="4800829" cy="3524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250" b="1" kern="0" spc="45" dirty="0">
                <a:solidFill>
                  <a:srgbClr val="1A1A1A"/>
                </a:solidFill>
                <a:latin typeface="-apple-system" pitchFamily="34" charset="0"/>
                <a:ea typeface="-apple-system" pitchFamily="34" charset="-122"/>
                <a:cs typeface="-apple-system" pitchFamily="34" charset="-120"/>
              </a:rPr>
              <a:t>YAPATÓN</a:t>
            </a:r>
            <a:endParaRPr lang="en-US" sz="2250" dirty="0"/>
          </a:p>
        </p:txBody>
      </p:sp>
      <p:sp>
        <p:nvSpPr>
          <p:cNvPr id="18" name="Text 15"/>
          <p:cNvSpPr/>
          <p:nvPr/>
        </p:nvSpPr>
        <p:spPr>
          <a:xfrm>
            <a:off x="6813500" y="5580608"/>
            <a:ext cx="4800829" cy="1581150"/>
          </a:xfrm>
          <a:prstGeom prst="rect">
            <a:avLst/>
          </a:prstGeom>
          <a:noFill/>
          <a:ln/>
        </p:spPr>
        <p:txBody>
          <a:bodyPr wrap="square" lIns="25400" tIns="25400" rIns="25400" bIns="25400" rtlCol="0" anchor="t">
            <a:normAutofit/>
          </a:bodyPr>
          <a:lstStyle/>
          <a:p>
            <a:pPr marL="0" indent="0" algn="l">
              <a:lnSpc>
                <a:spcPct val="150000"/>
              </a:lnSpc>
              <a:buNone/>
            </a:pPr>
            <a:r>
              <a:rPr lang="en-US" sz="1350" dirty="0">
                <a:solidFill>
                  <a:srgbClr val="3A3A3A"/>
                </a:solidFill>
                <a:latin typeface="-apple-system" pitchFamily="34" charset="0"/>
                <a:ea typeface="-apple-system" pitchFamily="34" charset="-122"/>
                <a:cs typeface="-apple-system" pitchFamily="34" charset="-120"/>
              </a:rPr>
              <a:t>Un sábado de octubre: 24 horas de cobertura nacional donde la programación de medios públicos, redes oficiales y aliados privados (McCann puede sumar marcas) se entrega a los emprendedores de Ecuayapa. Ventas en vivo, transmisiones desde locales. Métrica pública: cuánto se vendió ese día.</a:t>
            </a:r>
            <a:endParaRPr lang="en-US" sz="1350" dirty="0"/>
          </a:p>
        </p:txBody>
      </p:sp>
      <p:sp>
        <p:nvSpPr>
          <p:cNvPr id="19" name="Shape 16"/>
          <p:cNvSpPr/>
          <p:nvPr/>
        </p:nvSpPr>
        <p:spPr>
          <a:xfrm>
            <a:off x="12046000" y="4085183"/>
            <a:ext cx="5194250" cy="3343275"/>
          </a:xfrm>
          <a:prstGeom prst="rect">
            <a:avLst/>
          </a:prstGeom>
          <a:solidFill>
            <a:srgbClr val="F5F4F1"/>
          </a:solidFill>
          <a:ln/>
        </p:spPr>
        <p:txBody>
          <a:bodyPr/>
          <a:lstStyle/>
          <a:p>
            <a:endParaRPr lang="es-EC"/>
          </a:p>
        </p:txBody>
      </p:sp>
      <p:sp>
        <p:nvSpPr>
          <p:cNvPr id="20" name="Shape 17"/>
          <p:cNvSpPr/>
          <p:nvPr/>
        </p:nvSpPr>
        <p:spPr>
          <a:xfrm>
            <a:off x="12046000" y="4085183"/>
            <a:ext cx="5194250" cy="57150"/>
          </a:xfrm>
          <a:prstGeom prst="rect">
            <a:avLst/>
          </a:prstGeom>
          <a:solidFill>
            <a:srgbClr val="D72631"/>
          </a:solidFill>
          <a:ln/>
        </p:spPr>
        <p:txBody>
          <a:bodyPr/>
          <a:lstStyle/>
          <a:p>
            <a:endParaRPr lang="es-EC"/>
          </a:p>
        </p:txBody>
      </p:sp>
      <p:sp>
        <p:nvSpPr>
          <p:cNvPr id="21" name="Text 18"/>
          <p:cNvSpPr/>
          <p:nvPr/>
        </p:nvSpPr>
        <p:spPr>
          <a:xfrm>
            <a:off x="12312700" y="4409033"/>
            <a:ext cx="4800676"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D72631"/>
                </a:solidFill>
                <a:latin typeface="-apple-system" pitchFamily="34" charset="0"/>
                <a:ea typeface="-apple-system" pitchFamily="34" charset="-122"/>
                <a:cs typeface="-apple-system" pitchFamily="34" charset="-120"/>
              </a:rPr>
              <a:t>04</a:t>
            </a:r>
            <a:endParaRPr lang="en-US" sz="4200" dirty="0"/>
          </a:p>
        </p:txBody>
      </p:sp>
      <p:sp>
        <p:nvSpPr>
          <p:cNvPr id="22" name="Text 19"/>
          <p:cNvSpPr/>
          <p:nvPr/>
        </p:nvSpPr>
        <p:spPr>
          <a:xfrm>
            <a:off x="12312700" y="5094833"/>
            <a:ext cx="4800676" cy="3524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250" b="1" kern="0" spc="45" dirty="0">
                <a:solidFill>
                  <a:srgbClr val="1A1A1A"/>
                </a:solidFill>
                <a:latin typeface="-apple-system" pitchFamily="34" charset="0"/>
                <a:ea typeface="-apple-system" pitchFamily="34" charset="-122"/>
                <a:cs typeface="-apple-system" pitchFamily="34" charset="-120"/>
              </a:rPr>
              <a:t>CONTADOR VIVO</a:t>
            </a:r>
            <a:endParaRPr lang="en-US" sz="2250" dirty="0"/>
          </a:p>
        </p:txBody>
      </p:sp>
      <p:sp>
        <p:nvSpPr>
          <p:cNvPr id="23" name="Text 20"/>
          <p:cNvSpPr/>
          <p:nvPr/>
        </p:nvSpPr>
        <p:spPr>
          <a:xfrm>
            <a:off x="12312700" y="5580608"/>
            <a:ext cx="4800676" cy="1323975"/>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1350" dirty="0">
                <a:solidFill>
                  <a:srgbClr val="3A3A3A"/>
                </a:solidFill>
                <a:latin typeface="-apple-system" pitchFamily="34" charset="0"/>
                <a:ea typeface="-apple-system" pitchFamily="34" charset="-122"/>
                <a:cs typeface="-apple-system" pitchFamily="34" charset="-120"/>
              </a:rPr>
              <a:t>Página web simple embebida en sitio de la Presidencia y en pantallas de espacios públicos: contador en tiempo real de emprendedores activos, ventas del día, productos disponibles, mapa de calor por provincia. Transparencia operativa — los datos hablan, no el comunicado.</a:t>
            </a:r>
            <a:endParaRPr lang="en-US" sz="1350" dirty="0"/>
          </a:p>
        </p:txBody>
      </p:sp>
      <p:sp>
        <p:nvSpPr>
          <p:cNvPr id="24" name="Text 21"/>
          <p:cNvSpPr/>
          <p:nvPr/>
        </p:nvSpPr>
        <p:spPr>
          <a:xfrm>
            <a:off x="1047750" y="7885658"/>
            <a:ext cx="14716125"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i="1" dirty="0">
                <a:solidFill>
                  <a:srgbClr val="3A3A3A"/>
                </a:solidFill>
                <a:latin typeface="Georgia" pitchFamily="34" charset="0"/>
                <a:ea typeface="Georgia" pitchFamily="34" charset="-122"/>
                <a:cs typeface="Georgia" pitchFamily="34" charset="-120"/>
              </a:rPr>
              <a:t>Yapa Tour rompe el formato político tradicional. </a:t>
            </a:r>
            <a:r>
              <a:rPr lang="en-US" sz="1950" b="1" dirty="0">
                <a:solidFill>
                  <a:srgbClr val="1A1A1A"/>
                </a:solidFill>
                <a:latin typeface="Georgia" pitchFamily="34" charset="0"/>
                <a:ea typeface="Georgia" pitchFamily="34" charset="-122"/>
                <a:cs typeface="Georgia" pitchFamily="34" charset="-120"/>
              </a:rPr>
              <a:t>El presidente como cliente, no como político.</a:t>
            </a:r>
            <a:endParaRPr lang="en-US" sz="1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7857976"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1820525" y="666750"/>
            <a:ext cx="5582317"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17 · MISIÓN 03 — BARRIOS MIDUVI · CONTEXTO</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53396" y="9547920"/>
            <a:ext cx="863054"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26 / 32</a:t>
            </a:r>
            <a:endParaRPr lang="en-US" sz="1200" dirty="0"/>
          </a:p>
        </p:txBody>
      </p:sp>
      <p:sp>
        <p:nvSpPr>
          <p:cNvPr id="7" name="Shape 4"/>
          <p:cNvSpPr/>
          <p:nvPr/>
        </p:nvSpPr>
        <p:spPr>
          <a:xfrm>
            <a:off x="1047750" y="1714500"/>
            <a:ext cx="16192500" cy="383828"/>
          </a:xfrm>
          <a:prstGeom prst="rect">
            <a:avLst/>
          </a:prstGeom>
          <a:solidFill>
            <a:srgbClr val="0B3D7E"/>
          </a:solidFill>
          <a:ln/>
        </p:spPr>
        <p:txBody>
          <a:bodyPr/>
          <a:lstStyle/>
          <a:p>
            <a:endParaRPr lang="es-EC"/>
          </a:p>
        </p:txBody>
      </p:sp>
      <p:sp>
        <p:nvSpPr>
          <p:cNvPr id="8" name="Text 5"/>
          <p:cNvSpPr/>
          <p:nvPr/>
        </p:nvSpPr>
        <p:spPr>
          <a:xfrm>
            <a:off x="1257300" y="1790700"/>
            <a:ext cx="16259175" cy="26952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b="1" kern="0" spc="432" dirty="0">
                <a:solidFill>
                  <a:srgbClr val="FFFFFF"/>
                </a:solidFill>
                <a:latin typeface="-apple-system" pitchFamily="34" charset="0"/>
                <a:ea typeface="-apple-system" pitchFamily="34" charset="-122"/>
                <a:cs typeface="-apple-system" pitchFamily="34" charset="-120"/>
              </a:rPr>
              <a:t>MISIÓN 03</a:t>
            </a:r>
            <a:endParaRPr lang="en-US" sz="1350" dirty="0"/>
          </a:p>
        </p:txBody>
      </p:sp>
      <p:sp>
        <p:nvSpPr>
          <p:cNvPr id="9" name="Text 6"/>
          <p:cNvSpPr/>
          <p:nvPr/>
        </p:nvSpPr>
        <p:spPr>
          <a:xfrm>
            <a:off x="1047750" y="2365028"/>
            <a:ext cx="16678275" cy="3024188"/>
          </a:xfrm>
          <a:prstGeom prst="rect">
            <a:avLst/>
          </a:prstGeom>
          <a:noFill/>
          <a:ln/>
        </p:spPr>
        <p:txBody>
          <a:bodyPr wrap="square" lIns="25400" tIns="25400" rIns="25400" bIns="25400" rtlCol="0" anchor="t">
            <a:normAutofit/>
          </a:bodyPr>
          <a:lstStyle/>
          <a:p>
            <a:pPr marL="0" indent="0" algn="l">
              <a:lnSpc>
                <a:spcPct val="95000"/>
              </a:lnSpc>
              <a:buNone/>
            </a:pPr>
            <a:r>
              <a:rPr lang="en-US" sz="8250" b="1" kern="0" spc="-247" dirty="0">
                <a:solidFill>
                  <a:srgbClr val="1A1A1A"/>
                </a:solidFill>
                <a:latin typeface="-apple-system" pitchFamily="34" charset="0"/>
                <a:ea typeface="-apple-system" pitchFamily="34" charset="-122"/>
                <a:cs typeface="-apple-system" pitchFamily="34" charset="-120"/>
              </a:rPr>
              <a:t>BARRIOS MIDUVI </a:t>
            </a:r>
            <a:r>
              <a:rPr lang="en-US" sz="8250" b="1" kern="0" spc="-247" dirty="0">
                <a:solidFill>
                  <a:srgbClr val="D72631"/>
                </a:solidFill>
                <a:latin typeface="-apple-system" pitchFamily="34" charset="0"/>
                <a:ea typeface="-apple-system" pitchFamily="34" charset="-122"/>
                <a:cs typeface="-apple-system" pitchFamily="34" charset="-120"/>
              </a:rPr>
              <a:t>Transformación física, </a:t>
            </a:r>
            <a:r>
              <a:rPr lang="en-US" sz="8250" b="1" kern="0" spc="-247" dirty="0">
                <a:solidFill>
                  <a:srgbClr val="1A1A1A"/>
                </a:solidFill>
                <a:latin typeface="-apple-system" pitchFamily="34" charset="0"/>
                <a:ea typeface="-apple-system" pitchFamily="34" charset="-122"/>
                <a:cs typeface="-apple-system" pitchFamily="34" charset="-120"/>
              </a:rPr>
              <a:t>narrativa silenciosa.</a:t>
            </a:r>
            <a:endParaRPr lang="en-US" sz="8250" dirty="0"/>
          </a:p>
        </p:txBody>
      </p:sp>
      <p:sp>
        <p:nvSpPr>
          <p:cNvPr id="10" name="Shape 7"/>
          <p:cNvSpPr/>
          <p:nvPr/>
        </p:nvSpPr>
        <p:spPr>
          <a:xfrm>
            <a:off x="1047750" y="8319492"/>
            <a:ext cx="16192500" cy="9525"/>
          </a:xfrm>
          <a:prstGeom prst="rect">
            <a:avLst/>
          </a:prstGeom>
          <a:solidFill>
            <a:srgbClr val="C9C6BD"/>
          </a:solidFill>
          <a:ln/>
        </p:spPr>
        <p:txBody>
          <a:bodyPr/>
          <a:lstStyle/>
          <a:p>
            <a:endParaRPr lang="es-EC"/>
          </a:p>
        </p:txBody>
      </p:sp>
      <p:sp>
        <p:nvSpPr>
          <p:cNvPr id="11" name="Shape 8"/>
          <p:cNvSpPr/>
          <p:nvPr/>
        </p:nvSpPr>
        <p:spPr>
          <a:xfrm>
            <a:off x="1047750" y="5922615"/>
            <a:ext cx="16192500" cy="9525"/>
          </a:xfrm>
          <a:prstGeom prst="rect">
            <a:avLst/>
          </a:prstGeom>
          <a:solidFill>
            <a:srgbClr val="1A1A1A"/>
          </a:solidFill>
          <a:ln/>
        </p:spPr>
        <p:txBody>
          <a:bodyPr/>
          <a:lstStyle/>
          <a:p>
            <a:endParaRPr lang="es-EC"/>
          </a:p>
        </p:txBody>
      </p:sp>
      <p:sp>
        <p:nvSpPr>
          <p:cNvPr id="12" name="Text 9"/>
          <p:cNvSpPr/>
          <p:nvPr/>
        </p:nvSpPr>
        <p:spPr>
          <a:xfrm>
            <a:off x="1352550" y="6198840"/>
            <a:ext cx="4924997" cy="952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200" b="1" kern="0" spc="-288" dirty="0">
                <a:solidFill>
                  <a:srgbClr val="0B3D7E"/>
                </a:solidFill>
                <a:latin typeface="-apple-system" pitchFamily="34" charset="0"/>
                <a:ea typeface="-apple-system" pitchFamily="34" charset="-122"/>
                <a:cs typeface="-apple-system" pitchFamily="34" charset="-120"/>
              </a:rPr>
              <a:t>$100M</a:t>
            </a:r>
            <a:endParaRPr lang="en-US" sz="7200" dirty="0"/>
          </a:p>
        </p:txBody>
      </p:sp>
      <p:sp>
        <p:nvSpPr>
          <p:cNvPr id="13" name="Text 10"/>
          <p:cNvSpPr/>
          <p:nvPr/>
        </p:nvSpPr>
        <p:spPr>
          <a:xfrm>
            <a:off x="1352550" y="7265640"/>
            <a:ext cx="3139440" cy="56286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425" dirty="0">
                <a:solidFill>
                  <a:srgbClr val="3A3A3A"/>
                </a:solidFill>
                <a:latin typeface="-apple-system" pitchFamily="34" charset="0"/>
                <a:ea typeface="-apple-system" pitchFamily="34" charset="-122"/>
                <a:cs typeface="-apple-system" pitchFamily="34" charset="-120"/>
              </a:rPr>
              <a:t>Préstamo Banco Mundial para mejoramiento integral de barrios.</a:t>
            </a:r>
            <a:endParaRPr lang="en-US" sz="1425" dirty="0"/>
          </a:p>
        </p:txBody>
      </p:sp>
      <p:sp>
        <p:nvSpPr>
          <p:cNvPr id="14" name="Shape 11"/>
          <p:cNvSpPr/>
          <p:nvPr/>
        </p:nvSpPr>
        <p:spPr>
          <a:xfrm>
            <a:off x="6438900" y="5932140"/>
            <a:ext cx="9525" cy="2387352"/>
          </a:xfrm>
          <a:prstGeom prst="rect">
            <a:avLst/>
          </a:prstGeom>
          <a:solidFill>
            <a:srgbClr val="C9C6BD"/>
          </a:solidFill>
          <a:ln/>
        </p:spPr>
        <p:txBody>
          <a:bodyPr/>
          <a:lstStyle/>
          <a:p>
            <a:endParaRPr lang="es-EC"/>
          </a:p>
        </p:txBody>
      </p:sp>
      <p:sp>
        <p:nvSpPr>
          <p:cNvPr id="15" name="Text 12"/>
          <p:cNvSpPr/>
          <p:nvPr/>
        </p:nvSpPr>
        <p:spPr>
          <a:xfrm>
            <a:off x="6753225" y="6198840"/>
            <a:ext cx="4924997" cy="952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200" b="1" kern="0" spc="-288" dirty="0">
                <a:solidFill>
                  <a:srgbClr val="0B3D7E"/>
                </a:solidFill>
                <a:latin typeface="-apple-system" pitchFamily="34" charset="0"/>
                <a:ea typeface="-apple-system" pitchFamily="34" charset="-122"/>
                <a:cs typeface="-apple-system" pitchFamily="34" charset="-120"/>
              </a:rPr>
              <a:t>17–18</a:t>
            </a:r>
            <a:endParaRPr lang="en-US" sz="7200" dirty="0"/>
          </a:p>
        </p:txBody>
      </p:sp>
      <p:sp>
        <p:nvSpPr>
          <p:cNvPr id="16" name="Text 13"/>
          <p:cNvSpPr/>
          <p:nvPr/>
        </p:nvSpPr>
        <p:spPr>
          <a:xfrm>
            <a:off x="6753225" y="7265640"/>
            <a:ext cx="3139440" cy="825252"/>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425" dirty="0">
                <a:solidFill>
                  <a:srgbClr val="3A3A3A"/>
                </a:solidFill>
                <a:latin typeface="-apple-system" pitchFamily="34" charset="0"/>
                <a:ea typeface="-apple-system" pitchFamily="34" charset="-122"/>
                <a:cs typeface="-apple-system" pitchFamily="34" charset="-120"/>
              </a:rPr>
              <a:t>Barrios adicionales en proceso de selección. Manta, Portoviejo y Muisne ya elegidos.</a:t>
            </a:r>
            <a:endParaRPr lang="en-US" sz="1425" dirty="0"/>
          </a:p>
        </p:txBody>
      </p:sp>
      <p:sp>
        <p:nvSpPr>
          <p:cNvPr id="17" name="Shape 14"/>
          <p:cNvSpPr/>
          <p:nvPr/>
        </p:nvSpPr>
        <p:spPr>
          <a:xfrm>
            <a:off x="11839575" y="5932140"/>
            <a:ext cx="9525" cy="2387352"/>
          </a:xfrm>
          <a:prstGeom prst="rect">
            <a:avLst/>
          </a:prstGeom>
          <a:solidFill>
            <a:srgbClr val="C9C6BD"/>
          </a:solidFill>
          <a:ln/>
        </p:spPr>
        <p:txBody>
          <a:bodyPr/>
          <a:lstStyle/>
          <a:p>
            <a:endParaRPr lang="es-EC"/>
          </a:p>
        </p:txBody>
      </p:sp>
      <p:sp>
        <p:nvSpPr>
          <p:cNvPr id="18" name="Text 15"/>
          <p:cNvSpPr/>
          <p:nvPr/>
        </p:nvSpPr>
        <p:spPr>
          <a:xfrm>
            <a:off x="12153900" y="6198840"/>
            <a:ext cx="4924997" cy="952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200" b="1" kern="0" spc="-288" dirty="0">
                <a:solidFill>
                  <a:srgbClr val="0B3D7E"/>
                </a:solidFill>
                <a:latin typeface="-apple-system" pitchFamily="34" charset="0"/>
                <a:ea typeface="-apple-system" pitchFamily="34" charset="-122"/>
                <a:cs typeface="-apple-system" pitchFamily="34" charset="-120"/>
              </a:rPr>
              <a:t>107</a:t>
            </a:r>
            <a:endParaRPr lang="en-US" sz="7200" dirty="0"/>
          </a:p>
        </p:txBody>
      </p:sp>
      <p:sp>
        <p:nvSpPr>
          <p:cNvPr id="19" name="Text 16"/>
          <p:cNvSpPr/>
          <p:nvPr/>
        </p:nvSpPr>
        <p:spPr>
          <a:xfrm>
            <a:off x="12153900" y="7265640"/>
            <a:ext cx="3139440" cy="56286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425" dirty="0">
                <a:solidFill>
                  <a:srgbClr val="3A3A3A"/>
                </a:solidFill>
                <a:latin typeface="-apple-system" pitchFamily="34" charset="0"/>
                <a:ea typeface="-apple-system" pitchFamily="34" charset="-122"/>
                <a:cs typeface="-apple-system" pitchFamily="34" charset="-120"/>
              </a:rPr>
              <a:t>Menciones en redes. La obra está. La narrativa, no.</a:t>
            </a:r>
            <a:endParaRPr lang="en-US" sz="1425" dirty="0"/>
          </a:p>
        </p:txBody>
      </p:sp>
      <p:sp>
        <p:nvSpPr>
          <p:cNvPr id="20" name="Text 17"/>
          <p:cNvSpPr/>
          <p:nvPr/>
        </p:nvSpPr>
        <p:spPr>
          <a:xfrm>
            <a:off x="1047750" y="8805267"/>
            <a:ext cx="7848600"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189" dirty="0">
                <a:solidFill>
                  <a:srgbClr val="D72631"/>
                </a:solidFill>
                <a:latin typeface="-apple-system" pitchFamily="34" charset="0"/>
                <a:ea typeface="-apple-system" pitchFamily="34" charset="-122"/>
                <a:cs typeface="-apple-system" pitchFamily="34" charset="-120"/>
              </a:rPr>
              <a:t>INSIGHT DEL RADAR</a:t>
            </a:r>
            <a:endParaRPr lang="en-US" sz="1050" dirty="0"/>
          </a:p>
        </p:txBody>
      </p:sp>
      <p:sp>
        <p:nvSpPr>
          <p:cNvPr id="21" name="Shape 18"/>
          <p:cNvSpPr/>
          <p:nvPr/>
        </p:nvSpPr>
        <p:spPr>
          <a:xfrm>
            <a:off x="1047750" y="9099500"/>
            <a:ext cx="38100" cy="1000720"/>
          </a:xfrm>
          <a:prstGeom prst="rect">
            <a:avLst/>
          </a:prstGeom>
          <a:solidFill>
            <a:srgbClr val="D72631"/>
          </a:solidFill>
          <a:ln/>
        </p:spPr>
        <p:txBody>
          <a:bodyPr/>
          <a:lstStyle/>
          <a:p>
            <a:endParaRPr lang="es-EC"/>
          </a:p>
        </p:txBody>
      </p:sp>
      <p:sp>
        <p:nvSpPr>
          <p:cNvPr id="22" name="Text 19"/>
          <p:cNvSpPr/>
          <p:nvPr/>
        </p:nvSpPr>
        <p:spPr>
          <a:xfrm>
            <a:off x="1428750" y="9175700"/>
            <a:ext cx="7467600" cy="88642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i="1" dirty="0">
                <a:solidFill>
                  <a:srgbClr val="3A3A3A"/>
                </a:solidFill>
                <a:latin typeface="Georgia" pitchFamily="34" charset="0"/>
                <a:ea typeface="Georgia" pitchFamily="34" charset="-122"/>
                <a:cs typeface="Georgia" pitchFamily="34" charset="-120"/>
              </a:rPr>
              <a:t>En el árbol, T4-Resiliencia → trend → orgullo y T10-Padres → trend → esperanza se cruzan en una sola conversación: </a:t>
            </a:r>
            <a:r>
              <a:rPr lang="en-US" sz="1650" b="1" dirty="0">
                <a:solidFill>
                  <a:srgbClr val="1A1A1A"/>
                </a:solidFill>
                <a:latin typeface="Georgia" pitchFamily="34" charset="0"/>
                <a:ea typeface="Georgia" pitchFamily="34" charset="-122"/>
                <a:cs typeface="Georgia" pitchFamily="34" charset="-120"/>
              </a:rPr>
              <a:t>"mi barrio merece más" </a:t>
            </a:r>
            <a:r>
              <a:rPr lang="en-US" sz="1650" i="1" dirty="0">
                <a:solidFill>
                  <a:srgbClr val="3A3A3A"/>
                </a:solidFill>
                <a:latin typeface="Georgia" pitchFamily="34" charset="0"/>
                <a:ea typeface="Georgia" pitchFamily="34" charset="-122"/>
                <a:cs typeface="Georgia" pitchFamily="34" charset="-120"/>
              </a:rPr>
              <a:t>. El programa Miduvi responde literalmente a esto.</a:t>
            </a:r>
            <a:endParaRPr lang="en-US" sz="1650" dirty="0"/>
          </a:p>
        </p:txBody>
      </p:sp>
      <p:sp>
        <p:nvSpPr>
          <p:cNvPr id="23" name="Shape 20"/>
          <p:cNvSpPr/>
          <p:nvPr/>
        </p:nvSpPr>
        <p:spPr>
          <a:xfrm>
            <a:off x="9277350" y="8805267"/>
            <a:ext cx="38100" cy="1343769"/>
          </a:xfrm>
          <a:prstGeom prst="rect">
            <a:avLst/>
          </a:prstGeom>
          <a:solidFill>
            <a:srgbClr val="D72631"/>
          </a:solidFill>
          <a:ln/>
        </p:spPr>
        <p:txBody>
          <a:bodyPr/>
          <a:lstStyle/>
          <a:p>
            <a:endParaRPr lang="es-EC"/>
          </a:p>
        </p:txBody>
      </p:sp>
      <p:sp>
        <p:nvSpPr>
          <p:cNvPr id="24" name="Text 21"/>
          <p:cNvSpPr/>
          <p:nvPr/>
        </p:nvSpPr>
        <p:spPr>
          <a:xfrm>
            <a:off x="9620250" y="8995767"/>
            <a:ext cx="7848600"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189" dirty="0">
                <a:solidFill>
                  <a:srgbClr val="D72631"/>
                </a:solidFill>
                <a:latin typeface="-apple-system" pitchFamily="34" charset="0"/>
                <a:ea typeface="-apple-system" pitchFamily="34" charset="-122"/>
                <a:cs typeface="-apple-system" pitchFamily="34" charset="-120"/>
              </a:rPr>
              <a:t>LA PREGUNTA · R.O.O.M.</a:t>
            </a:r>
            <a:endParaRPr lang="en-US" sz="1050" dirty="0"/>
          </a:p>
        </p:txBody>
      </p:sp>
      <p:sp>
        <p:nvSpPr>
          <p:cNvPr id="25" name="Text 22"/>
          <p:cNvSpPr/>
          <p:nvPr/>
        </p:nvSpPr>
        <p:spPr>
          <a:xfrm>
            <a:off x="9620250" y="9290000"/>
            <a:ext cx="7848600" cy="706636"/>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950" i="1" dirty="0">
                <a:solidFill>
                  <a:srgbClr val="1A1A1A"/>
                </a:solidFill>
                <a:latin typeface="Georgia" pitchFamily="34" charset="0"/>
                <a:ea typeface="Georgia" pitchFamily="34" charset="-122"/>
                <a:cs typeface="Georgia" pitchFamily="34" charset="-120"/>
              </a:rPr>
              <a:t>¿Cómo podríamos hacer que la transformación de un barrio se sienta como una victoria del país, </a:t>
            </a:r>
            <a:r>
              <a:rPr lang="en-US" sz="1950" i="1" dirty="0">
                <a:solidFill>
                  <a:srgbClr val="D72631"/>
                </a:solidFill>
                <a:latin typeface="Georgia" pitchFamily="34" charset="0"/>
                <a:ea typeface="Georgia" pitchFamily="34" charset="-122"/>
                <a:cs typeface="Georgia" pitchFamily="34" charset="-120"/>
              </a:rPr>
              <a:t>no como una obra de gobierno?</a:t>
            </a:r>
            <a:endParaRPr lang="en-US" sz="1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10071199"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4033748" y="666750"/>
            <a:ext cx="3302697"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18 · MISIÓN 03 · IDEA HERO</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63665" y="9547920"/>
            <a:ext cx="852785"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27 / 32</a:t>
            </a:r>
            <a:endParaRPr lang="en-US" sz="1200" dirty="0"/>
          </a:p>
        </p:txBody>
      </p:sp>
      <p:sp>
        <p:nvSpPr>
          <p:cNvPr id="7" name="Text 4"/>
          <p:cNvSpPr/>
          <p:nvPr/>
        </p:nvSpPr>
        <p:spPr>
          <a:xfrm>
            <a:off x="1047750" y="1714500"/>
            <a:ext cx="16678275"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189" dirty="0">
                <a:solidFill>
                  <a:srgbClr val="D72631"/>
                </a:solidFill>
                <a:latin typeface="-apple-system" pitchFamily="34" charset="0"/>
                <a:ea typeface="-apple-system" pitchFamily="34" charset="-122"/>
                <a:cs typeface="-apple-system" pitchFamily="34" charset="-120"/>
              </a:rPr>
              <a:t>MISIÓN 03 · IDEA QUE ABRE LA MISIÓN</a:t>
            </a:r>
            <a:endParaRPr lang="en-US" sz="1050" dirty="0"/>
          </a:p>
        </p:txBody>
      </p:sp>
      <p:sp>
        <p:nvSpPr>
          <p:cNvPr id="8" name="Text 5"/>
          <p:cNvSpPr/>
          <p:nvPr/>
        </p:nvSpPr>
        <p:spPr>
          <a:xfrm>
            <a:off x="1047750" y="2027783"/>
            <a:ext cx="16678275" cy="2266950"/>
          </a:xfrm>
          <a:prstGeom prst="rect">
            <a:avLst/>
          </a:prstGeom>
          <a:noFill/>
          <a:ln/>
        </p:spPr>
        <p:txBody>
          <a:bodyPr wrap="square" lIns="25400" tIns="25400" rIns="25400" bIns="25400" rtlCol="0" anchor="t">
            <a:normAutofit/>
          </a:bodyPr>
          <a:lstStyle/>
          <a:p>
            <a:pPr marL="0" indent="0" algn="l">
              <a:lnSpc>
                <a:spcPct val="90000"/>
              </a:lnSpc>
              <a:buNone/>
            </a:pPr>
            <a:r>
              <a:rPr lang="en-US" sz="9750" b="1" kern="0" spc="-390" dirty="0">
                <a:solidFill>
                  <a:srgbClr val="1A1A1A"/>
                </a:solidFill>
                <a:latin typeface="-apple-system" pitchFamily="34" charset="0"/>
                <a:ea typeface="-apple-system" pitchFamily="34" charset="-122"/>
                <a:cs typeface="-apple-system" pitchFamily="34" charset="-120"/>
              </a:rPr>
              <a:t>EL BARRIO QUE </a:t>
            </a:r>
            <a:r>
              <a:rPr lang="en-US" sz="9750" b="1" kern="0" spc="-390" dirty="0">
                <a:solidFill>
                  <a:srgbClr val="D72631"/>
                </a:solidFill>
                <a:latin typeface="-apple-system" pitchFamily="34" charset="0"/>
                <a:ea typeface="-apple-system" pitchFamily="34" charset="-122"/>
                <a:cs typeface="-apple-system" pitchFamily="34" charset="-120"/>
              </a:rPr>
              <a:t>SE PINTÓ SOLO</a:t>
            </a:r>
            <a:endParaRPr lang="en-US" sz="9750" dirty="0"/>
          </a:p>
        </p:txBody>
      </p:sp>
      <p:sp>
        <p:nvSpPr>
          <p:cNvPr id="9" name="Text 6"/>
          <p:cNvSpPr/>
          <p:nvPr/>
        </p:nvSpPr>
        <p:spPr>
          <a:xfrm>
            <a:off x="1047750" y="4485233"/>
            <a:ext cx="1667827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i="1" dirty="0">
                <a:solidFill>
                  <a:srgbClr val="3A3A3A"/>
                </a:solidFill>
                <a:latin typeface="Georgia" pitchFamily="34" charset="0"/>
                <a:ea typeface="Georgia" pitchFamily="34" charset="-122"/>
                <a:cs typeface="Georgia" pitchFamily="34" charset="-120"/>
              </a:rPr>
              <a:t>Un documental ciudadano, antes de que llegue el presidente.</a:t>
            </a:r>
            <a:endParaRPr lang="en-US" sz="2250" dirty="0"/>
          </a:p>
        </p:txBody>
      </p:sp>
      <p:sp>
        <p:nvSpPr>
          <p:cNvPr id="10" name="Shape 7"/>
          <p:cNvSpPr/>
          <p:nvPr/>
        </p:nvSpPr>
        <p:spPr>
          <a:xfrm>
            <a:off x="1047750" y="5328196"/>
            <a:ext cx="7275612" cy="4101554"/>
          </a:xfrm>
          <a:prstGeom prst="rect">
            <a:avLst/>
          </a:prstGeom>
          <a:solidFill>
            <a:srgbClr val="F5F4F1"/>
          </a:solidFill>
          <a:ln w="9525">
            <a:solidFill>
              <a:srgbClr val="C9C6BD"/>
            </a:solidFill>
            <a:prstDash val="solid"/>
          </a:ln>
        </p:spPr>
        <p:txBody>
          <a:bodyPr/>
          <a:lstStyle/>
          <a:p>
            <a:endParaRPr lang="es-EC"/>
          </a:p>
        </p:txBody>
      </p:sp>
      <p:sp>
        <p:nvSpPr>
          <p:cNvPr id="11" name="Text 8"/>
          <p:cNvSpPr/>
          <p:nvPr/>
        </p:nvSpPr>
        <p:spPr>
          <a:xfrm>
            <a:off x="1362075" y="5604421"/>
            <a:ext cx="6846371"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336" dirty="0">
                <a:solidFill>
                  <a:srgbClr val="6B6B6B"/>
                </a:solidFill>
                <a:latin typeface="-apple-system" pitchFamily="34" charset="0"/>
                <a:ea typeface="-apple-system" pitchFamily="34" charset="-122"/>
                <a:cs typeface="-apple-system" pitchFamily="34" charset="-120"/>
              </a:rPr>
              <a:t>IMAGEN · DOCUMENTAL</a:t>
            </a:r>
            <a:endParaRPr lang="en-US" sz="1050" dirty="0"/>
          </a:p>
        </p:txBody>
      </p:sp>
      <p:sp>
        <p:nvSpPr>
          <p:cNvPr id="12" name="Text 9"/>
          <p:cNvSpPr/>
          <p:nvPr/>
        </p:nvSpPr>
        <p:spPr>
          <a:xfrm>
            <a:off x="1362075" y="8305205"/>
            <a:ext cx="5477004" cy="88642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i="1" dirty="0">
                <a:solidFill>
                  <a:srgbClr val="3A3A3A"/>
                </a:solidFill>
                <a:latin typeface="Georgia" pitchFamily="34" charset="0"/>
                <a:ea typeface="Georgia" pitchFamily="34" charset="-122"/>
                <a:cs typeface="Georgia" pitchFamily="34" charset="-120"/>
              </a:rPr>
              <a:t>Familia en barrio en obra. Mujer mayor con cámara grabando vecinos. Casa pintada a medias, niños jugando. Cine ecuatoriano contemporáneo.</a:t>
            </a:r>
            <a:endParaRPr lang="en-US" sz="1650" dirty="0"/>
          </a:p>
        </p:txBody>
      </p:sp>
      <p:sp>
        <p:nvSpPr>
          <p:cNvPr id="13" name="Text 10"/>
          <p:cNvSpPr/>
          <p:nvPr/>
        </p:nvSpPr>
        <p:spPr>
          <a:xfrm>
            <a:off x="8780562" y="5328196"/>
            <a:ext cx="8713479"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189" dirty="0">
                <a:solidFill>
                  <a:srgbClr val="6B6B6B"/>
                </a:solidFill>
                <a:latin typeface="-apple-system" pitchFamily="34" charset="0"/>
                <a:ea typeface="-apple-system" pitchFamily="34" charset="-122"/>
                <a:cs typeface="-apple-system" pitchFamily="34" charset="-120"/>
              </a:rPr>
              <a:t>LA EJECUCIÓN</a:t>
            </a:r>
            <a:endParaRPr lang="en-US" sz="1050" dirty="0"/>
          </a:p>
        </p:txBody>
      </p:sp>
      <p:sp>
        <p:nvSpPr>
          <p:cNvPr id="14" name="Text 11"/>
          <p:cNvSpPr/>
          <p:nvPr/>
        </p:nvSpPr>
        <p:spPr>
          <a:xfrm>
            <a:off x="8780562" y="5622429"/>
            <a:ext cx="8713479" cy="1938337"/>
          </a:xfrm>
          <a:prstGeom prst="rect">
            <a:avLst/>
          </a:prstGeom>
          <a:noFill/>
          <a:ln/>
        </p:spPr>
        <p:txBody>
          <a:bodyPr wrap="square" lIns="25400" tIns="25400" rIns="25400" bIns="25400" rtlCol="0" anchor="t">
            <a:normAutofit/>
          </a:bodyPr>
          <a:lstStyle/>
          <a:p>
            <a:pPr marL="0" indent="0" algn="l">
              <a:lnSpc>
                <a:spcPct val="150000"/>
              </a:lnSpc>
              <a:buNone/>
            </a:pPr>
            <a:r>
              <a:rPr lang="en-US" sz="1425" dirty="0">
                <a:solidFill>
                  <a:srgbClr val="3A3A3A"/>
                </a:solidFill>
                <a:latin typeface="-apple-system" pitchFamily="34" charset="0"/>
                <a:ea typeface="-apple-system" pitchFamily="34" charset="-122"/>
                <a:cs typeface="-apple-system" pitchFamily="34" charset="-120"/>
              </a:rPr>
              <a:t>Una familia de un barrio Miduvi (Manta, idealmente) recibe una cámara durante </a:t>
            </a:r>
            <a:r>
              <a:rPr lang="en-US" sz="1425" b="1" dirty="0">
                <a:solidFill>
                  <a:srgbClr val="1A1A1A"/>
                </a:solidFill>
                <a:latin typeface="-apple-system" pitchFamily="34" charset="0"/>
                <a:ea typeface="-apple-system" pitchFamily="34" charset="-122"/>
                <a:cs typeface="-apple-system" pitchFamily="34" charset="-120"/>
              </a:rPr>
              <a:t>30 días </a:t>
            </a:r>
            <a:r>
              <a:rPr lang="en-US" sz="1425" dirty="0">
                <a:solidFill>
                  <a:srgbClr val="3A3A3A"/>
                </a:solidFill>
                <a:latin typeface="-apple-system" pitchFamily="34" charset="0"/>
                <a:ea typeface="-apple-system" pitchFamily="34" charset="-122"/>
                <a:cs typeface="-apple-system" pitchFamily="34" charset="-120"/>
              </a:rPr>
              <a:t>para grabar su barrio cambiando. Sin guion oficial, sin productor político. Editamos al final con narración de la propia familia. Se estrena en YouTube y TikTok el día del primer aniversario de Noboa </a:t>
            </a:r>
            <a:r>
              <a:rPr lang="en-US" sz="1425" b="1" dirty="0">
                <a:solidFill>
                  <a:srgbClr val="1A1A1A"/>
                </a:solidFill>
                <a:latin typeface="-apple-system" pitchFamily="34" charset="0"/>
                <a:ea typeface="-apple-system" pitchFamily="34" charset="-122"/>
                <a:cs typeface="-apple-system" pitchFamily="34" charset="-120"/>
              </a:rPr>
              <a:t>(24 mayo)</a:t>
            </a:r>
            <a:r>
              <a:rPr lang="en-US" sz="1425" dirty="0">
                <a:solidFill>
                  <a:srgbClr val="3A3A3A"/>
                </a:solidFill>
                <a:latin typeface="-apple-system" pitchFamily="34" charset="0"/>
                <a:ea typeface="-apple-system" pitchFamily="34" charset="-122"/>
                <a:cs typeface="-apple-system" pitchFamily="34" charset="-120"/>
              </a:rPr>
              <a:t>. El presidente lo comparte y luego visita ese barrio. </a:t>
            </a:r>
            <a:r>
              <a:rPr lang="en-US" sz="1425" i="1" dirty="0">
                <a:solidFill>
                  <a:srgbClr val="D72631"/>
                </a:solidFill>
                <a:latin typeface="-apple-system" pitchFamily="34" charset="0"/>
                <a:ea typeface="-apple-system" pitchFamily="34" charset="-122"/>
                <a:cs typeface="-apple-system" pitchFamily="34" charset="-120"/>
              </a:rPr>
              <a:t>El documental existe ANTES que la visita. </a:t>
            </a:r>
            <a:r>
              <a:rPr lang="en-US" sz="1425" dirty="0">
                <a:solidFill>
                  <a:srgbClr val="3A3A3A"/>
                </a:solidFill>
                <a:latin typeface="-apple-system" pitchFamily="34" charset="0"/>
                <a:ea typeface="-apple-system" pitchFamily="34" charset="-122"/>
                <a:cs typeface="-apple-system" pitchFamily="34" charset="-120"/>
              </a:rPr>
              <a:t>La narrativa no la construye el gobierno — la captura.</a:t>
            </a:r>
            <a:endParaRPr lang="en-US" sz="1425" dirty="0"/>
          </a:p>
        </p:txBody>
      </p:sp>
      <p:sp>
        <p:nvSpPr>
          <p:cNvPr id="15" name="Shape 12"/>
          <p:cNvSpPr/>
          <p:nvPr/>
        </p:nvSpPr>
        <p:spPr>
          <a:xfrm>
            <a:off x="8780562" y="7751266"/>
            <a:ext cx="8459688" cy="9525"/>
          </a:xfrm>
          <a:prstGeom prst="rect">
            <a:avLst/>
          </a:prstGeom>
          <a:solidFill>
            <a:srgbClr val="C9C6BD"/>
          </a:solidFill>
          <a:ln/>
        </p:spPr>
        <p:txBody>
          <a:bodyPr/>
          <a:lstStyle/>
          <a:p>
            <a:endParaRPr lang="es-EC"/>
          </a:p>
        </p:txBody>
      </p:sp>
      <p:sp>
        <p:nvSpPr>
          <p:cNvPr id="16" name="Text 13"/>
          <p:cNvSpPr/>
          <p:nvPr/>
        </p:nvSpPr>
        <p:spPr>
          <a:xfrm>
            <a:off x="8780562" y="7989391"/>
            <a:ext cx="8713479"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189" dirty="0">
                <a:solidFill>
                  <a:srgbClr val="D72631"/>
                </a:solidFill>
                <a:latin typeface="-apple-system" pitchFamily="34" charset="0"/>
                <a:ea typeface="-apple-system" pitchFamily="34" charset="-122"/>
                <a:cs typeface="-apple-system" pitchFamily="34" charset="-120"/>
              </a:rPr>
              <a:t>POR QUÉ FUNCIONA</a:t>
            </a:r>
            <a:endParaRPr lang="en-US" sz="1050" dirty="0"/>
          </a:p>
        </p:txBody>
      </p:sp>
      <p:sp>
        <p:nvSpPr>
          <p:cNvPr id="17" name="Text 14"/>
          <p:cNvSpPr/>
          <p:nvPr/>
        </p:nvSpPr>
        <p:spPr>
          <a:xfrm>
            <a:off x="8780562" y="8283625"/>
            <a:ext cx="8713479" cy="28664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350" b="1" dirty="0">
                <a:solidFill>
                  <a:srgbClr val="D72631"/>
                </a:solidFill>
                <a:latin typeface="-apple-system" pitchFamily="34" charset="0"/>
                <a:ea typeface="-apple-system" pitchFamily="34" charset="-122"/>
                <a:cs typeface="-apple-system" pitchFamily="34" charset="-120"/>
              </a:rPr>
              <a:t>→ </a:t>
            </a:r>
            <a:r>
              <a:rPr lang="en-US" sz="1350" dirty="0">
                <a:solidFill>
                  <a:srgbClr val="3A3A3A"/>
                </a:solidFill>
                <a:latin typeface="-apple-system" pitchFamily="34" charset="0"/>
                <a:ea typeface="-apple-system" pitchFamily="34" charset="-122"/>
                <a:cs typeface="-apple-system" pitchFamily="34" charset="-120"/>
              </a:rPr>
              <a:t>Costo de producción: una cámara y un editor. Costo simbólico: máximo.</a:t>
            </a:r>
            <a:endParaRPr lang="en-US" sz="1350" dirty="0"/>
          </a:p>
        </p:txBody>
      </p:sp>
      <p:sp>
        <p:nvSpPr>
          <p:cNvPr id="18" name="Text 15"/>
          <p:cNvSpPr/>
          <p:nvPr/>
        </p:nvSpPr>
        <p:spPr>
          <a:xfrm>
            <a:off x="8780562" y="8627418"/>
            <a:ext cx="8713479" cy="28664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350" b="1" dirty="0">
                <a:solidFill>
                  <a:srgbClr val="D72631"/>
                </a:solidFill>
                <a:latin typeface="-apple-system" pitchFamily="34" charset="0"/>
                <a:ea typeface="-apple-system" pitchFamily="34" charset="-122"/>
                <a:cs typeface="-apple-system" pitchFamily="34" charset="-120"/>
              </a:rPr>
              <a:t>→ </a:t>
            </a:r>
            <a:r>
              <a:rPr lang="en-US" sz="1350" dirty="0">
                <a:solidFill>
                  <a:srgbClr val="3A3A3A"/>
                </a:solidFill>
                <a:latin typeface="-apple-system" pitchFamily="34" charset="0"/>
                <a:ea typeface="-apple-system" pitchFamily="34" charset="-122"/>
                <a:cs typeface="-apple-system" pitchFamily="34" charset="-120"/>
              </a:rPr>
              <a:t>La voz que cuenta el cambio NO es del gobierno. Es de la dueña de la casa.</a:t>
            </a:r>
            <a:endParaRPr lang="en-US" sz="1350" dirty="0"/>
          </a:p>
        </p:txBody>
      </p:sp>
      <p:sp>
        <p:nvSpPr>
          <p:cNvPr id="19" name="Text 16"/>
          <p:cNvSpPr/>
          <p:nvPr/>
        </p:nvSpPr>
        <p:spPr>
          <a:xfrm>
            <a:off x="8780562" y="8971211"/>
            <a:ext cx="8713479" cy="28664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350" b="1" dirty="0">
                <a:solidFill>
                  <a:srgbClr val="D72631"/>
                </a:solidFill>
                <a:latin typeface="-apple-system" pitchFamily="34" charset="0"/>
                <a:ea typeface="-apple-system" pitchFamily="34" charset="-122"/>
                <a:cs typeface="-apple-system" pitchFamily="34" charset="-120"/>
              </a:rPr>
              <a:t>→ </a:t>
            </a:r>
            <a:r>
              <a:rPr lang="en-US" sz="1350" dirty="0">
                <a:solidFill>
                  <a:srgbClr val="3A3A3A"/>
                </a:solidFill>
                <a:latin typeface="-apple-system" pitchFamily="34" charset="0"/>
                <a:ea typeface="-apple-system" pitchFamily="34" charset="-122"/>
                <a:cs typeface="-apple-system" pitchFamily="34" charset="-120"/>
              </a:rPr>
              <a:t>Cae perfecto el 24 de mayo — ventana natural de comunicación.</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8998446"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2960995" y="666750"/>
            <a:ext cx="4407633"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19 · MISIÓN 03 · CARTERA COMPLETA</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53098" y="9547920"/>
            <a:ext cx="863352"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28 / 32</a:t>
            </a:r>
            <a:endParaRPr lang="en-US" sz="1200" dirty="0"/>
          </a:p>
        </p:txBody>
      </p:sp>
      <p:sp>
        <p:nvSpPr>
          <p:cNvPr id="7" name="Text 4"/>
          <p:cNvSpPr/>
          <p:nvPr/>
        </p:nvSpPr>
        <p:spPr>
          <a:xfrm>
            <a:off x="1047750" y="1714500"/>
            <a:ext cx="16678275"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189" dirty="0">
                <a:solidFill>
                  <a:srgbClr val="D72631"/>
                </a:solidFill>
                <a:latin typeface="-apple-system" pitchFamily="34" charset="0"/>
                <a:ea typeface="-apple-system" pitchFamily="34" charset="-122"/>
                <a:cs typeface="-apple-system" pitchFamily="34" charset="-120"/>
              </a:rPr>
              <a:t>MISIÓN 03 · CARTERA COMPLETA</a:t>
            </a:r>
            <a:endParaRPr lang="en-US" sz="1050" dirty="0"/>
          </a:p>
        </p:txBody>
      </p:sp>
      <p:sp>
        <p:nvSpPr>
          <p:cNvPr id="8" name="Text 5"/>
          <p:cNvSpPr/>
          <p:nvPr/>
        </p:nvSpPr>
        <p:spPr>
          <a:xfrm>
            <a:off x="1047750" y="2027783"/>
            <a:ext cx="16678275" cy="1562100"/>
          </a:xfrm>
          <a:prstGeom prst="rect">
            <a:avLst/>
          </a:prstGeom>
          <a:noFill/>
          <a:ln/>
        </p:spPr>
        <p:txBody>
          <a:bodyPr wrap="square" lIns="25400" tIns="25400" rIns="25400" bIns="25400" rtlCol="0" anchor="t">
            <a:normAutofit/>
          </a:bodyPr>
          <a:lstStyle/>
          <a:p>
            <a:pPr marL="0" indent="0" algn="l">
              <a:lnSpc>
                <a:spcPct val="100000"/>
              </a:lnSpc>
              <a:buNone/>
            </a:pPr>
            <a:r>
              <a:rPr lang="en-US" sz="6000" b="1" kern="0" spc="-150" dirty="0">
                <a:solidFill>
                  <a:srgbClr val="1A1A1A"/>
                </a:solidFill>
                <a:latin typeface="-apple-system" pitchFamily="34" charset="0"/>
                <a:ea typeface="-apple-system" pitchFamily="34" charset="-122"/>
                <a:cs typeface="-apple-system" pitchFamily="34" charset="-120"/>
              </a:rPr>
              <a:t>Tres ideas más que </a:t>
            </a:r>
            <a:r>
              <a:rPr lang="en-US" sz="6000" b="1" kern="0" spc="-150" dirty="0">
                <a:solidFill>
                  <a:srgbClr val="D72631"/>
                </a:solidFill>
                <a:latin typeface="-apple-system" pitchFamily="34" charset="0"/>
                <a:ea typeface="-apple-system" pitchFamily="34" charset="-122"/>
                <a:cs typeface="-apple-system" pitchFamily="34" charset="-120"/>
              </a:rPr>
              <a:t>vuelven la obra visible.</a:t>
            </a:r>
            <a:endParaRPr lang="en-US" sz="6000" dirty="0"/>
          </a:p>
        </p:txBody>
      </p:sp>
      <p:sp>
        <p:nvSpPr>
          <p:cNvPr id="9" name="Shape 6"/>
          <p:cNvSpPr/>
          <p:nvPr/>
        </p:nvSpPr>
        <p:spPr>
          <a:xfrm>
            <a:off x="1047750" y="4085183"/>
            <a:ext cx="5194250" cy="3322290"/>
          </a:xfrm>
          <a:prstGeom prst="rect">
            <a:avLst/>
          </a:prstGeom>
          <a:solidFill>
            <a:srgbClr val="F5F4F1"/>
          </a:solidFill>
          <a:ln/>
        </p:spPr>
        <p:txBody>
          <a:bodyPr/>
          <a:lstStyle/>
          <a:p>
            <a:endParaRPr lang="es-EC"/>
          </a:p>
        </p:txBody>
      </p:sp>
      <p:sp>
        <p:nvSpPr>
          <p:cNvPr id="10" name="Shape 7"/>
          <p:cNvSpPr/>
          <p:nvPr/>
        </p:nvSpPr>
        <p:spPr>
          <a:xfrm>
            <a:off x="1047750" y="4085183"/>
            <a:ext cx="5194250" cy="57150"/>
          </a:xfrm>
          <a:prstGeom prst="rect">
            <a:avLst/>
          </a:prstGeom>
          <a:solidFill>
            <a:srgbClr val="0B3D7E"/>
          </a:solidFill>
          <a:ln/>
        </p:spPr>
        <p:txBody>
          <a:bodyPr/>
          <a:lstStyle/>
          <a:p>
            <a:endParaRPr lang="es-EC"/>
          </a:p>
        </p:txBody>
      </p:sp>
      <p:sp>
        <p:nvSpPr>
          <p:cNvPr id="11" name="Text 8"/>
          <p:cNvSpPr/>
          <p:nvPr/>
        </p:nvSpPr>
        <p:spPr>
          <a:xfrm>
            <a:off x="1314450" y="4409033"/>
            <a:ext cx="4800676"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0B3D7E"/>
                </a:solidFill>
                <a:latin typeface="-apple-system" pitchFamily="34" charset="0"/>
                <a:ea typeface="-apple-system" pitchFamily="34" charset="-122"/>
                <a:cs typeface="-apple-system" pitchFamily="34" charset="-120"/>
              </a:rPr>
              <a:t>02</a:t>
            </a:r>
            <a:endParaRPr lang="en-US" sz="4200" dirty="0"/>
          </a:p>
        </p:txBody>
      </p:sp>
      <p:sp>
        <p:nvSpPr>
          <p:cNvPr id="12" name="Text 9"/>
          <p:cNvSpPr/>
          <p:nvPr/>
        </p:nvSpPr>
        <p:spPr>
          <a:xfrm>
            <a:off x="1314450" y="5094833"/>
            <a:ext cx="4800676" cy="33144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100" b="1" kern="0" spc="42" dirty="0">
                <a:solidFill>
                  <a:srgbClr val="1A1A1A"/>
                </a:solidFill>
                <a:latin typeface="-apple-system" pitchFamily="34" charset="0"/>
                <a:ea typeface="-apple-system" pitchFamily="34" charset="-122"/>
                <a:cs typeface="-apple-system" pitchFamily="34" charset="-120"/>
              </a:rPr>
              <a:t>FIRMA DE BARRIO</a:t>
            </a:r>
            <a:endParaRPr lang="en-US" sz="2100" dirty="0"/>
          </a:p>
        </p:txBody>
      </p:sp>
      <p:sp>
        <p:nvSpPr>
          <p:cNvPr id="13" name="Text 10"/>
          <p:cNvSpPr/>
          <p:nvPr/>
        </p:nvSpPr>
        <p:spPr>
          <a:xfrm>
            <a:off x="1314450" y="5559623"/>
            <a:ext cx="4800676" cy="1581150"/>
          </a:xfrm>
          <a:prstGeom prst="rect">
            <a:avLst/>
          </a:prstGeom>
          <a:noFill/>
          <a:ln/>
        </p:spPr>
        <p:txBody>
          <a:bodyPr wrap="square" lIns="25400" tIns="25400" rIns="25400" bIns="25400" rtlCol="0" anchor="t">
            <a:normAutofit/>
          </a:bodyPr>
          <a:lstStyle/>
          <a:p>
            <a:pPr marL="0" indent="0" algn="l">
              <a:lnSpc>
                <a:spcPct val="150000"/>
              </a:lnSpc>
              <a:buNone/>
            </a:pPr>
            <a:r>
              <a:rPr lang="en-US" sz="1350" dirty="0">
                <a:solidFill>
                  <a:srgbClr val="3A3A3A"/>
                </a:solidFill>
                <a:latin typeface="-apple-system" pitchFamily="34" charset="0"/>
                <a:ea typeface="-apple-system" pitchFamily="34" charset="-122"/>
                <a:cs typeface="-apple-system" pitchFamily="34" charset="-120"/>
              </a:rPr>
              <a:t>Cuando un barrio Miduvi termina su transformación, los vecinos firman físicamente una pared (mural). El presidente firma al final, debajo de los vecinos, no encima. La pared queda como monumento permanente. Foto icónica: 200 firmas vecinales y la del presidente al pie. Costo: $400 de pintura.</a:t>
            </a:r>
            <a:endParaRPr lang="en-US" sz="1350" dirty="0"/>
          </a:p>
        </p:txBody>
      </p:sp>
      <p:sp>
        <p:nvSpPr>
          <p:cNvPr id="14" name="Shape 11"/>
          <p:cNvSpPr/>
          <p:nvPr/>
        </p:nvSpPr>
        <p:spPr>
          <a:xfrm>
            <a:off x="6546800" y="4085183"/>
            <a:ext cx="5194399" cy="3322290"/>
          </a:xfrm>
          <a:prstGeom prst="rect">
            <a:avLst/>
          </a:prstGeom>
          <a:solidFill>
            <a:srgbClr val="F5F4F1"/>
          </a:solidFill>
          <a:ln/>
        </p:spPr>
        <p:txBody>
          <a:bodyPr/>
          <a:lstStyle/>
          <a:p>
            <a:endParaRPr lang="es-EC"/>
          </a:p>
        </p:txBody>
      </p:sp>
      <p:sp>
        <p:nvSpPr>
          <p:cNvPr id="15" name="Shape 12"/>
          <p:cNvSpPr/>
          <p:nvPr/>
        </p:nvSpPr>
        <p:spPr>
          <a:xfrm>
            <a:off x="6546800" y="4085183"/>
            <a:ext cx="5194399" cy="57150"/>
          </a:xfrm>
          <a:prstGeom prst="rect">
            <a:avLst/>
          </a:prstGeom>
          <a:solidFill>
            <a:srgbClr val="0B3D7E"/>
          </a:solidFill>
          <a:ln/>
        </p:spPr>
        <p:txBody>
          <a:bodyPr/>
          <a:lstStyle/>
          <a:p>
            <a:endParaRPr lang="es-EC"/>
          </a:p>
        </p:txBody>
      </p:sp>
      <p:sp>
        <p:nvSpPr>
          <p:cNvPr id="16" name="Text 13"/>
          <p:cNvSpPr/>
          <p:nvPr/>
        </p:nvSpPr>
        <p:spPr>
          <a:xfrm>
            <a:off x="6813500" y="4409033"/>
            <a:ext cx="4800829"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0B3D7E"/>
                </a:solidFill>
                <a:latin typeface="-apple-system" pitchFamily="34" charset="0"/>
                <a:ea typeface="-apple-system" pitchFamily="34" charset="-122"/>
                <a:cs typeface="-apple-system" pitchFamily="34" charset="-120"/>
              </a:rPr>
              <a:t>03</a:t>
            </a:r>
            <a:endParaRPr lang="en-US" sz="4200" dirty="0"/>
          </a:p>
        </p:txBody>
      </p:sp>
      <p:sp>
        <p:nvSpPr>
          <p:cNvPr id="17" name="Text 14"/>
          <p:cNvSpPr/>
          <p:nvPr/>
        </p:nvSpPr>
        <p:spPr>
          <a:xfrm>
            <a:off x="6813500" y="5094833"/>
            <a:ext cx="4800829" cy="33144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100" b="1" kern="0" spc="42" dirty="0">
                <a:solidFill>
                  <a:srgbClr val="1A1A1A"/>
                </a:solidFill>
                <a:latin typeface="-apple-system" pitchFamily="34" charset="0"/>
                <a:ea typeface="-apple-system" pitchFamily="34" charset="-122"/>
                <a:cs typeface="-apple-system" pitchFamily="34" charset="-120"/>
              </a:rPr>
              <a:t>HOY ES EL TURNO DE TU BARRIO</a:t>
            </a:r>
            <a:endParaRPr lang="en-US" sz="2100" dirty="0"/>
          </a:p>
        </p:txBody>
      </p:sp>
      <p:sp>
        <p:nvSpPr>
          <p:cNvPr id="18" name="Text 15"/>
          <p:cNvSpPr/>
          <p:nvPr/>
        </p:nvSpPr>
        <p:spPr>
          <a:xfrm>
            <a:off x="6813500" y="5559623"/>
            <a:ext cx="4800829" cy="1581150"/>
          </a:xfrm>
          <a:prstGeom prst="rect">
            <a:avLst/>
          </a:prstGeom>
          <a:noFill/>
          <a:ln/>
        </p:spPr>
        <p:txBody>
          <a:bodyPr wrap="square" lIns="25400" tIns="25400" rIns="25400" bIns="25400" rtlCol="0" anchor="t">
            <a:normAutofit/>
          </a:bodyPr>
          <a:lstStyle/>
          <a:p>
            <a:pPr marL="0" indent="0" algn="l">
              <a:lnSpc>
                <a:spcPct val="150000"/>
              </a:lnSpc>
              <a:buNone/>
            </a:pPr>
            <a:r>
              <a:rPr lang="en-US" sz="1350" dirty="0">
                <a:solidFill>
                  <a:srgbClr val="3A3A3A"/>
                </a:solidFill>
                <a:latin typeface="-apple-system" pitchFamily="34" charset="0"/>
                <a:ea typeface="-apple-system" pitchFamily="34" charset="-122"/>
                <a:cs typeface="-apple-system" pitchFamily="34" charset="-120"/>
              </a:rPr>
              <a:t>Selección abierta para los 17–18 barrios pendientes. Cualquier comunidad aplica con video corto de 2 minutos. Finalistas con jurado mixto (técnico + ciudadano). El presidente anuncia los seleccionados en evento nacional. Convierte una decisión administrativa en un acto democrático visible.</a:t>
            </a:r>
            <a:endParaRPr lang="en-US" sz="1350" dirty="0"/>
          </a:p>
        </p:txBody>
      </p:sp>
      <p:sp>
        <p:nvSpPr>
          <p:cNvPr id="19" name="Shape 16"/>
          <p:cNvSpPr/>
          <p:nvPr/>
        </p:nvSpPr>
        <p:spPr>
          <a:xfrm>
            <a:off x="12046000" y="4085183"/>
            <a:ext cx="5194250" cy="3322290"/>
          </a:xfrm>
          <a:prstGeom prst="rect">
            <a:avLst/>
          </a:prstGeom>
          <a:solidFill>
            <a:srgbClr val="F5F4F1"/>
          </a:solidFill>
          <a:ln/>
        </p:spPr>
        <p:txBody>
          <a:bodyPr/>
          <a:lstStyle/>
          <a:p>
            <a:endParaRPr lang="es-EC"/>
          </a:p>
        </p:txBody>
      </p:sp>
      <p:sp>
        <p:nvSpPr>
          <p:cNvPr id="20" name="Shape 17"/>
          <p:cNvSpPr/>
          <p:nvPr/>
        </p:nvSpPr>
        <p:spPr>
          <a:xfrm>
            <a:off x="12046000" y="4085183"/>
            <a:ext cx="5194250" cy="57150"/>
          </a:xfrm>
          <a:prstGeom prst="rect">
            <a:avLst/>
          </a:prstGeom>
          <a:solidFill>
            <a:srgbClr val="0B3D7E"/>
          </a:solidFill>
          <a:ln/>
        </p:spPr>
        <p:txBody>
          <a:bodyPr/>
          <a:lstStyle/>
          <a:p>
            <a:endParaRPr lang="es-EC"/>
          </a:p>
        </p:txBody>
      </p:sp>
      <p:sp>
        <p:nvSpPr>
          <p:cNvPr id="21" name="Text 18"/>
          <p:cNvSpPr/>
          <p:nvPr/>
        </p:nvSpPr>
        <p:spPr>
          <a:xfrm>
            <a:off x="12312700" y="4409033"/>
            <a:ext cx="4800676"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0B3D7E"/>
                </a:solidFill>
                <a:latin typeface="-apple-system" pitchFamily="34" charset="0"/>
                <a:ea typeface="-apple-system" pitchFamily="34" charset="-122"/>
                <a:cs typeface="-apple-system" pitchFamily="34" charset="-120"/>
              </a:rPr>
              <a:t>04</a:t>
            </a:r>
            <a:endParaRPr lang="en-US" sz="4200" dirty="0"/>
          </a:p>
        </p:txBody>
      </p:sp>
      <p:sp>
        <p:nvSpPr>
          <p:cNvPr id="22" name="Text 19"/>
          <p:cNvSpPr/>
          <p:nvPr/>
        </p:nvSpPr>
        <p:spPr>
          <a:xfrm>
            <a:off x="12312700" y="5094833"/>
            <a:ext cx="4800676" cy="33144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100" b="1" kern="0" spc="42" dirty="0">
                <a:solidFill>
                  <a:srgbClr val="1A1A1A"/>
                </a:solidFill>
                <a:latin typeface="-apple-system" pitchFamily="34" charset="0"/>
                <a:ea typeface="-apple-system" pitchFamily="34" charset="-122"/>
                <a:cs typeface="-apple-system" pitchFamily="34" charset="-120"/>
              </a:rPr>
              <a:t>MAPA VIVO DE MI ECUADOR</a:t>
            </a:r>
            <a:endParaRPr lang="en-US" sz="2100" dirty="0"/>
          </a:p>
        </p:txBody>
      </p:sp>
      <p:sp>
        <p:nvSpPr>
          <p:cNvPr id="23" name="Text 20"/>
          <p:cNvSpPr/>
          <p:nvPr/>
        </p:nvSpPr>
        <p:spPr>
          <a:xfrm>
            <a:off x="12312700" y="5559623"/>
            <a:ext cx="4800676" cy="1323975"/>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1350" dirty="0">
                <a:solidFill>
                  <a:srgbClr val="3A3A3A"/>
                </a:solidFill>
                <a:latin typeface="-apple-system" pitchFamily="34" charset="0"/>
                <a:ea typeface="-apple-system" pitchFamily="34" charset="-122"/>
                <a:cs typeface="-apple-system" pitchFamily="34" charset="-120"/>
              </a:rPr>
              <a:t>Plataforma pública (web + app simple) con mapa interactivo: cada barrio Miduvi, cada emprendedor Ecuayapa, cada empleo joven generado. Pinchas un punto y ves la historia: foto antes-después, testimonio, presupuesto ejecutado. Transparencia activa, no defensiva.</a:t>
            </a:r>
            <a:endParaRPr lang="en-US" sz="1350" dirty="0"/>
          </a:p>
        </p:txBody>
      </p:sp>
      <p:sp>
        <p:nvSpPr>
          <p:cNvPr id="24" name="Text 21"/>
          <p:cNvSpPr/>
          <p:nvPr/>
        </p:nvSpPr>
        <p:spPr>
          <a:xfrm>
            <a:off x="1047750" y="7864673"/>
            <a:ext cx="15697200"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i="1" dirty="0">
                <a:solidFill>
                  <a:srgbClr val="3A3A3A"/>
                </a:solidFill>
                <a:latin typeface="Georgia" pitchFamily="34" charset="0"/>
                <a:ea typeface="Georgia" pitchFamily="34" charset="-122"/>
                <a:cs typeface="Georgia" pitchFamily="34" charset="-120"/>
              </a:rPr>
              <a:t>La idea #04 cierra el sistema: </a:t>
            </a:r>
            <a:r>
              <a:rPr lang="en-US" sz="1950" b="1" dirty="0">
                <a:solidFill>
                  <a:srgbClr val="1A1A1A"/>
                </a:solidFill>
                <a:latin typeface="Georgia" pitchFamily="34" charset="0"/>
                <a:ea typeface="Georgia" pitchFamily="34" charset="-122"/>
                <a:cs typeface="Georgia" pitchFamily="34" charset="-120"/>
              </a:rPr>
              <a:t>cruza las 3 misiones en una sola plataforma.</a:t>
            </a:r>
            <a:endParaRPr lang="en-US" sz="1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1A1A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12333536"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FFFFFF">
                    <a:alpha val="55000"/>
                  </a:srgbClr>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6296084" y="666750"/>
            <a:ext cx="1020366"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FFFFFF">
                    <a:alpha val="55000"/>
                  </a:srgbClr>
                </a:solidFill>
                <a:latin typeface="-apple-system" pitchFamily="34" charset="0"/>
                <a:ea typeface="-apple-system" pitchFamily="34" charset="-122"/>
                <a:cs typeface="-apple-system" pitchFamily="34" charset="-120"/>
              </a:rPr>
              <a:t>ACTO III</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FFFFFF">
                    <a:alpha val="50000"/>
                  </a:srgbClr>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53396" y="9547920"/>
            <a:ext cx="863054"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FFFFFF">
                    <a:alpha val="50000"/>
                  </a:srgbClr>
                </a:solidFill>
                <a:latin typeface="-apple-system" pitchFamily="34" charset="0"/>
                <a:ea typeface="-apple-system" pitchFamily="34" charset="-122"/>
                <a:cs typeface="-apple-system" pitchFamily="34" charset="-120"/>
              </a:rPr>
              <a:t>29 / 32</a:t>
            </a:r>
            <a:endParaRPr lang="en-US" sz="1200" dirty="0"/>
          </a:p>
        </p:txBody>
      </p:sp>
      <p:sp>
        <p:nvSpPr>
          <p:cNvPr id="7" name="Text 4"/>
          <p:cNvSpPr/>
          <p:nvPr/>
        </p:nvSpPr>
        <p:spPr>
          <a:xfrm>
            <a:off x="1047750" y="3540026"/>
            <a:ext cx="14238771" cy="32087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b="1" kern="0" spc="528" dirty="0">
                <a:solidFill>
                  <a:srgbClr val="D72631"/>
                </a:solidFill>
                <a:latin typeface="-apple-system" pitchFamily="34" charset="0"/>
                <a:ea typeface="-apple-system" pitchFamily="34" charset="-122"/>
                <a:cs typeface="-apple-system" pitchFamily="34" charset="-120"/>
              </a:rPr>
              <a:t>ACTO III · CIERRE</a:t>
            </a:r>
            <a:endParaRPr lang="en-US" sz="1650" dirty="0"/>
          </a:p>
        </p:txBody>
      </p:sp>
      <p:sp>
        <p:nvSpPr>
          <p:cNvPr id="8" name="Text 5"/>
          <p:cNvSpPr/>
          <p:nvPr/>
        </p:nvSpPr>
        <p:spPr>
          <a:xfrm>
            <a:off x="1047750" y="4394299"/>
            <a:ext cx="14238771" cy="2390775"/>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9750" b="1" kern="0" spc="-292" dirty="0">
                <a:solidFill>
                  <a:srgbClr val="FFFFFF"/>
                </a:solidFill>
                <a:latin typeface="-apple-system" pitchFamily="34" charset="0"/>
                <a:ea typeface="-apple-system" pitchFamily="34" charset="-122"/>
                <a:cs typeface="-apple-system" pitchFamily="34" charset="-120"/>
              </a:rPr>
              <a:t>Cómo se ve </a:t>
            </a:r>
            <a:r>
              <a:rPr lang="en-US" sz="9750" b="1" kern="0" spc="-292" dirty="0">
                <a:solidFill>
                  <a:srgbClr val="FFFFFF">
                    <a:alpha val="40000"/>
                  </a:srgbClr>
                </a:solidFill>
                <a:latin typeface="-apple-system" pitchFamily="34" charset="0"/>
                <a:ea typeface="-apple-system" pitchFamily="34" charset="-122"/>
                <a:cs typeface="-apple-system" pitchFamily="34" charset="-120"/>
              </a:rPr>
              <a:t>el año </a:t>
            </a:r>
            <a:r>
              <a:rPr lang="en-US" sz="9750" b="1" kern="0" spc="-292" dirty="0">
                <a:solidFill>
                  <a:srgbClr val="D72631"/>
                </a:solidFill>
                <a:latin typeface="-apple-system" pitchFamily="34" charset="0"/>
                <a:ea typeface="-apple-system" pitchFamily="34" charset="-122"/>
                <a:cs typeface="-apple-system" pitchFamily="34" charset="-120"/>
              </a:rPr>
              <a:t>operando con el sistema.</a:t>
            </a:r>
            <a:endParaRPr lang="en-US" sz="9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9271248"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3233797" y="666750"/>
            <a:ext cx="4126647"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20 · CALENDARIO INTEGRADO 2026</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50866" y="9547920"/>
            <a:ext cx="865584"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30 / 32</a:t>
            </a:r>
            <a:endParaRPr lang="en-US" sz="1200" dirty="0"/>
          </a:p>
        </p:txBody>
      </p:sp>
      <p:sp>
        <p:nvSpPr>
          <p:cNvPr id="7" name="Text 4"/>
          <p:cNvSpPr/>
          <p:nvPr/>
        </p:nvSpPr>
        <p:spPr>
          <a:xfrm>
            <a:off x="1047750" y="1714500"/>
            <a:ext cx="16678275"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480" dirty="0">
                <a:solidFill>
                  <a:srgbClr val="D72631"/>
                </a:solidFill>
                <a:latin typeface="-apple-system" pitchFamily="34" charset="0"/>
                <a:ea typeface="-apple-system" pitchFamily="34" charset="-122"/>
                <a:cs typeface="-apple-system" pitchFamily="34" charset="-120"/>
              </a:rPr>
              <a:t>CÓMO SE VE EL AÑO BAJO EL SISTEMA</a:t>
            </a:r>
            <a:endParaRPr lang="en-US" sz="1200" dirty="0"/>
          </a:p>
        </p:txBody>
      </p:sp>
      <p:sp>
        <p:nvSpPr>
          <p:cNvPr id="8" name="Text 5"/>
          <p:cNvSpPr/>
          <p:nvPr/>
        </p:nvSpPr>
        <p:spPr>
          <a:xfrm>
            <a:off x="1047750" y="2148780"/>
            <a:ext cx="16678275" cy="1714500"/>
          </a:xfrm>
          <a:prstGeom prst="rect">
            <a:avLst/>
          </a:prstGeom>
          <a:noFill/>
          <a:ln/>
        </p:spPr>
        <p:txBody>
          <a:bodyPr wrap="square" lIns="25400" tIns="25400" rIns="25400" bIns="25400" rtlCol="0" anchor="t">
            <a:normAutofit/>
          </a:bodyPr>
          <a:lstStyle/>
          <a:p>
            <a:pPr marL="0" indent="0" algn="l">
              <a:lnSpc>
                <a:spcPct val="100000"/>
              </a:lnSpc>
              <a:buNone/>
            </a:pPr>
            <a:r>
              <a:rPr lang="en-US" sz="6600" b="1" kern="0" spc="-165" dirty="0">
                <a:solidFill>
                  <a:srgbClr val="1A1A1A"/>
                </a:solidFill>
                <a:latin typeface="-apple-system" pitchFamily="34" charset="0"/>
                <a:ea typeface="-apple-system" pitchFamily="34" charset="-122"/>
                <a:cs typeface="-apple-system" pitchFamily="34" charset="-120"/>
              </a:rPr>
              <a:t>Cada mes, </a:t>
            </a:r>
            <a:r>
              <a:rPr lang="en-US" sz="6600" b="1" kern="0" spc="-165" dirty="0">
                <a:solidFill>
                  <a:srgbClr val="D72631"/>
                </a:solidFill>
                <a:latin typeface="-apple-system" pitchFamily="34" charset="0"/>
                <a:ea typeface="-apple-system" pitchFamily="34" charset="-122"/>
                <a:cs typeface="-apple-system" pitchFamily="34" charset="-120"/>
              </a:rPr>
              <a:t>una ventana abierta.</a:t>
            </a:r>
            <a:endParaRPr lang="en-US" sz="6600" dirty="0"/>
          </a:p>
        </p:txBody>
      </p:sp>
      <p:sp>
        <p:nvSpPr>
          <p:cNvPr id="9" name="Shape 6"/>
          <p:cNvSpPr/>
          <p:nvPr/>
        </p:nvSpPr>
        <p:spPr>
          <a:xfrm>
            <a:off x="1047750" y="4358580"/>
            <a:ext cx="16192500" cy="9525"/>
          </a:xfrm>
          <a:prstGeom prst="rect">
            <a:avLst/>
          </a:prstGeom>
          <a:solidFill>
            <a:srgbClr val="1A1A1A"/>
          </a:solidFill>
          <a:ln/>
        </p:spPr>
        <p:txBody>
          <a:bodyPr/>
          <a:lstStyle/>
          <a:p>
            <a:endParaRPr lang="es-EC"/>
          </a:p>
        </p:txBody>
      </p:sp>
      <p:sp>
        <p:nvSpPr>
          <p:cNvPr id="10" name="Shape 7"/>
          <p:cNvSpPr/>
          <p:nvPr/>
        </p:nvSpPr>
        <p:spPr>
          <a:xfrm>
            <a:off x="1047750" y="5250061"/>
            <a:ext cx="16192500" cy="9525"/>
          </a:xfrm>
          <a:prstGeom prst="rect">
            <a:avLst/>
          </a:prstGeom>
          <a:solidFill>
            <a:srgbClr val="C9C6BD"/>
          </a:solidFill>
          <a:ln/>
        </p:spPr>
        <p:txBody>
          <a:bodyPr/>
          <a:lstStyle/>
          <a:p>
            <a:endParaRPr lang="es-EC"/>
          </a:p>
        </p:txBody>
      </p:sp>
      <p:sp>
        <p:nvSpPr>
          <p:cNvPr id="11" name="Text 8"/>
          <p:cNvSpPr/>
          <p:nvPr/>
        </p:nvSpPr>
        <p:spPr>
          <a:xfrm>
            <a:off x="1047750" y="4577655"/>
            <a:ext cx="2266950" cy="50095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700" b="1" kern="0" spc="108" dirty="0">
                <a:solidFill>
                  <a:srgbClr val="D72631"/>
                </a:solidFill>
                <a:latin typeface="-apple-system" pitchFamily="34" charset="0"/>
                <a:ea typeface="-apple-system" pitchFamily="34" charset="-122"/>
                <a:cs typeface="-apple-system" pitchFamily="34" charset="-120"/>
              </a:rPr>
              <a:t>MAY</a:t>
            </a:r>
            <a:endParaRPr lang="en-US" sz="2700" dirty="0"/>
          </a:p>
        </p:txBody>
      </p:sp>
      <p:sp>
        <p:nvSpPr>
          <p:cNvPr id="12" name="Text 9"/>
          <p:cNvSpPr/>
          <p:nvPr/>
        </p:nvSpPr>
        <p:spPr>
          <a:xfrm>
            <a:off x="3771900" y="4682430"/>
            <a:ext cx="7401598" cy="347663"/>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950" b="1" dirty="0">
                <a:solidFill>
                  <a:srgbClr val="1A1A1A"/>
                </a:solidFill>
                <a:latin typeface="-apple-system" pitchFamily="34" charset="0"/>
                <a:ea typeface="-apple-system" pitchFamily="34" charset="-122"/>
                <a:cs typeface="-apple-system" pitchFamily="34" charset="-120"/>
              </a:rPr>
              <a:t>Primer año de gestión Noboa (24 mayo)</a:t>
            </a:r>
            <a:endParaRPr lang="en-US" sz="1950" dirty="0"/>
          </a:p>
        </p:txBody>
      </p:sp>
      <p:sp>
        <p:nvSpPr>
          <p:cNvPr id="13" name="Text 10"/>
          <p:cNvSpPr/>
          <p:nvPr/>
        </p:nvSpPr>
        <p:spPr>
          <a:xfrm>
            <a:off x="11491317" y="4720530"/>
            <a:ext cx="5921401" cy="32087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i="1" dirty="0">
                <a:solidFill>
                  <a:srgbClr val="3A3A3A"/>
                </a:solidFill>
                <a:latin typeface="Georgia" pitchFamily="34" charset="0"/>
                <a:ea typeface="Georgia" pitchFamily="34" charset="-122"/>
                <a:cs typeface="Georgia" pitchFamily="34" charset="-120"/>
              </a:rPr>
              <a:t>Ventana natural · Misión 03 estreno</a:t>
            </a:r>
            <a:endParaRPr lang="en-US" sz="1650" dirty="0"/>
          </a:p>
        </p:txBody>
      </p:sp>
      <p:sp>
        <p:nvSpPr>
          <p:cNvPr id="14" name="Shape 11"/>
          <p:cNvSpPr/>
          <p:nvPr/>
        </p:nvSpPr>
        <p:spPr>
          <a:xfrm>
            <a:off x="1047750" y="5259586"/>
            <a:ext cx="16192500" cy="891480"/>
          </a:xfrm>
          <a:prstGeom prst="rect">
            <a:avLst/>
          </a:prstGeom>
          <a:solidFill>
            <a:srgbClr val="F5B400">
              <a:alpha val="10000"/>
            </a:srgbClr>
          </a:solidFill>
          <a:ln/>
        </p:spPr>
        <p:txBody>
          <a:bodyPr/>
          <a:lstStyle/>
          <a:p>
            <a:endParaRPr lang="es-EC"/>
          </a:p>
        </p:txBody>
      </p:sp>
      <p:sp>
        <p:nvSpPr>
          <p:cNvPr id="15" name="Shape 12"/>
          <p:cNvSpPr/>
          <p:nvPr/>
        </p:nvSpPr>
        <p:spPr>
          <a:xfrm>
            <a:off x="1047750" y="6141541"/>
            <a:ext cx="16192500" cy="9525"/>
          </a:xfrm>
          <a:prstGeom prst="rect">
            <a:avLst/>
          </a:prstGeom>
          <a:solidFill>
            <a:srgbClr val="C9C6BD"/>
          </a:solidFill>
          <a:ln/>
        </p:spPr>
        <p:txBody>
          <a:bodyPr/>
          <a:lstStyle/>
          <a:p>
            <a:endParaRPr lang="es-EC"/>
          </a:p>
        </p:txBody>
      </p:sp>
      <p:sp>
        <p:nvSpPr>
          <p:cNvPr id="16" name="Text 13"/>
          <p:cNvSpPr/>
          <p:nvPr/>
        </p:nvSpPr>
        <p:spPr>
          <a:xfrm>
            <a:off x="1047750" y="5469136"/>
            <a:ext cx="2266950" cy="50095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700" b="1" kern="0" spc="108" dirty="0">
                <a:solidFill>
                  <a:srgbClr val="D72631"/>
                </a:solidFill>
                <a:latin typeface="-apple-system" pitchFamily="34" charset="0"/>
                <a:ea typeface="-apple-system" pitchFamily="34" charset="-122"/>
                <a:cs typeface="-apple-system" pitchFamily="34" charset="-120"/>
              </a:rPr>
              <a:t>JUN</a:t>
            </a:r>
            <a:endParaRPr lang="en-US" sz="2700" dirty="0"/>
          </a:p>
        </p:txBody>
      </p:sp>
      <p:sp>
        <p:nvSpPr>
          <p:cNvPr id="17" name="Text 14"/>
          <p:cNvSpPr/>
          <p:nvPr/>
        </p:nvSpPr>
        <p:spPr>
          <a:xfrm>
            <a:off x="3771900" y="5573911"/>
            <a:ext cx="7401598" cy="347663"/>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950" b="1" dirty="0">
                <a:solidFill>
                  <a:srgbClr val="1A1A1A"/>
                </a:solidFill>
                <a:latin typeface="-apple-system" pitchFamily="34" charset="0"/>
                <a:ea typeface="-apple-system" pitchFamily="34" charset="-122"/>
                <a:cs typeface="-apple-system" pitchFamily="34" charset="-120"/>
              </a:rPr>
              <a:t>Mundial 2026 — 3 partidos</a:t>
            </a:r>
            <a:endParaRPr lang="en-US" sz="1950" dirty="0"/>
          </a:p>
        </p:txBody>
      </p:sp>
      <p:sp>
        <p:nvSpPr>
          <p:cNvPr id="18" name="Text 15"/>
          <p:cNvSpPr/>
          <p:nvPr/>
        </p:nvSpPr>
        <p:spPr>
          <a:xfrm>
            <a:off x="11491317" y="5612011"/>
            <a:ext cx="5921401" cy="32087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i="1" dirty="0">
                <a:solidFill>
                  <a:srgbClr val="3A3A3A"/>
                </a:solidFill>
                <a:latin typeface="Georgia" pitchFamily="34" charset="0"/>
                <a:ea typeface="Georgia" pitchFamily="34" charset="-122"/>
                <a:cs typeface="Georgia" pitchFamily="34" charset="-120"/>
              </a:rPr>
              <a:t>VENTANA CRÍTICA · Misión 01 activa</a:t>
            </a:r>
            <a:endParaRPr lang="en-US" sz="1650" dirty="0"/>
          </a:p>
        </p:txBody>
      </p:sp>
      <p:sp>
        <p:nvSpPr>
          <p:cNvPr id="19" name="Shape 16"/>
          <p:cNvSpPr/>
          <p:nvPr/>
        </p:nvSpPr>
        <p:spPr>
          <a:xfrm>
            <a:off x="1047750" y="7033022"/>
            <a:ext cx="16192500" cy="9525"/>
          </a:xfrm>
          <a:prstGeom prst="rect">
            <a:avLst/>
          </a:prstGeom>
          <a:solidFill>
            <a:srgbClr val="C9C6BD"/>
          </a:solidFill>
          <a:ln/>
        </p:spPr>
        <p:txBody>
          <a:bodyPr/>
          <a:lstStyle/>
          <a:p>
            <a:endParaRPr lang="es-EC"/>
          </a:p>
        </p:txBody>
      </p:sp>
      <p:sp>
        <p:nvSpPr>
          <p:cNvPr id="20" name="Text 17"/>
          <p:cNvSpPr/>
          <p:nvPr/>
        </p:nvSpPr>
        <p:spPr>
          <a:xfrm>
            <a:off x="1047750" y="6360616"/>
            <a:ext cx="2266950" cy="50095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700" b="1" kern="0" spc="108" dirty="0">
                <a:solidFill>
                  <a:srgbClr val="D72631"/>
                </a:solidFill>
                <a:latin typeface="-apple-system" pitchFamily="34" charset="0"/>
                <a:ea typeface="-apple-system" pitchFamily="34" charset="-122"/>
                <a:cs typeface="-apple-system" pitchFamily="34" charset="-120"/>
              </a:rPr>
              <a:t>JUL — AGO</a:t>
            </a:r>
            <a:endParaRPr lang="en-US" sz="2700" dirty="0"/>
          </a:p>
        </p:txBody>
      </p:sp>
      <p:sp>
        <p:nvSpPr>
          <p:cNvPr id="21" name="Text 18"/>
          <p:cNvSpPr/>
          <p:nvPr/>
        </p:nvSpPr>
        <p:spPr>
          <a:xfrm>
            <a:off x="3771900" y="6465391"/>
            <a:ext cx="7401598" cy="347663"/>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950" b="1" dirty="0">
                <a:solidFill>
                  <a:srgbClr val="1A1A1A"/>
                </a:solidFill>
                <a:latin typeface="-apple-system" pitchFamily="34" charset="0"/>
                <a:ea typeface="-apple-system" pitchFamily="34" charset="-122"/>
                <a:cs typeface="-apple-system" pitchFamily="34" charset="-120"/>
              </a:rPr>
              <a:t>Ruta hacia primer aniversario · seccionales en horizonte</a:t>
            </a:r>
            <a:endParaRPr lang="en-US" sz="1950" dirty="0"/>
          </a:p>
        </p:txBody>
      </p:sp>
      <p:sp>
        <p:nvSpPr>
          <p:cNvPr id="22" name="Text 19"/>
          <p:cNvSpPr/>
          <p:nvPr/>
        </p:nvSpPr>
        <p:spPr>
          <a:xfrm>
            <a:off x="11491317" y="6503491"/>
            <a:ext cx="5921401" cy="32087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i="1" dirty="0">
                <a:solidFill>
                  <a:srgbClr val="3A3A3A"/>
                </a:solidFill>
                <a:latin typeface="Georgia" pitchFamily="34" charset="0"/>
                <a:ea typeface="Georgia" pitchFamily="34" charset="-122"/>
                <a:cs typeface="Georgia" pitchFamily="34" charset="-120"/>
              </a:rPr>
              <a:t>Misión 02 desplegando "100 Rostros"</a:t>
            </a:r>
            <a:endParaRPr lang="en-US" sz="1650" dirty="0"/>
          </a:p>
        </p:txBody>
      </p:sp>
      <p:sp>
        <p:nvSpPr>
          <p:cNvPr id="23" name="Shape 20"/>
          <p:cNvSpPr/>
          <p:nvPr/>
        </p:nvSpPr>
        <p:spPr>
          <a:xfrm>
            <a:off x="1047750" y="7924502"/>
            <a:ext cx="16192500" cy="9525"/>
          </a:xfrm>
          <a:prstGeom prst="rect">
            <a:avLst/>
          </a:prstGeom>
          <a:solidFill>
            <a:srgbClr val="C9C6BD"/>
          </a:solidFill>
          <a:ln/>
        </p:spPr>
        <p:txBody>
          <a:bodyPr/>
          <a:lstStyle/>
          <a:p>
            <a:endParaRPr lang="es-EC"/>
          </a:p>
        </p:txBody>
      </p:sp>
      <p:sp>
        <p:nvSpPr>
          <p:cNvPr id="24" name="Text 21"/>
          <p:cNvSpPr/>
          <p:nvPr/>
        </p:nvSpPr>
        <p:spPr>
          <a:xfrm>
            <a:off x="1047750" y="7252097"/>
            <a:ext cx="2266950" cy="50095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700" b="1" kern="0" spc="108" dirty="0">
                <a:solidFill>
                  <a:srgbClr val="D72631"/>
                </a:solidFill>
                <a:latin typeface="-apple-system" pitchFamily="34" charset="0"/>
                <a:ea typeface="-apple-system" pitchFamily="34" charset="-122"/>
                <a:cs typeface="-apple-system" pitchFamily="34" charset="-120"/>
              </a:rPr>
              <a:t>SEP</a:t>
            </a:r>
            <a:endParaRPr lang="en-US" sz="2700" dirty="0"/>
          </a:p>
        </p:txBody>
      </p:sp>
      <p:sp>
        <p:nvSpPr>
          <p:cNvPr id="25" name="Text 22"/>
          <p:cNvSpPr/>
          <p:nvPr/>
        </p:nvSpPr>
        <p:spPr>
          <a:xfrm>
            <a:off x="3771900" y="7356872"/>
            <a:ext cx="7401598" cy="347663"/>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950" b="1" dirty="0">
                <a:solidFill>
                  <a:srgbClr val="1A1A1A"/>
                </a:solidFill>
                <a:latin typeface="-apple-system" pitchFamily="34" charset="0"/>
                <a:ea typeface="-apple-system" pitchFamily="34" charset="-122"/>
                <a:cs typeface="-apple-system" pitchFamily="34" charset="-120"/>
              </a:rPr>
              <a:t>Día del Orgullo Ecuatoriano (4to viernes)</a:t>
            </a:r>
            <a:endParaRPr lang="en-US" sz="1950" dirty="0"/>
          </a:p>
        </p:txBody>
      </p:sp>
      <p:sp>
        <p:nvSpPr>
          <p:cNvPr id="26" name="Text 23"/>
          <p:cNvSpPr/>
          <p:nvPr/>
        </p:nvSpPr>
        <p:spPr>
          <a:xfrm>
            <a:off x="11491317" y="7394972"/>
            <a:ext cx="5921401" cy="32087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i="1" dirty="0">
                <a:solidFill>
                  <a:srgbClr val="3A3A3A"/>
                </a:solidFill>
                <a:latin typeface="Georgia" pitchFamily="34" charset="0"/>
                <a:ea typeface="Georgia" pitchFamily="34" charset="-122"/>
                <a:cs typeface="Georgia" pitchFamily="34" charset="-120"/>
              </a:rPr>
              <a:t>Cruce de las 3 misiones</a:t>
            </a:r>
            <a:endParaRPr lang="en-US" sz="1650" dirty="0"/>
          </a:p>
        </p:txBody>
      </p:sp>
      <p:sp>
        <p:nvSpPr>
          <p:cNvPr id="27" name="Shape 24"/>
          <p:cNvSpPr/>
          <p:nvPr/>
        </p:nvSpPr>
        <p:spPr>
          <a:xfrm>
            <a:off x="1047750" y="8815983"/>
            <a:ext cx="16192500" cy="9525"/>
          </a:xfrm>
          <a:prstGeom prst="rect">
            <a:avLst/>
          </a:prstGeom>
          <a:solidFill>
            <a:srgbClr val="C9C6BD"/>
          </a:solidFill>
          <a:ln/>
        </p:spPr>
        <p:txBody>
          <a:bodyPr/>
          <a:lstStyle/>
          <a:p>
            <a:endParaRPr lang="es-EC"/>
          </a:p>
        </p:txBody>
      </p:sp>
      <p:sp>
        <p:nvSpPr>
          <p:cNvPr id="28" name="Text 25"/>
          <p:cNvSpPr/>
          <p:nvPr/>
        </p:nvSpPr>
        <p:spPr>
          <a:xfrm>
            <a:off x="1047750" y="8143577"/>
            <a:ext cx="2266950" cy="50095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700" b="1" kern="0" spc="108" dirty="0">
                <a:solidFill>
                  <a:srgbClr val="D72631"/>
                </a:solidFill>
                <a:latin typeface="-apple-system" pitchFamily="34" charset="0"/>
                <a:ea typeface="-apple-system" pitchFamily="34" charset="-122"/>
                <a:cs typeface="-apple-system" pitchFamily="34" charset="-120"/>
              </a:rPr>
              <a:t>OCT</a:t>
            </a:r>
            <a:endParaRPr lang="en-US" sz="2700" dirty="0"/>
          </a:p>
        </p:txBody>
      </p:sp>
      <p:sp>
        <p:nvSpPr>
          <p:cNvPr id="29" name="Text 26"/>
          <p:cNvSpPr/>
          <p:nvPr/>
        </p:nvSpPr>
        <p:spPr>
          <a:xfrm>
            <a:off x="3771900" y="8248352"/>
            <a:ext cx="7401598" cy="347663"/>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950" b="1" dirty="0">
                <a:solidFill>
                  <a:srgbClr val="1A1A1A"/>
                </a:solidFill>
                <a:latin typeface="-apple-system" pitchFamily="34" charset="0"/>
                <a:ea typeface="-apple-system" pitchFamily="34" charset="-122"/>
                <a:cs typeface="-apple-system" pitchFamily="34" charset="-120"/>
              </a:rPr>
              <a:t>Yapatón Ecuayapa</a:t>
            </a:r>
            <a:endParaRPr lang="en-US" sz="1950" dirty="0"/>
          </a:p>
        </p:txBody>
      </p:sp>
      <p:sp>
        <p:nvSpPr>
          <p:cNvPr id="30" name="Text 27"/>
          <p:cNvSpPr/>
          <p:nvPr/>
        </p:nvSpPr>
        <p:spPr>
          <a:xfrm>
            <a:off x="11491317" y="8286452"/>
            <a:ext cx="5921401" cy="32087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i="1" dirty="0">
                <a:solidFill>
                  <a:srgbClr val="3A3A3A"/>
                </a:solidFill>
                <a:latin typeface="Georgia" pitchFamily="34" charset="0"/>
                <a:ea typeface="Georgia" pitchFamily="34" charset="-122"/>
                <a:cs typeface="Georgia" pitchFamily="34" charset="-120"/>
              </a:rPr>
              <a:t>Misión 02 punto alto</a:t>
            </a:r>
            <a:endParaRPr lang="en-US" sz="1650" dirty="0"/>
          </a:p>
        </p:txBody>
      </p:sp>
      <p:sp>
        <p:nvSpPr>
          <p:cNvPr id="31" name="Shape 28"/>
          <p:cNvSpPr/>
          <p:nvPr/>
        </p:nvSpPr>
        <p:spPr>
          <a:xfrm>
            <a:off x="1047750" y="9707463"/>
            <a:ext cx="16192500" cy="9525"/>
          </a:xfrm>
          <a:prstGeom prst="rect">
            <a:avLst/>
          </a:prstGeom>
          <a:solidFill>
            <a:srgbClr val="C9C6BD"/>
          </a:solidFill>
          <a:ln/>
        </p:spPr>
        <p:txBody>
          <a:bodyPr/>
          <a:lstStyle/>
          <a:p>
            <a:endParaRPr lang="es-EC"/>
          </a:p>
        </p:txBody>
      </p:sp>
      <p:sp>
        <p:nvSpPr>
          <p:cNvPr id="32" name="Text 29"/>
          <p:cNvSpPr/>
          <p:nvPr/>
        </p:nvSpPr>
        <p:spPr>
          <a:xfrm>
            <a:off x="1047750" y="9035058"/>
            <a:ext cx="2266950" cy="50095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700" b="1" kern="0" spc="108" dirty="0">
                <a:solidFill>
                  <a:srgbClr val="D72631"/>
                </a:solidFill>
                <a:latin typeface="-apple-system" pitchFamily="34" charset="0"/>
                <a:ea typeface="-apple-system" pitchFamily="34" charset="-122"/>
                <a:cs typeface="-apple-system" pitchFamily="34" charset="-120"/>
              </a:rPr>
              <a:t>NOV</a:t>
            </a:r>
            <a:endParaRPr lang="en-US" sz="2700" dirty="0"/>
          </a:p>
        </p:txBody>
      </p:sp>
      <p:sp>
        <p:nvSpPr>
          <p:cNvPr id="33" name="Text 30"/>
          <p:cNvSpPr/>
          <p:nvPr/>
        </p:nvSpPr>
        <p:spPr>
          <a:xfrm>
            <a:off x="3771900" y="9139833"/>
            <a:ext cx="7401598" cy="347663"/>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950" b="1" dirty="0">
                <a:solidFill>
                  <a:srgbClr val="1A1A1A"/>
                </a:solidFill>
                <a:latin typeface="-apple-system" pitchFamily="34" charset="0"/>
                <a:ea typeface="-apple-system" pitchFamily="34" charset="-122"/>
                <a:cs typeface="-apple-system" pitchFamily="34" charset="-120"/>
              </a:rPr>
              <a:t>Elecciones seccionales (29 nov)</a:t>
            </a:r>
            <a:endParaRPr lang="en-US" sz="1950" dirty="0"/>
          </a:p>
        </p:txBody>
      </p:sp>
      <p:sp>
        <p:nvSpPr>
          <p:cNvPr id="34" name="Text 31"/>
          <p:cNvSpPr/>
          <p:nvPr/>
        </p:nvSpPr>
        <p:spPr>
          <a:xfrm>
            <a:off x="11491317" y="9177933"/>
            <a:ext cx="5921401" cy="32087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i="1" dirty="0">
                <a:solidFill>
                  <a:srgbClr val="3A3A3A"/>
                </a:solidFill>
                <a:latin typeface="Georgia" pitchFamily="34" charset="0"/>
                <a:ea typeface="Georgia" pitchFamily="34" charset="-122"/>
                <a:cs typeface="Georgia" pitchFamily="34" charset="-120"/>
              </a:rPr>
              <a:t>Misión 03 visibilizando obra local</a:t>
            </a:r>
            <a:endParaRPr lang="en-US" sz="1650" dirty="0"/>
          </a:p>
        </p:txBody>
      </p:sp>
      <p:sp>
        <p:nvSpPr>
          <p:cNvPr id="35" name="Text 32"/>
          <p:cNvSpPr/>
          <p:nvPr/>
        </p:nvSpPr>
        <p:spPr>
          <a:xfrm>
            <a:off x="1047750" y="9907488"/>
            <a:ext cx="15697200" cy="32087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i="1" dirty="0">
                <a:solidFill>
                  <a:srgbClr val="3A3A3A"/>
                </a:solidFill>
                <a:latin typeface="Georgia" pitchFamily="34" charset="0"/>
                <a:ea typeface="Georgia" pitchFamily="34" charset="-122"/>
                <a:cs typeface="Georgia" pitchFamily="34" charset="-120"/>
              </a:rPr>
              <a:t>El RADAR se actualiza semana a semana. Si pasa algo, la próxima sesión lo absorbe.</a:t>
            </a:r>
            <a:r>
              <a:rPr lang="en-US" sz="1650" b="1" dirty="0">
                <a:solidFill>
                  <a:srgbClr val="1A1A1A"/>
                </a:solidFill>
                <a:latin typeface="Georgia" pitchFamily="34" charset="0"/>
                <a:ea typeface="Georgia" pitchFamily="34" charset="-122"/>
                <a:cs typeface="Georgia" pitchFamily="34" charset="-120"/>
              </a:rPr>
              <a:t>El calendario no es rígido — es vivo.</a:t>
            </a:r>
            <a:endParaRPr lang="en-US" sz="16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8972550"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2935099" y="666750"/>
            <a:ext cx="4434306"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6B6B6B"/>
                </a:solidFill>
                <a:latin typeface="-apple-system" pitchFamily="34" charset="0"/>
                <a:ea typeface="-apple-system" pitchFamily="34" charset="-122"/>
                <a:cs typeface="-apple-system" pitchFamily="34" charset="-120"/>
              </a:rPr>
              <a:t>21 · CÓMO OPERARÍAMOS CON SECOM</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76166" y="9547920"/>
            <a:ext cx="840284"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6B6B6B"/>
                </a:solidFill>
                <a:latin typeface="-apple-system" pitchFamily="34" charset="0"/>
                <a:ea typeface="-apple-system" pitchFamily="34" charset="-122"/>
                <a:cs typeface="-apple-system" pitchFamily="34" charset="-120"/>
              </a:rPr>
              <a:t>31 / 32</a:t>
            </a:r>
            <a:endParaRPr lang="en-US" sz="1200" dirty="0"/>
          </a:p>
        </p:txBody>
      </p:sp>
      <p:sp>
        <p:nvSpPr>
          <p:cNvPr id="7" name="Text 4"/>
          <p:cNvSpPr/>
          <p:nvPr/>
        </p:nvSpPr>
        <p:spPr>
          <a:xfrm>
            <a:off x="1047750" y="1714500"/>
            <a:ext cx="16678275"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kern="0" spc="480" dirty="0">
                <a:solidFill>
                  <a:srgbClr val="D72631"/>
                </a:solidFill>
                <a:latin typeface="-apple-system" pitchFamily="34" charset="0"/>
                <a:ea typeface="-apple-system" pitchFamily="34" charset="-122"/>
                <a:cs typeface="-apple-system" pitchFamily="34" charset="-120"/>
              </a:rPr>
              <a:t>MODO RECOMENDADO</a:t>
            </a:r>
            <a:endParaRPr lang="en-US" sz="1200" dirty="0"/>
          </a:p>
        </p:txBody>
      </p:sp>
      <p:sp>
        <p:nvSpPr>
          <p:cNvPr id="8" name="Text 5"/>
          <p:cNvSpPr/>
          <p:nvPr/>
        </p:nvSpPr>
        <p:spPr>
          <a:xfrm>
            <a:off x="1047750" y="2148780"/>
            <a:ext cx="16678275" cy="1123950"/>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9000" b="1" kern="0" spc="-270" dirty="0">
                <a:solidFill>
                  <a:srgbClr val="D72631"/>
                </a:solidFill>
                <a:latin typeface="-apple-system" pitchFamily="34" charset="0"/>
                <a:ea typeface="-apple-system" pitchFamily="34" charset="-122"/>
                <a:cs typeface="-apple-system" pitchFamily="34" charset="-120"/>
              </a:rPr>
              <a:t>PULSE </a:t>
            </a:r>
            <a:r>
              <a:rPr lang="en-US" sz="9000" b="1" kern="0" spc="-270" dirty="0">
                <a:solidFill>
                  <a:srgbClr val="C9C6BD"/>
                </a:solidFill>
                <a:latin typeface="-apple-system" pitchFamily="34" charset="0"/>
                <a:ea typeface="-apple-system" pitchFamily="34" charset="-122"/>
                <a:cs typeface="-apple-system" pitchFamily="34" charset="-120"/>
              </a:rPr>
              <a:t>+ </a:t>
            </a:r>
            <a:r>
              <a:rPr lang="en-US" sz="9000" b="1" kern="0" spc="-270" dirty="0">
                <a:solidFill>
                  <a:srgbClr val="1A1A1A"/>
                </a:solidFill>
                <a:latin typeface="-apple-system" pitchFamily="34" charset="0"/>
                <a:ea typeface="-apple-system" pitchFamily="34" charset="-122"/>
                <a:cs typeface="-apple-system" pitchFamily="34" charset="-120"/>
              </a:rPr>
              <a:t>un </a:t>
            </a:r>
            <a:r>
              <a:rPr lang="en-US" sz="9000" b="1" kern="0" spc="-270" dirty="0">
                <a:solidFill>
                  <a:srgbClr val="F5B400"/>
                </a:solidFill>
                <a:latin typeface="-apple-system" pitchFamily="34" charset="0"/>
                <a:ea typeface="-apple-system" pitchFamily="34" charset="-122"/>
                <a:cs typeface="-apple-system" pitchFamily="34" charset="-120"/>
              </a:rPr>
              <a:t>SPRINT </a:t>
            </a:r>
            <a:r>
              <a:rPr lang="en-US" sz="9000" b="1" kern="0" spc="-270" dirty="0">
                <a:solidFill>
                  <a:srgbClr val="1A1A1A"/>
                </a:solidFill>
                <a:latin typeface="-apple-system" pitchFamily="34" charset="0"/>
                <a:ea typeface="-apple-system" pitchFamily="34" charset="-122"/>
                <a:cs typeface="-apple-system" pitchFamily="34" charset="-120"/>
              </a:rPr>
              <a:t>inicial.</a:t>
            </a:r>
            <a:endParaRPr lang="en-US" sz="9000" dirty="0"/>
          </a:p>
        </p:txBody>
      </p:sp>
      <p:sp>
        <p:nvSpPr>
          <p:cNvPr id="9" name="Shape 6"/>
          <p:cNvSpPr/>
          <p:nvPr/>
        </p:nvSpPr>
        <p:spPr>
          <a:xfrm>
            <a:off x="1047750" y="3806130"/>
            <a:ext cx="7943850" cy="3698379"/>
          </a:xfrm>
          <a:prstGeom prst="rect">
            <a:avLst/>
          </a:prstGeom>
          <a:solidFill>
            <a:srgbClr val="F5F4F1"/>
          </a:solidFill>
          <a:ln/>
        </p:spPr>
        <p:txBody>
          <a:bodyPr/>
          <a:lstStyle/>
          <a:p>
            <a:endParaRPr lang="es-EC"/>
          </a:p>
        </p:txBody>
      </p:sp>
      <p:sp>
        <p:nvSpPr>
          <p:cNvPr id="10" name="Shape 7"/>
          <p:cNvSpPr/>
          <p:nvPr/>
        </p:nvSpPr>
        <p:spPr>
          <a:xfrm>
            <a:off x="1047750" y="3806130"/>
            <a:ext cx="7943850" cy="76200"/>
          </a:xfrm>
          <a:prstGeom prst="rect">
            <a:avLst/>
          </a:prstGeom>
          <a:solidFill>
            <a:srgbClr val="D72631"/>
          </a:solidFill>
          <a:ln/>
        </p:spPr>
        <p:txBody>
          <a:bodyPr/>
          <a:lstStyle/>
          <a:p>
            <a:endParaRPr lang="es-EC"/>
          </a:p>
        </p:txBody>
      </p:sp>
      <p:sp>
        <p:nvSpPr>
          <p:cNvPr id="11" name="Text 8"/>
          <p:cNvSpPr/>
          <p:nvPr/>
        </p:nvSpPr>
        <p:spPr>
          <a:xfrm>
            <a:off x="1390650" y="4187130"/>
            <a:ext cx="7475792" cy="75813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4200" b="1" kern="0" spc="84" dirty="0">
                <a:solidFill>
                  <a:srgbClr val="1A1A1A"/>
                </a:solidFill>
                <a:latin typeface="-apple-system" pitchFamily="34" charset="0"/>
                <a:ea typeface="-apple-system" pitchFamily="34" charset="-122"/>
                <a:cs typeface="-apple-system" pitchFamily="34" charset="-120"/>
              </a:rPr>
              <a:t>PULSE</a:t>
            </a:r>
            <a:endParaRPr lang="en-US" sz="4200" dirty="0"/>
          </a:p>
        </p:txBody>
      </p:sp>
      <p:sp>
        <p:nvSpPr>
          <p:cNvPr id="12" name="Text 9"/>
          <p:cNvSpPr/>
          <p:nvPr/>
        </p:nvSpPr>
        <p:spPr>
          <a:xfrm>
            <a:off x="1390650" y="4983361"/>
            <a:ext cx="7475792" cy="32087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i="1" dirty="0">
                <a:solidFill>
                  <a:srgbClr val="3A3A3A"/>
                </a:solidFill>
                <a:latin typeface="Georgia" pitchFamily="34" charset="0"/>
                <a:ea typeface="Georgia" pitchFamily="34" charset="-122"/>
                <a:cs typeface="Georgia" pitchFamily="34" charset="-120"/>
              </a:rPr>
              <a:t>Operación continua mensual</a:t>
            </a:r>
            <a:endParaRPr lang="en-US" sz="1650" dirty="0"/>
          </a:p>
        </p:txBody>
      </p:sp>
      <p:sp>
        <p:nvSpPr>
          <p:cNvPr id="13" name="Shape 10"/>
          <p:cNvSpPr/>
          <p:nvPr/>
        </p:nvSpPr>
        <p:spPr>
          <a:xfrm>
            <a:off x="1390650" y="5494734"/>
            <a:ext cx="7258050" cy="9525"/>
          </a:xfrm>
          <a:prstGeom prst="rect">
            <a:avLst/>
          </a:prstGeom>
          <a:solidFill>
            <a:srgbClr val="C9C6BD"/>
          </a:solidFill>
          <a:ln/>
        </p:spPr>
        <p:txBody>
          <a:bodyPr/>
          <a:lstStyle/>
          <a:p>
            <a:endParaRPr lang="es-EC"/>
          </a:p>
        </p:txBody>
      </p:sp>
      <p:sp>
        <p:nvSpPr>
          <p:cNvPr id="14" name="Text 11"/>
          <p:cNvSpPr/>
          <p:nvPr/>
        </p:nvSpPr>
        <p:spPr>
          <a:xfrm>
            <a:off x="1390650" y="5732859"/>
            <a:ext cx="7475792"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b="1" dirty="0">
                <a:solidFill>
                  <a:srgbClr val="D72631"/>
                </a:solidFill>
                <a:latin typeface="-apple-system" pitchFamily="34" charset="0"/>
                <a:ea typeface="-apple-system" pitchFamily="34" charset="-122"/>
                <a:cs typeface="-apple-system" pitchFamily="34" charset="-120"/>
              </a:rPr>
              <a:t>→ </a:t>
            </a:r>
            <a:r>
              <a:rPr lang="en-US" sz="1500" dirty="0">
                <a:solidFill>
                  <a:srgbClr val="1A1A1A"/>
                </a:solidFill>
                <a:latin typeface="-apple-system" pitchFamily="34" charset="0"/>
                <a:ea typeface="-apple-system" pitchFamily="34" charset="-122"/>
                <a:cs typeface="-apple-system" pitchFamily="34" charset="-120"/>
              </a:rPr>
              <a:t>Signal Brief semanal entregado a SECOM</a:t>
            </a:r>
            <a:endParaRPr lang="en-US" sz="1500" dirty="0"/>
          </a:p>
        </p:txBody>
      </p:sp>
      <p:sp>
        <p:nvSpPr>
          <p:cNvPr id="15" name="Text 12"/>
          <p:cNvSpPr/>
          <p:nvPr/>
        </p:nvSpPr>
        <p:spPr>
          <a:xfrm>
            <a:off x="1390650" y="6132909"/>
            <a:ext cx="7475792"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b="1" dirty="0">
                <a:solidFill>
                  <a:srgbClr val="D72631"/>
                </a:solidFill>
                <a:latin typeface="-apple-system" pitchFamily="34" charset="0"/>
                <a:ea typeface="-apple-system" pitchFamily="34" charset="-122"/>
                <a:cs typeface="-apple-system" pitchFamily="34" charset="-120"/>
              </a:rPr>
              <a:t>→ </a:t>
            </a:r>
            <a:r>
              <a:rPr lang="en-US" sz="1500" dirty="0">
                <a:solidFill>
                  <a:srgbClr val="1A1A1A"/>
                </a:solidFill>
                <a:latin typeface="-apple-system" pitchFamily="34" charset="0"/>
                <a:ea typeface="-apple-system" pitchFamily="34" charset="-122"/>
                <a:cs typeface="-apple-system" pitchFamily="34" charset="-120"/>
              </a:rPr>
              <a:t>Sesión R.O.O.M. mensual de 4 horas</a:t>
            </a:r>
            <a:endParaRPr lang="en-US" sz="1500" dirty="0"/>
          </a:p>
        </p:txBody>
      </p:sp>
      <p:sp>
        <p:nvSpPr>
          <p:cNvPr id="16" name="Text 13"/>
          <p:cNvSpPr/>
          <p:nvPr/>
        </p:nvSpPr>
        <p:spPr>
          <a:xfrm>
            <a:off x="1390650" y="6532959"/>
            <a:ext cx="7475792"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b="1" dirty="0">
                <a:solidFill>
                  <a:srgbClr val="D72631"/>
                </a:solidFill>
                <a:latin typeface="-apple-system" pitchFamily="34" charset="0"/>
                <a:ea typeface="-apple-system" pitchFamily="34" charset="-122"/>
                <a:cs typeface="-apple-system" pitchFamily="34" charset="-120"/>
              </a:rPr>
              <a:t>→ </a:t>
            </a:r>
            <a:r>
              <a:rPr lang="en-US" sz="1500" dirty="0">
                <a:solidFill>
                  <a:srgbClr val="1A1A1A"/>
                </a:solidFill>
                <a:latin typeface="-apple-system" pitchFamily="34" charset="0"/>
                <a:ea typeface="-apple-system" pitchFamily="34" charset="-122"/>
                <a:cs typeface="-apple-system" pitchFamily="34" charset="-120"/>
              </a:rPr>
              <a:t>Action Board firmado en cada sesión</a:t>
            </a:r>
            <a:endParaRPr lang="en-US" sz="1500" dirty="0"/>
          </a:p>
        </p:txBody>
      </p:sp>
      <p:sp>
        <p:nvSpPr>
          <p:cNvPr id="17" name="Text 14"/>
          <p:cNvSpPr/>
          <p:nvPr/>
        </p:nvSpPr>
        <p:spPr>
          <a:xfrm>
            <a:off x="1390650" y="6933009"/>
            <a:ext cx="7475792"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b="1" dirty="0">
                <a:solidFill>
                  <a:srgbClr val="D72631"/>
                </a:solidFill>
                <a:latin typeface="-apple-system" pitchFamily="34" charset="0"/>
                <a:ea typeface="-apple-system" pitchFamily="34" charset="-122"/>
                <a:cs typeface="-apple-system" pitchFamily="34" charset="-120"/>
              </a:rPr>
              <a:t>→ </a:t>
            </a:r>
            <a:r>
              <a:rPr lang="en-US" sz="1500" dirty="0">
                <a:solidFill>
                  <a:srgbClr val="1A1A1A"/>
                </a:solidFill>
                <a:latin typeface="-apple-system" pitchFamily="34" charset="0"/>
                <a:ea typeface="-apple-system" pitchFamily="34" charset="-122"/>
                <a:cs typeface="-apple-system" pitchFamily="34" charset="-120"/>
              </a:rPr>
              <a:t>Check-in semanal de seguimiento (regla 72h)</a:t>
            </a:r>
            <a:endParaRPr lang="en-US" sz="1500" dirty="0"/>
          </a:p>
        </p:txBody>
      </p:sp>
      <p:sp>
        <p:nvSpPr>
          <p:cNvPr id="18" name="Shape 15"/>
          <p:cNvSpPr/>
          <p:nvPr/>
        </p:nvSpPr>
        <p:spPr>
          <a:xfrm>
            <a:off x="9296400" y="3806130"/>
            <a:ext cx="7943850" cy="3698379"/>
          </a:xfrm>
          <a:prstGeom prst="rect">
            <a:avLst/>
          </a:prstGeom>
          <a:solidFill>
            <a:srgbClr val="F5F4F1"/>
          </a:solidFill>
          <a:ln/>
        </p:spPr>
        <p:txBody>
          <a:bodyPr/>
          <a:lstStyle/>
          <a:p>
            <a:endParaRPr lang="es-EC"/>
          </a:p>
        </p:txBody>
      </p:sp>
      <p:sp>
        <p:nvSpPr>
          <p:cNvPr id="19" name="Shape 16"/>
          <p:cNvSpPr/>
          <p:nvPr/>
        </p:nvSpPr>
        <p:spPr>
          <a:xfrm>
            <a:off x="9296400" y="3806130"/>
            <a:ext cx="7943850" cy="76200"/>
          </a:xfrm>
          <a:prstGeom prst="rect">
            <a:avLst/>
          </a:prstGeom>
          <a:solidFill>
            <a:srgbClr val="F5B400"/>
          </a:solidFill>
          <a:ln/>
        </p:spPr>
        <p:txBody>
          <a:bodyPr/>
          <a:lstStyle/>
          <a:p>
            <a:endParaRPr lang="es-EC"/>
          </a:p>
        </p:txBody>
      </p:sp>
      <p:sp>
        <p:nvSpPr>
          <p:cNvPr id="20" name="Text 17"/>
          <p:cNvSpPr/>
          <p:nvPr/>
        </p:nvSpPr>
        <p:spPr>
          <a:xfrm>
            <a:off x="9639300" y="4187130"/>
            <a:ext cx="7475792" cy="75813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4200" b="1" kern="0" spc="84" dirty="0">
                <a:solidFill>
                  <a:srgbClr val="1A1A1A"/>
                </a:solidFill>
                <a:latin typeface="-apple-system" pitchFamily="34" charset="0"/>
                <a:ea typeface="-apple-system" pitchFamily="34" charset="-122"/>
                <a:cs typeface="-apple-system" pitchFamily="34" charset="-120"/>
              </a:rPr>
              <a:t>SPRINT INICIAL</a:t>
            </a:r>
            <a:endParaRPr lang="en-US" sz="4200" dirty="0"/>
          </a:p>
        </p:txBody>
      </p:sp>
      <p:sp>
        <p:nvSpPr>
          <p:cNvPr id="21" name="Text 18"/>
          <p:cNvSpPr/>
          <p:nvPr/>
        </p:nvSpPr>
        <p:spPr>
          <a:xfrm>
            <a:off x="9639300" y="4983361"/>
            <a:ext cx="7475792" cy="32087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i="1" dirty="0">
                <a:solidFill>
                  <a:srgbClr val="3A3A3A"/>
                </a:solidFill>
                <a:latin typeface="Georgia" pitchFamily="34" charset="0"/>
                <a:ea typeface="Georgia" pitchFamily="34" charset="-122"/>
                <a:cs typeface="Georgia" pitchFamily="34" charset="-120"/>
              </a:rPr>
              <a:t>Activación pre-Mundial · Mayo</a:t>
            </a:r>
            <a:endParaRPr lang="en-US" sz="1650" dirty="0"/>
          </a:p>
        </p:txBody>
      </p:sp>
      <p:sp>
        <p:nvSpPr>
          <p:cNvPr id="22" name="Shape 19"/>
          <p:cNvSpPr/>
          <p:nvPr/>
        </p:nvSpPr>
        <p:spPr>
          <a:xfrm>
            <a:off x="9639300" y="5494734"/>
            <a:ext cx="7258050" cy="9525"/>
          </a:xfrm>
          <a:prstGeom prst="rect">
            <a:avLst/>
          </a:prstGeom>
          <a:solidFill>
            <a:srgbClr val="C9C6BD"/>
          </a:solidFill>
          <a:ln/>
        </p:spPr>
        <p:txBody>
          <a:bodyPr/>
          <a:lstStyle/>
          <a:p>
            <a:endParaRPr lang="es-EC"/>
          </a:p>
        </p:txBody>
      </p:sp>
      <p:sp>
        <p:nvSpPr>
          <p:cNvPr id="23" name="Text 20"/>
          <p:cNvSpPr/>
          <p:nvPr/>
        </p:nvSpPr>
        <p:spPr>
          <a:xfrm>
            <a:off x="9639300" y="5732859"/>
            <a:ext cx="7475792"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b="1" dirty="0">
                <a:solidFill>
                  <a:srgbClr val="F5B400"/>
                </a:solidFill>
                <a:latin typeface="-apple-system" pitchFamily="34" charset="0"/>
                <a:ea typeface="-apple-system" pitchFamily="34" charset="-122"/>
                <a:cs typeface="-apple-system" pitchFamily="34" charset="-120"/>
              </a:rPr>
              <a:t>→ </a:t>
            </a:r>
            <a:r>
              <a:rPr lang="en-US" sz="1500" dirty="0">
                <a:solidFill>
                  <a:srgbClr val="1A1A1A"/>
                </a:solidFill>
                <a:latin typeface="-apple-system" pitchFamily="34" charset="0"/>
                <a:ea typeface="-apple-system" pitchFamily="34" charset="-122"/>
                <a:cs typeface="-apple-system" pitchFamily="34" charset="-120"/>
              </a:rPr>
              <a:t>Sesión intensiva 6–8 horas con SECOM</a:t>
            </a:r>
            <a:endParaRPr lang="en-US" sz="1500" dirty="0"/>
          </a:p>
        </p:txBody>
      </p:sp>
      <p:sp>
        <p:nvSpPr>
          <p:cNvPr id="24" name="Text 21"/>
          <p:cNvSpPr/>
          <p:nvPr/>
        </p:nvSpPr>
        <p:spPr>
          <a:xfrm>
            <a:off x="9639300" y="6132909"/>
            <a:ext cx="7475792"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b="1" dirty="0">
                <a:solidFill>
                  <a:srgbClr val="F5B400"/>
                </a:solidFill>
                <a:latin typeface="-apple-system" pitchFamily="34" charset="0"/>
                <a:ea typeface="-apple-system" pitchFamily="34" charset="-122"/>
                <a:cs typeface="-apple-system" pitchFamily="34" charset="-120"/>
              </a:rPr>
              <a:t>→ </a:t>
            </a:r>
            <a:r>
              <a:rPr lang="en-US" sz="1500" dirty="0">
                <a:solidFill>
                  <a:srgbClr val="1A1A1A"/>
                </a:solidFill>
                <a:latin typeface="-apple-system" pitchFamily="34" charset="0"/>
                <a:ea typeface="-apple-system" pitchFamily="34" charset="-122"/>
                <a:cs typeface="-apple-system" pitchFamily="34" charset="-120"/>
              </a:rPr>
              <a:t>Aterrizaje fino de Misión 01 (Mundial)</a:t>
            </a:r>
            <a:endParaRPr lang="en-US" sz="1500" dirty="0"/>
          </a:p>
        </p:txBody>
      </p:sp>
      <p:sp>
        <p:nvSpPr>
          <p:cNvPr id="25" name="Text 22"/>
          <p:cNvSpPr/>
          <p:nvPr/>
        </p:nvSpPr>
        <p:spPr>
          <a:xfrm>
            <a:off x="9639300" y="6532959"/>
            <a:ext cx="7475792"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b="1" dirty="0">
                <a:solidFill>
                  <a:srgbClr val="F5B400"/>
                </a:solidFill>
                <a:latin typeface="-apple-system" pitchFamily="34" charset="0"/>
                <a:ea typeface="-apple-system" pitchFamily="34" charset="-122"/>
                <a:cs typeface="-apple-system" pitchFamily="34" charset="-120"/>
              </a:rPr>
              <a:t>→ </a:t>
            </a:r>
            <a:r>
              <a:rPr lang="en-US" sz="1500" dirty="0">
                <a:solidFill>
                  <a:srgbClr val="1A1A1A"/>
                </a:solidFill>
                <a:latin typeface="-apple-system" pitchFamily="34" charset="0"/>
                <a:ea typeface="-apple-system" pitchFamily="34" charset="-122"/>
                <a:cs typeface="-apple-system" pitchFamily="34" charset="-120"/>
              </a:rPr>
              <a:t>Activación de los 8 Fan Fests con producción</a:t>
            </a:r>
            <a:endParaRPr lang="en-US" sz="1500" dirty="0"/>
          </a:p>
        </p:txBody>
      </p:sp>
      <p:sp>
        <p:nvSpPr>
          <p:cNvPr id="26" name="Text 23"/>
          <p:cNvSpPr/>
          <p:nvPr/>
        </p:nvSpPr>
        <p:spPr>
          <a:xfrm>
            <a:off x="9639300" y="6933009"/>
            <a:ext cx="7475792"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b="1" dirty="0">
                <a:solidFill>
                  <a:srgbClr val="F5B400"/>
                </a:solidFill>
                <a:latin typeface="-apple-system" pitchFamily="34" charset="0"/>
                <a:ea typeface="-apple-system" pitchFamily="34" charset="-122"/>
                <a:cs typeface="-apple-system" pitchFamily="34" charset="-120"/>
              </a:rPr>
              <a:t>→ </a:t>
            </a:r>
            <a:r>
              <a:rPr lang="en-US" sz="1500" dirty="0">
                <a:solidFill>
                  <a:srgbClr val="1A1A1A"/>
                </a:solidFill>
                <a:latin typeface="-apple-system" pitchFamily="34" charset="0"/>
                <a:ea typeface="-apple-system" pitchFamily="34" charset="-122"/>
                <a:cs typeface="-apple-system" pitchFamily="34" charset="-120"/>
              </a:rPr>
              <a:t>Protocolo Vivo armado y entrenado</a:t>
            </a:r>
            <a:endParaRPr lang="en-US" sz="1500" dirty="0"/>
          </a:p>
        </p:txBody>
      </p:sp>
      <p:sp>
        <p:nvSpPr>
          <p:cNvPr id="27" name="Text 24"/>
          <p:cNvSpPr/>
          <p:nvPr/>
        </p:nvSpPr>
        <p:spPr>
          <a:xfrm>
            <a:off x="1047750" y="7961709"/>
            <a:ext cx="16678275" cy="655141"/>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3A3A3A"/>
                </a:solidFill>
                <a:latin typeface="Georgia" pitchFamily="34" charset="0"/>
                <a:ea typeface="Georgia" pitchFamily="34" charset="-122"/>
                <a:cs typeface="Georgia" pitchFamily="34" charset="-120"/>
              </a:rPr>
              <a:t>Equipo de THE ROOM dedicado: </a:t>
            </a:r>
            <a:r>
              <a:rPr lang="en-US" sz="1800" b="1" dirty="0">
                <a:solidFill>
                  <a:srgbClr val="1A1A1A"/>
                </a:solidFill>
                <a:latin typeface="Georgia" pitchFamily="34" charset="0"/>
                <a:ea typeface="Georgia" pitchFamily="34" charset="-122"/>
                <a:cs typeface="Georgia" pitchFamily="34" charset="-120"/>
              </a:rPr>
              <a:t>Game Master + Signal Keeper + Senseis </a:t>
            </a:r>
            <a:r>
              <a:rPr lang="en-US" sz="1800" i="1" dirty="0">
                <a:solidFill>
                  <a:srgbClr val="3A3A3A"/>
                </a:solidFill>
                <a:latin typeface="Georgia" pitchFamily="34" charset="0"/>
                <a:ea typeface="Georgia" pitchFamily="34" charset="-122"/>
                <a:cs typeface="Georgia" pitchFamily="34" charset="-120"/>
              </a:rPr>
              <a:t>convocados según fase. McCann, Mambo y Alma operando como una sola entidad para SECOM.</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1A1A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47750" y="533400"/>
            <a:ext cx="1714500" cy="831205"/>
          </a:xfrm>
          <a:prstGeom prst="rect">
            <a:avLst/>
          </a:prstGeom>
        </p:spPr>
      </p:pic>
      <p:sp>
        <p:nvSpPr>
          <p:cNvPr id="3" name="Text 0"/>
          <p:cNvSpPr/>
          <p:nvPr/>
        </p:nvSpPr>
        <p:spPr>
          <a:xfrm>
            <a:off x="11928425" y="666750"/>
            <a:ext cx="3767481"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FFFFFF">
                    <a:alpha val="55000"/>
                  </a:srgbClr>
                </a:solidFill>
                <a:latin typeface="-apple-system" pitchFamily="34" charset="0"/>
                <a:ea typeface="-apple-system" pitchFamily="34" charset="-122"/>
                <a:cs typeface="-apple-system" pitchFamily="34" charset="-120"/>
              </a:rPr>
              <a:t>THE ROOM × SECOM ECUADOR</a:t>
            </a:r>
            <a:endParaRPr lang="en-US" sz="1200" dirty="0"/>
          </a:p>
        </p:txBody>
      </p:sp>
      <p:sp>
        <p:nvSpPr>
          <p:cNvPr id="4" name="Text 1"/>
          <p:cNvSpPr/>
          <p:nvPr/>
        </p:nvSpPr>
        <p:spPr>
          <a:xfrm>
            <a:off x="15890974" y="666750"/>
            <a:ext cx="1425476"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84" dirty="0">
                <a:solidFill>
                  <a:srgbClr val="FFFFFF">
                    <a:alpha val="55000"/>
                  </a:srgbClr>
                </a:solidFill>
                <a:latin typeface="-apple-system" pitchFamily="34" charset="0"/>
                <a:ea typeface="-apple-system" pitchFamily="34" charset="-122"/>
                <a:cs typeface="-apple-system" pitchFamily="34" charset="-120"/>
              </a:rPr>
              <a:t>22 · CIERRE</a:t>
            </a:r>
            <a:endParaRPr lang="en-US" sz="1200" dirty="0"/>
          </a:p>
        </p:txBody>
      </p:sp>
      <p:sp>
        <p:nvSpPr>
          <p:cNvPr id="5" name="Text 2"/>
          <p:cNvSpPr/>
          <p:nvPr/>
        </p:nvSpPr>
        <p:spPr>
          <a:xfrm>
            <a:off x="1047750" y="9547920"/>
            <a:ext cx="2834080"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FFFFFF">
                    <a:alpha val="50000"/>
                  </a:srgbClr>
                </a:solidFill>
                <a:latin typeface="-apple-system" pitchFamily="34" charset="0"/>
                <a:ea typeface="-apple-system" pitchFamily="34" charset="-122"/>
                <a:cs typeface="-apple-system" pitchFamily="34" charset="-120"/>
              </a:rPr>
              <a:t>PROPUESTA · ABRIL 2026</a:t>
            </a:r>
            <a:endParaRPr lang="en-US" sz="1200" dirty="0"/>
          </a:p>
        </p:txBody>
      </p:sp>
      <p:sp>
        <p:nvSpPr>
          <p:cNvPr id="6" name="Text 3"/>
          <p:cNvSpPr/>
          <p:nvPr/>
        </p:nvSpPr>
        <p:spPr>
          <a:xfrm>
            <a:off x="16454884" y="9547920"/>
            <a:ext cx="861566" cy="2437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kern="0" spc="336" dirty="0">
                <a:solidFill>
                  <a:srgbClr val="FFFFFF">
                    <a:alpha val="50000"/>
                  </a:srgbClr>
                </a:solidFill>
                <a:latin typeface="-apple-system" pitchFamily="34" charset="0"/>
                <a:ea typeface="-apple-system" pitchFamily="34" charset="-122"/>
                <a:cs typeface="-apple-system" pitchFamily="34" charset="-120"/>
              </a:rPr>
              <a:t>32 / 32</a:t>
            </a:r>
            <a:endParaRPr lang="en-US" sz="1200" dirty="0"/>
          </a:p>
        </p:txBody>
      </p:sp>
      <p:sp>
        <p:nvSpPr>
          <p:cNvPr id="7" name="Text 4"/>
          <p:cNvSpPr/>
          <p:nvPr/>
        </p:nvSpPr>
        <p:spPr>
          <a:xfrm>
            <a:off x="1047750" y="2095500"/>
            <a:ext cx="16678275" cy="32087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b="1" kern="0" spc="528" dirty="0">
                <a:solidFill>
                  <a:srgbClr val="D72631"/>
                </a:solidFill>
                <a:latin typeface="-apple-system" pitchFamily="34" charset="0"/>
                <a:ea typeface="-apple-system" pitchFamily="34" charset="-122"/>
                <a:cs typeface="-apple-system" pitchFamily="34" charset="-120"/>
              </a:rPr>
              <a:t>LO QUE YA ENTREGAMOS HOY</a:t>
            </a:r>
            <a:endParaRPr lang="en-US" sz="1650" dirty="0"/>
          </a:p>
        </p:txBody>
      </p:sp>
      <p:sp>
        <p:nvSpPr>
          <p:cNvPr id="8" name="Text 5"/>
          <p:cNvSpPr/>
          <p:nvPr/>
        </p:nvSpPr>
        <p:spPr>
          <a:xfrm>
            <a:off x="1047750" y="2721173"/>
            <a:ext cx="16678275" cy="2571750"/>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10500" b="1" kern="0" spc="-315" dirty="0">
                <a:solidFill>
                  <a:srgbClr val="FFFFFF"/>
                </a:solidFill>
                <a:latin typeface="-apple-system" pitchFamily="34" charset="0"/>
                <a:ea typeface="-apple-system" pitchFamily="34" charset="-122"/>
                <a:cs typeface="-apple-system" pitchFamily="34" charset="-120"/>
              </a:rPr>
              <a:t>Esta presentación </a:t>
            </a:r>
            <a:r>
              <a:rPr lang="en-US" sz="10500" b="1" kern="0" spc="-315" dirty="0">
                <a:solidFill>
                  <a:srgbClr val="FFFFFF">
                    <a:alpha val="50000"/>
                  </a:srgbClr>
                </a:solidFill>
                <a:latin typeface="-apple-system" pitchFamily="34" charset="0"/>
                <a:ea typeface="-apple-system" pitchFamily="34" charset="-122"/>
                <a:cs typeface="-apple-system" pitchFamily="34" charset="-120"/>
              </a:rPr>
              <a:t>ya es un </a:t>
            </a:r>
            <a:r>
              <a:rPr lang="en-US" sz="10500" b="1" kern="0" spc="-315" dirty="0">
                <a:solidFill>
                  <a:srgbClr val="D72631"/>
                </a:solidFill>
                <a:latin typeface="-apple-system" pitchFamily="34" charset="0"/>
                <a:ea typeface="-apple-system" pitchFamily="34" charset="-122"/>
                <a:cs typeface="-apple-system" pitchFamily="34" charset="-120"/>
              </a:rPr>
              <a:t>Signal Brief.</a:t>
            </a:r>
            <a:endParaRPr lang="en-US" sz="10500" dirty="0"/>
          </a:p>
        </p:txBody>
      </p:sp>
      <p:sp>
        <p:nvSpPr>
          <p:cNvPr id="9" name="Text 6"/>
          <p:cNvSpPr/>
          <p:nvPr/>
        </p:nvSpPr>
        <p:spPr>
          <a:xfrm>
            <a:off x="1047750" y="5826323"/>
            <a:ext cx="16678275" cy="1051322"/>
          </a:xfrm>
          <a:prstGeom prst="rect">
            <a:avLst/>
          </a:prstGeom>
          <a:noFill/>
          <a:ln/>
        </p:spPr>
        <p:txBody>
          <a:bodyPr wrap="square" lIns="25400" tIns="25400" rIns="25400" bIns="25400" rtlCol="0" anchor="t">
            <a:normAutofit/>
          </a:bodyPr>
          <a:lstStyle/>
          <a:p>
            <a:pPr marL="0" indent="0" algn="l">
              <a:lnSpc>
                <a:spcPct val="140000"/>
              </a:lnSpc>
              <a:buNone/>
            </a:pPr>
            <a:r>
              <a:rPr lang="en-US" sz="2850" i="1" dirty="0">
                <a:solidFill>
                  <a:srgbClr val="FFFFFF">
                    <a:alpha val="85000"/>
                  </a:srgbClr>
                </a:solidFill>
                <a:latin typeface="Georgia" pitchFamily="34" charset="0"/>
                <a:ea typeface="Georgia" pitchFamily="34" charset="-122"/>
                <a:cs typeface="Georgia" pitchFamily="34" charset="-120"/>
              </a:rPr>
              <a:t>Las 3 misiones tienen Action Board listo. </a:t>
            </a:r>
            <a:r>
              <a:rPr lang="en-US" sz="2850" b="1" i="1" dirty="0">
                <a:solidFill>
                  <a:srgbClr val="D72631"/>
                </a:solidFill>
                <a:latin typeface="Georgia" pitchFamily="34" charset="0"/>
                <a:ea typeface="Georgia" pitchFamily="34" charset="-122"/>
                <a:cs typeface="Georgia" pitchFamily="34" charset="-120"/>
              </a:rPr>
              <a:t>Lo único que falta es entrar a la sala.</a:t>
            </a:r>
            <a:endParaRPr lang="en-US" sz="2850" dirty="0"/>
          </a:p>
        </p:txBody>
      </p:sp>
      <p:sp>
        <p:nvSpPr>
          <p:cNvPr id="10" name="Shape 7"/>
          <p:cNvSpPr/>
          <p:nvPr/>
        </p:nvSpPr>
        <p:spPr>
          <a:xfrm>
            <a:off x="1047750" y="9011692"/>
            <a:ext cx="16192500" cy="9525"/>
          </a:xfrm>
          <a:prstGeom prst="rect">
            <a:avLst/>
          </a:prstGeom>
          <a:solidFill>
            <a:srgbClr val="FFFFFF">
              <a:alpha val="30000"/>
            </a:srgbClr>
          </a:solidFill>
          <a:ln/>
        </p:spPr>
        <p:txBody>
          <a:bodyPr/>
          <a:lstStyle/>
          <a:p>
            <a:endParaRPr lang="es-EC"/>
          </a:p>
        </p:txBody>
      </p:sp>
      <p:sp>
        <p:nvSpPr>
          <p:cNvPr id="11" name="Text 8"/>
          <p:cNvSpPr/>
          <p:nvPr/>
        </p:nvSpPr>
        <p:spPr>
          <a:xfrm>
            <a:off x="1047750" y="9249817"/>
            <a:ext cx="3181596"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336" dirty="0">
                <a:solidFill>
                  <a:srgbClr val="FFFFFF">
                    <a:alpha val="50000"/>
                  </a:srgbClr>
                </a:solidFill>
                <a:latin typeface="-apple-system" pitchFamily="34" charset="0"/>
                <a:ea typeface="-apple-system" pitchFamily="34" charset="-122"/>
                <a:cs typeface="-apple-system" pitchFamily="34" charset="-120"/>
              </a:rPr>
              <a:t>THE ROOM × SECOM ECUADOR</a:t>
            </a:r>
            <a:endParaRPr lang="en-US" sz="1050" dirty="0"/>
          </a:p>
        </p:txBody>
      </p:sp>
      <p:sp>
        <p:nvSpPr>
          <p:cNvPr id="12" name="Text 9"/>
          <p:cNvSpPr/>
          <p:nvPr/>
        </p:nvSpPr>
        <p:spPr>
          <a:xfrm>
            <a:off x="9373046" y="9249817"/>
            <a:ext cx="2032397"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336" dirty="0">
                <a:solidFill>
                  <a:srgbClr val="FFFFFF">
                    <a:alpha val="50000"/>
                  </a:srgbClr>
                </a:solidFill>
                <a:latin typeface="-apple-system" pitchFamily="34" charset="0"/>
                <a:ea typeface="-apple-system" pitchFamily="34" charset="-122"/>
                <a:cs typeface="-apple-system" pitchFamily="34" charset="-120"/>
              </a:rPr>
              <a:t>PROPUESTA · 2026</a:t>
            </a:r>
            <a:endParaRPr lang="en-US" sz="1050" dirty="0"/>
          </a:p>
        </p:txBody>
      </p:sp>
      <p:sp>
        <p:nvSpPr>
          <p:cNvPr id="13" name="Text 10"/>
          <p:cNvSpPr/>
          <p:nvPr/>
        </p:nvSpPr>
        <p:spPr>
          <a:xfrm>
            <a:off x="16565463" y="9249817"/>
            <a:ext cx="750987" cy="21803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050" b="1" kern="0" spc="336" dirty="0">
                <a:solidFill>
                  <a:srgbClr val="FFFFFF">
                    <a:alpha val="50000"/>
                  </a:srgbClr>
                </a:solidFill>
                <a:latin typeface="-apple-system" pitchFamily="34" charset="0"/>
                <a:ea typeface="-apple-system" pitchFamily="34" charset="-122"/>
                <a:cs typeface="-apple-system" pitchFamily="34" charset="-120"/>
              </a:rPr>
              <a:t>· FIN ·</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767E259-36B3-E04D-B666-C3FBC8FB85D9}">
  <we:reference id="WA200010001" version="1.0.0.1" store="Omex" storeType="OMEX"/>
  <we:alternateReferences>
    <we:reference id="WA200010001" version="1.0.0.1" store="WA200010001" storeType="OMEX"/>
  </we:alternateReferences>
  <we:properties>
    <we:property name="claude.fileId" value="&quot;fd2948dc-b4e4-4d4c-a423-76d8dcd87cb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43</TotalTime>
  <Words>5419</Words>
  <Application>Microsoft Macintosh PowerPoint</Application>
  <PresentationFormat>Personalizado</PresentationFormat>
  <Paragraphs>602</Paragraphs>
  <Slides>33</Slides>
  <Notes>33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33</vt:i4>
      </vt:variant>
    </vt:vector>
  </HeadingPairs>
  <TitlesOfParts>
    <vt:vector size="38" baseType="lpstr">
      <vt:lpstr>-apple-system</vt:lpstr>
      <vt:lpstr>Arial</vt:lpstr>
      <vt:lpstr>Georgia</vt:lpstr>
      <vt:lpstr>Poppins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Virues, Carlos (UIO-ME)</cp:lastModifiedBy>
  <cp:revision>2</cp:revision>
  <dcterms:created xsi:type="dcterms:W3CDTF">2026-04-28T22:12:26Z</dcterms:created>
  <dcterms:modified xsi:type="dcterms:W3CDTF">2026-05-07T22:21:19Z</dcterms:modified>
</cp:coreProperties>
</file>